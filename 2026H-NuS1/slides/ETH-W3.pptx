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300" r:id="rId3"/>
    <p:sldId id="294" r:id="rId4"/>
    <p:sldId id="321" r:id="rId5"/>
    <p:sldId id="302" r:id="rId6"/>
    <p:sldId id="312" r:id="rId7"/>
    <p:sldId id="322" r:id="rId8"/>
    <p:sldId id="325" r:id="rId9"/>
    <p:sldId id="326" r:id="rId10"/>
    <p:sldId id="313" r:id="rId11"/>
    <p:sldId id="324" r:id="rId12"/>
    <p:sldId id="314" r:id="rId13"/>
    <p:sldId id="315" r:id="rId14"/>
    <p:sldId id="328" r:id="rId15"/>
    <p:sldId id="329" r:id="rId16"/>
    <p:sldId id="330" r:id="rId17"/>
    <p:sldId id="331" r:id="rId18"/>
    <p:sldId id="332" r:id="rId19"/>
    <p:sldId id="311" r:id="rId20"/>
    <p:sldId id="319" r:id="rId21"/>
    <p:sldId id="320" r:id="rId2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140A5C-BDD6-46B0-8A66-45FAD0FBC285}">
          <p14:sldIdLst>
            <p14:sldId id="256"/>
            <p14:sldId id="300"/>
          </p14:sldIdLst>
        </p14:section>
        <p14:section name="Theoriebeispiele" id="{960AB6CA-67DE-4FDE-ADC2-51C8BFC50F2F}">
          <p14:sldIdLst>
            <p14:sldId id="294"/>
            <p14:sldId id="321"/>
            <p14:sldId id="302"/>
            <p14:sldId id="312"/>
            <p14:sldId id="322"/>
            <p14:sldId id="325"/>
            <p14:sldId id="326"/>
            <p14:sldId id="313"/>
            <p14:sldId id="324"/>
            <p14:sldId id="314"/>
            <p14:sldId id="315"/>
            <p14:sldId id="328"/>
            <p14:sldId id="329"/>
            <p14:sldId id="330"/>
            <p14:sldId id="331"/>
            <p14:sldId id="332"/>
            <p14:sldId id="311"/>
            <p14:sldId id="319"/>
            <p14:sldId id="32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15DC8-B119-45E2-A88D-5DC6E420DFD9}" v="5" dt="2026-09-27T10:14:04.59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4355" autoAdjust="0"/>
  </p:normalViewPr>
  <p:slideViewPr>
    <p:cSldViewPr snapToGrid="0" showGuides="1">
      <p:cViewPr varScale="1">
        <p:scale>
          <a:sx n="168" d="100"/>
          <a:sy n="168" d="100"/>
        </p:scale>
        <p:origin x="4133" y="115"/>
      </p:cViewPr>
      <p:guideLst>
        <p:guide orient="horz" pos="2160"/>
        <p:guide pos="3840"/>
      </p:guideLst>
    </p:cSldViewPr>
  </p:slideViewPr>
  <p:notesTextViewPr>
    <p:cViewPr>
      <p:scale>
        <a:sx n="3" d="2"/>
        <a:sy n="3" d="2"/>
      </p:scale>
      <p:origin x="0" y="0"/>
    </p:cViewPr>
  </p:notesTextViewPr>
  <p:notesViewPr>
    <p:cSldViewPr snapToGrid="0" showGuides="1">
      <p:cViewPr varScale="1">
        <p:scale>
          <a:sx n="80" d="100"/>
          <a:sy n="80" d="100"/>
        </p:scale>
        <p:origin x="4176" y="4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27.09.2026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27.09.2026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1</a:t>
            </a:fld>
            <a:endParaRPr lang="de-CH"/>
          </a:p>
        </p:txBody>
      </p:sp>
    </p:spTree>
    <p:extLst>
      <p:ext uri="{BB962C8B-B14F-4D97-AF65-F5344CB8AC3E}">
        <p14:creationId xmlns:p14="http://schemas.microsoft.com/office/powerpoint/2010/main" val="3974255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Ausnahmsweise gibt es eine Einführung. Der Sinn dahinter ist, die Studierenden bewusst auf die falsche Fährte zu locken bei Beispiel 1. Dort ist nämlich die Spannung und somit das elektrische Feld vorgegeben, und die Ladungen und das D-Feld stellen sich so ein, dass E = U/d erfüllt ist. Die Studierenden sollen durch diese Fehlüberlegung und eure anschliessende Erklärung direkt lernen, dass je nach Aufgabenstellung (Ladungen gegeben), es zielführend ist, das D-Feld zuerst, aber manchmal (wenn Spannung gegeben), besser erst das E-Feld berechnet werden sollte.</a:t>
            </a:r>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4</a:t>
            </a:fld>
            <a:endParaRPr lang="de-CH"/>
          </a:p>
        </p:txBody>
      </p:sp>
    </p:spTree>
    <p:extLst>
      <p:ext uri="{BB962C8B-B14F-4D97-AF65-F5344CB8AC3E}">
        <p14:creationId xmlns:p14="http://schemas.microsoft.com/office/powerpoint/2010/main" val="633738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9</a:t>
            </a:fld>
            <a:endParaRPr lang="de-CH"/>
          </a:p>
        </p:txBody>
      </p:sp>
    </p:spTree>
    <p:extLst>
      <p:ext uri="{BB962C8B-B14F-4D97-AF65-F5344CB8AC3E}">
        <p14:creationId xmlns:p14="http://schemas.microsoft.com/office/powerpoint/2010/main" val="3549682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4A9F-CE95-5296-7FB5-3DA3F8630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54224-4744-1D75-2AD9-2DA4DF67E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66B02-AB36-56EE-62E7-D9D9F1692D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12E6A9-F234-517F-DAF9-9A68D18D3204}"/>
              </a:ext>
            </a:extLst>
          </p:cNvPr>
          <p:cNvSpPr>
            <a:spLocks noGrp="1"/>
          </p:cNvSpPr>
          <p:nvPr>
            <p:ph type="sldNum" sz="quarter" idx="5"/>
          </p:nvPr>
        </p:nvSpPr>
        <p:spPr/>
        <p:txBody>
          <a:bodyPr/>
          <a:lstStyle/>
          <a:p>
            <a:fld id="{F615DDFD-030C-4D5A-B33E-3A7E7538D2BE}" type="slidenum">
              <a:rPr lang="de-CH" smtClean="0"/>
              <a:t>11</a:t>
            </a:fld>
            <a:endParaRPr lang="de-CH"/>
          </a:p>
        </p:txBody>
      </p:sp>
    </p:spTree>
    <p:extLst>
      <p:ext uri="{BB962C8B-B14F-4D97-AF65-F5344CB8AC3E}">
        <p14:creationId xmlns:p14="http://schemas.microsoft.com/office/powerpoint/2010/main" val="516078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12</a:t>
            </a:fld>
            <a:endParaRPr lang="de-CH"/>
          </a:p>
        </p:txBody>
      </p:sp>
    </p:spTree>
    <p:extLst>
      <p:ext uri="{BB962C8B-B14F-4D97-AF65-F5344CB8AC3E}">
        <p14:creationId xmlns:p14="http://schemas.microsoft.com/office/powerpoint/2010/main" val="2402695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5DDFD-030C-4D5A-B33E-3A7E7538D2BE}" type="slidenum">
              <a:rPr lang="de-CH" smtClean="0"/>
              <a:t>14</a:t>
            </a:fld>
            <a:endParaRPr lang="de-CH"/>
          </a:p>
        </p:txBody>
      </p:sp>
    </p:spTree>
    <p:extLst>
      <p:ext uri="{BB962C8B-B14F-4D97-AF65-F5344CB8AC3E}">
        <p14:creationId xmlns:p14="http://schemas.microsoft.com/office/powerpoint/2010/main" val="1675091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8C7B-6F47-E41C-F997-743ECA7B2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FC219-7E4A-D72F-2F3B-E2FAC9DAE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FFFA5-74C0-C667-0CDB-2377F6E36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BAFA7B-0A18-428B-0F8F-E94403A25CBD}"/>
              </a:ext>
            </a:extLst>
          </p:cNvPr>
          <p:cNvSpPr>
            <a:spLocks noGrp="1"/>
          </p:cNvSpPr>
          <p:nvPr>
            <p:ph type="sldNum" sz="quarter" idx="5"/>
          </p:nvPr>
        </p:nvSpPr>
        <p:spPr/>
        <p:txBody>
          <a:bodyPr/>
          <a:lstStyle/>
          <a:p>
            <a:fld id="{F615DDFD-030C-4D5A-B33E-3A7E7538D2BE}" type="slidenum">
              <a:rPr lang="de-CH" smtClean="0"/>
              <a:t>17</a:t>
            </a:fld>
            <a:endParaRPr lang="de-CH"/>
          </a:p>
        </p:txBody>
      </p:sp>
    </p:spTree>
    <p:extLst>
      <p:ext uri="{BB962C8B-B14F-4D97-AF65-F5344CB8AC3E}">
        <p14:creationId xmlns:p14="http://schemas.microsoft.com/office/powerpoint/2010/main" val="54629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AC863-A1A2-9427-ACA5-92B8A60D9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8716D-8B56-CFCF-F900-E82FF562B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2A8E5-CAE8-EAA7-EF9C-12560E6801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778A7-8E84-F7AA-9B88-EE248601AF21}"/>
              </a:ext>
            </a:extLst>
          </p:cNvPr>
          <p:cNvSpPr>
            <a:spLocks noGrp="1"/>
          </p:cNvSpPr>
          <p:nvPr>
            <p:ph type="sldNum" sz="quarter" idx="5"/>
          </p:nvPr>
        </p:nvSpPr>
        <p:spPr/>
        <p:txBody>
          <a:bodyPr/>
          <a:lstStyle/>
          <a:p>
            <a:fld id="{F615DDFD-030C-4D5A-B33E-3A7E7538D2BE}" type="slidenum">
              <a:rPr lang="de-CH" smtClean="0"/>
              <a:t>18</a:t>
            </a:fld>
            <a:endParaRPr lang="de-CH"/>
          </a:p>
        </p:txBody>
      </p:sp>
    </p:spTree>
    <p:extLst>
      <p:ext uri="{BB962C8B-B14F-4D97-AF65-F5344CB8AC3E}">
        <p14:creationId xmlns:p14="http://schemas.microsoft.com/office/powerpoint/2010/main" val="25492227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dirty="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pic>
        <p:nvPicPr>
          <p:cNvPr id="3" name="Picture Placeholder 14">
            <a:extLst>
              <a:ext uri="{FF2B5EF4-FFF2-40B4-BE49-F238E27FC236}">
                <a16:creationId xmlns:a16="http://schemas.microsoft.com/office/drawing/2014/main" id="{A884FE03-D03B-D605-7538-2F13D538DA36}"/>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pic>
        <p:nvPicPr>
          <p:cNvPr id="3" name="Picture Placeholder 14">
            <a:extLst>
              <a:ext uri="{FF2B5EF4-FFF2-40B4-BE49-F238E27FC236}">
                <a16:creationId xmlns:a16="http://schemas.microsoft.com/office/drawing/2014/main" id="{D2AF4BE6-5505-84B0-84F1-FE02019E7C7D}"/>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pic>
        <p:nvPicPr>
          <p:cNvPr id="4" name="Picture Placeholder 14">
            <a:extLst>
              <a:ext uri="{FF2B5EF4-FFF2-40B4-BE49-F238E27FC236}">
                <a16:creationId xmlns:a16="http://schemas.microsoft.com/office/drawing/2014/main" id="{D6CEF0F1-CE6F-BE8A-3844-BFD085AAC54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pic>
        <p:nvPicPr>
          <p:cNvPr id="3" name="Picture Placeholder 14">
            <a:extLst>
              <a:ext uri="{FF2B5EF4-FFF2-40B4-BE49-F238E27FC236}">
                <a16:creationId xmlns:a16="http://schemas.microsoft.com/office/drawing/2014/main" id="{3579C612-10BE-1EBE-D018-B0D032C1445F}"/>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pic>
        <p:nvPicPr>
          <p:cNvPr id="3" name="Picture Placeholder 14">
            <a:extLst>
              <a:ext uri="{FF2B5EF4-FFF2-40B4-BE49-F238E27FC236}">
                <a16:creationId xmlns:a16="http://schemas.microsoft.com/office/drawing/2014/main" id="{3BF4C2FB-6615-B78A-B02E-8E60B52D6F5A}"/>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pic>
        <p:nvPicPr>
          <p:cNvPr id="9" name="Picture Placeholder 14">
            <a:extLst>
              <a:ext uri="{FF2B5EF4-FFF2-40B4-BE49-F238E27FC236}">
                <a16:creationId xmlns:a16="http://schemas.microsoft.com/office/drawing/2014/main" id="{E799E1B2-701E-9FC5-2CDC-43C29390918C}"/>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pic>
        <p:nvPicPr>
          <p:cNvPr id="9" name="Picture Placeholder 14">
            <a:extLst>
              <a:ext uri="{FF2B5EF4-FFF2-40B4-BE49-F238E27FC236}">
                <a16:creationId xmlns:a16="http://schemas.microsoft.com/office/drawing/2014/main" id="{42242C32-D53C-B3C3-E0EA-9C0F7651955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en-US" noProof="0"/>
              <a:t>Click to edit Master text styles</a:t>
            </a:r>
          </a:p>
        </p:txBody>
      </p:sp>
      <p:pic>
        <p:nvPicPr>
          <p:cNvPr id="9" name="Picture Placeholder 14">
            <a:extLst>
              <a:ext uri="{FF2B5EF4-FFF2-40B4-BE49-F238E27FC236}">
                <a16:creationId xmlns:a16="http://schemas.microsoft.com/office/drawing/2014/main" id="{D8DE6C5E-4745-1EF1-FA49-6358EFD11642}"/>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pic>
        <p:nvPicPr>
          <p:cNvPr id="7" name="Picture Placeholder 14">
            <a:extLst>
              <a:ext uri="{FF2B5EF4-FFF2-40B4-BE49-F238E27FC236}">
                <a16:creationId xmlns:a16="http://schemas.microsoft.com/office/drawing/2014/main" id="{3C0CA6CE-880C-7C54-9870-FFDA70F25ED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l="61" r="3523" b="5612"/>
          <a:stretch>
            <a:fillRect/>
          </a:stretch>
        </p:blipFill>
        <p:spPr>
          <a:xfrm>
            <a:off x="2300288" y="6452473"/>
            <a:ext cx="820032" cy="216615"/>
          </a:xfrm>
          <a:prstGeom prst="rect">
            <a:avLst/>
          </a:prstGeom>
        </p:spPr>
      </p:pic>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en-US" noProof="0"/>
              <a:t>Click icon to add picture</a:t>
            </a:r>
            <a:endParaRPr lang="de-CH" noProof="0"/>
          </a:p>
        </p:txBody>
      </p:sp>
      <p:pic>
        <p:nvPicPr>
          <p:cNvPr id="8" name="Picture Placeholder 14">
            <a:extLst>
              <a:ext uri="{FF2B5EF4-FFF2-40B4-BE49-F238E27FC236}">
                <a16:creationId xmlns:a16="http://schemas.microsoft.com/office/drawing/2014/main" id="{A4054932-D157-98C3-08CB-8B67A37646CA}"/>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en-US" noProof="0"/>
              <a:t>Click icon to add picture</a:t>
            </a:r>
            <a:endParaRPr lang="de-CH" noProof="0"/>
          </a:p>
        </p:txBody>
      </p:sp>
      <p:pic>
        <p:nvPicPr>
          <p:cNvPr id="3" name="Picture Placeholder 14">
            <a:extLst>
              <a:ext uri="{FF2B5EF4-FFF2-40B4-BE49-F238E27FC236}">
                <a16:creationId xmlns:a16="http://schemas.microsoft.com/office/drawing/2014/main" id="{53EBC0E6-6124-869C-FA2E-CD9D3D683C42}"/>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en-US" noProof="0"/>
              <a:t>Click icon to add picture</a:t>
            </a:r>
            <a:endParaRPr lang="de-CH" noProof="0"/>
          </a:p>
        </p:txBody>
      </p:sp>
      <p:pic>
        <p:nvPicPr>
          <p:cNvPr id="9" name="Picture Placeholder 14">
            <a:extLst>
              <a:ext uri="{FF2B5EF4-FFF2-40B4-BE49-F238E27FC236}">
                <a16:creationId xmlns:a16="http://schemas.microsoft.com/office/drawing/2014/main" id="{72073686-C6D1-0392-7EA6-5B450A9CDC44}"/>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de-CH" noProof="0" dirty="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en-US" noProof="0"/>
              <a:t>Click icon to add picture</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en-US" noProof="0"/>
              <a:t>Click icon to add picture</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pic>
        <p:nvPicPr>
          <p:cNvPr id="10" name="Picture Placeholder 14">
            <a:extLst>
              <a:ext uri="{FF2B5EF4-FFF2-40B4-BE49-F238E27FC236}">
                <a16:creationId xmlns:a16="http://schemas.microsoft.com/office/drawing/2014/main" id="{219A749E-EB56-70C9-92DA-5973901D7B45}"/>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en-US" noProof="0"/>
              <a:t>Click icon to add picture</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en-US" noProof="0"/>
              <a:t>Click icon to add picture</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en-US" noProof="0"/>
              <a:t>Click icon to add picture</a:t>
            </a:r>
            <a:endParaRPr lang="de-CH" noProof="0"/>
          </a:p>
        </p:txBody>
      </p:sp>
      <p:pic>
        <p:nvPicPr>
          <p:cNvPr id="9" name="Picture Placeholder 14">
            <a:extLst>
              <a:ext uri="{FF2B5EF4-FFF2-40B4-BE49-F238E27FC236}">
                <a16:creationId xmlns:a16="http://schemas.microsoft.com/office/drawing/2014/main" id="{11327ECB-0323-0F7E-02D3-F29F465F5D10}"/>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en-US" noProof="0"/>
              <a:t>Click to edit Master text styles</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en-US" noProof="0"/>
              <a:t>Click icon to add table</a:t>
            </a:r>
            <a:endParaRPr lang="de-CH" noProof="0"/>
          </a:p>
        </p:txBody>
      </p:sp>
      <p:pic>
        <p:nvPicPr>
          <p:cNvPr id="10" name="Picture Placeholder 14">
            <a:extLst>
              <a:ext uri="{FF2B5EF4-FFF2-40B4-BE49-F238E27FC236}">
                <a16:creationId xmlns:a16="http://schemas.microsoft.com/office/drawing/2014/main" id="{8B34EBAD-E89E-4FE4-BCDC-4A3E84B14DD2}"/>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2329730" y="6452473"/>
            <a:ext cx="790589" cy="229497"/>
          </a:xfrm>
          <a:prstGeom prst="rect">
            <a:avLst/>
          </a:prstGeom>
        </p:spPr>
      </p:pic>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en-US" noProof="0"/>
              <a:t>Click to edit Master text styles</a:t>
            </a:r>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pic>
        <p:nvPicPr>
          <p:cNvPr id="2" name="Picture Placeholder 14">
            <a:extLst>
              <a:ext uri="{FF2B5EF4-FFF2-40B4-BE49-F238E27FC236}">
                <a16:creationId xmlns:a16="http://schemas.microsoft.com/office/drawing/2014/main" id="{6D1E3B3E-73DE-8C34-2C96-4FE6A8E57DB5}"/>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27.09.2026</a:t>
            </a:fld>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461" b="461"/>
          <a:stretch>
            <a:fillRect/>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p:txBody>
          <a:bodyPr/>
          <a:lstStyle/>
          <a:p>
            <a:r>
              <a:rPr lang="de-CH" sz="2800" noProof="0" dirty="0"/>
              <a:t>Netzwerke und Schaltungen Übungsstunde Woche 3</a:t>
            </a:r>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p:txBody>
          <a:bodyPr vert="horz" lIns="0" tIns="0" rIns="0" bIns="0" rtlCol="0" anchor="t">
            <a:noAutofit/>
          </a:bodyPr>
          <a:lstStyle/>
          <a:p>
            <a:r>
              <a:rPr lang="de-CH" b="1" noProof="0" dirty="0"/>
              <a:t>Name</a:t>
            </a:r>
          </a:p>
          <a:p>
            <a:r>
              <a:rPr lang="de-CH" dirty="0"/>
              <a:t>pnikou</a:t>
            </a:r>
            <a:r>
              <a:rPr lang="de-CH" noProof="0" dirty="0"/>
              <a:t>@student.ethz.ch</a:t>
            </a:r>
            <a:endParaRPr lang="de-CH" noProof="0" dirty="0">
              <a:cs typeface="Arial"/>
            </a:endParaRPr>
          </a:p>
          <a:p>
            <a:r>
              <a:rPr lang="de-CH" noProof="0" dirty="0"/>
              <a:t>1. Oktober 2026</a:t>
            </a:r>
          </a:p>
        </p:txBody>
      </p:sp>
      <p:pic>
        <p:nvPicPr>
          <p:cNvPr id="15" name="Picture Placeholder 14">
            <a:extLst>
              <a:ext uri="{FF2B5EF4-FFF2-40B4-BE49-F238E27FC236}">
                <a16:creationId xmlns:a16="http://schemas.microsoft.com/office/drawing/2014/main" id="{5A89567B-A643-B2E1-8CD0-816E3D9E9844}"/>
              </a:ext>
            </a:extLst>
          </p:cNvPr>
          <p:cNvPicPr>
            <a:picLocks noGrp="1" noRot="1" noChangeAspect="1" noMove="1" noResize="1" noEditPoints="1" noAdjustHandles="1" noChangeArrowheads="1" noChangeShapeType="1" noCrop="1"/>
          </p:cNvPicPr>
          <p:nvPr>
            <p:ph type="pic" sz="quarter" idx="4294967295"/>
          </p:nvPr>
        </p:nvPicPr>
        <p:blipFill>
          <a:blip r:embed="rId4">
            <a:extLst>
              <a:ext uri="{28A0092B-C50C-407E-A947-70E740481C1C}">
                <a14:useLocalDpi xmlns:a14="http://schemas.microsoft.com/office/drawing/2010/main" val="0"/>
              </a:ext>
            </a:extLst>
          </a:blip>
          <a:srcRect t="-6895" b="-269"/>
          <a:stretch>
            <a:fillRect/>
          </a:stretch>
        </p:blipFill>
        <p:spPr>
          <a:xfrm>
            <a:off x="10200163" y="310100"/>
            <a:ext cx="1260000" cy="365760"/>
          </a:xfrm>
          <a:prstGeom prst="rect">
            <a:avLst/>
          </a:prstGeom>
        </p:spPr>
      </p:pic>
    </p:spTree>
    <p:extLst>
      <p:ext uri="{BB962C8B-B14F-4D97-AF65-F5344CB8AC3E}">
        <p14:creationId xmlns:p14="http://schemas.microsoft.com/office/powerpoint/2010/main" val="35361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5CABC-8004-C348-C09F-B9DF6C0EA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D2604-35C4-2019-9992-090A87EC3478}"/>
              </a:ext>
            </a:extLst>
          </p:cNvPr>
          <p:cNvSpPr>
            <a:spLocks noGrp="1"/>
          </p:cNvSpPr>
          <p:nvPr>
            <p:ph type="title"/>
          </p:nvPr>
        </p:nvSpPr>
        <p:spPr/>
        <p:txBody>
          <a:bodyPr/>
          <a:lstStyle/>
          <a:p>
            <a:r>
              <a:rPr lang="de-CH" noProof="0" dirty="0"/>
              <a:t>Offene Fragen von letzter Woche?</a:t>
            </a:r>
          </a:p>
        </p:txBody>
      </p:sp>
      <p:sp>
        <p:nvSpPr>
          <p:cNvPr id="3" name="Date Placeholder 2">
            <a:extLst>
              <a:ext uri="{FF2B5EF4-FFF2-40B4-BE49-F238E27FC236}">
                <a16:creationId xmlns:a16="http://schemas.microsoft.com/office/drawing/2014/main" id="{09D0857C-B80D-145D-D4F1-25C9FD5BDBF0}"/>
              </a:ext>
            </a:extLst>
          </p:cNvPr>
          <p:cNvSpPr>
            <a:spLocks noGrp="1"/>
          </p:cNvSpPr>
          <p:nvPr>
            <p:ph type="dt" sz="half" idx="10"/>
          </p:nvPr>
        </p:nvSpPr>
        <p:spPr/>
        <p:txBody>
          <a:bodyPr/>
          <a:lstStyle/>
          <a:p>
            <a:fld id="{6C4EAFE7-317E-4912-B75C-DD6945F82242}" type="datetime1">
              <a:rPr lang="de-CH" noProof="0" smtClean="0"/>
              <a:t>27.09.2026</a:t>
            </a:fld>
            <a:endParaRPr lang="de-CH" noProof="0" dirty="0"/>
          </a:p>
        </p:txBody>
      </p:sp>
      <p:sp>
        <p:nvSpPr>
          <p:cNvPr id="4" name="Slide Number Placeholder 3">
            <a:extLst>
              <a:ext uri="{FF2B5EF4-FFF2-40B4-BE49-F238E27FC236}">
                <a16:creationId xmlns:a16="http://schemas.microsoft.com/office/drawing/2014/main" id="{498B21BE-FB22-43F1-17AF-0CE31DCBFFB1}"/>
              </a:ext>
            </a:extLst>
          </p:cNvPr>
          <p:cNvSpPr>
            <a:spLocks noGrp="1"/>
          </p:cNvSpPr>
          <p:nvPr>
            <p:ph type="sldNum" sz="quarter" idx="12"/>
          </p:nvPr>
        </p:nvSpPr>
        <p:spPr/>
        <p:txBody>
          <a:bodyPr/>
          <a:lstStyle/>
          <a:p>
            <a:fld id="{5ACA52AF-F19D-405C-AD5F-7D94B96A5CC3}" type="slidenum">
              <a:rPr lang="de-CH" noProof="0" smtClean="0"/>
              <a:pPr/>
              <a:t>2</a:t>
            </a:fld>
            <a:endParaRPr lang="de-CH" noProof="0" dirty="0"/>
          </a:p>
        </p:txBody>
      </p:sp>
    </p:spTree>
    <p:extLst>
      <p:ext uri="{BB962C8B-B14F-4D97-AF65-F5344CB8AC3E}">
        <p14:creationId xmlns:p14="http://schemas.microsoft.com/office/powerpoint/2010/main" val="366589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680E-9257-B267-C53D-4534912B0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083B8-9678-1DF6-463C-EFCEDFCAA363}"/>
              </a:ext>
            </a:extLst>
          </p:cNvPr>
          <p:cNvSpPr>
            <a:spLocks noGrp="1"/>
          </p:cNvSpPr>
          <p:nvPr>
            <p:ph type="title"/>
          </p:nvPr>
        </p:nvSpPr>
        <p:spPr/>
        <p:txBody>
          <a:bodyPr/>
          <a:lstStyle/>
          <a:p>
            <a:r>
              <a:rPr lang="de-CH" noProof="0" dirty="0"/>
              <a:t>Theoriebeispiele zu Schlüsselkonzepten</a:t>
            </a:r>
          </a:p>
        </p:txBody>
      </p:sp>
      <p:sp>
        <p:nvSpPr>
          <p:cNvPr id="3" name="Date Placeholder 2">
            <a:extLst>
              <a:ext uri="{FF2B5EF4-FFF2-40B4-BE49-F238E27FC236}">
                <a16:creationId xmlns:a16="http://schemas.microsoft.com/office/drawing/2014/main" id="{3C68C2DA-E743-A601-797C-454629E1E1A7}"/>
              </a:ext>
            </a:extLst>
          </p:cNvPr>
          <p:cNvSpPr>
            <a:spLocks noGrp="1"/>
          </p:cNvSpPr>
          <p:nvPr>
            <p:ph type="dt" sz="half" idx="10"/>
          </p:nvPr>
        </p:nvSpPr>
        <p:spPr/>
        <p:txBody>
          <a:bodyPr/>
          <a:lstStyle/>
          <a:p>
            <a:fld id="{6C4EAFE7-317E-4912-B75C-DD6945F82242}" type="datetime1">
              <a:rPr lang="de-CH" noProof="0" smtClean="0"/>
              <a:t>27.09.2026</a:t>
            </a:fld>
            <a:endParaRPr lang="de-CH" noProof="0" dirty="0"/>
          </a:p>
        </p:txBody>
      </p:sp>
      <p:sp>
        <p:nvSpPr>
          <p:cNvPr id="4" name="Slide Number Placeholder 3">
            <a:extLst>
              <a:ext uri="{FF2B5EF4-FFF2-40B4-BE49-F238E27FC236}">
                <a16:creationId xmlns:a16="http://schemas.microsoft.com/office/drawing/2014/main" id="{747C5633-B7D5-8004-49B7-3EC35630D129}"/>
              </a:ext>
            </a:extLst>
          </p:cNvPr>
          <p:cNvSpPr>
            <a:spLocks noGrp="1"/>
          </p:cNvSpPr>
          <p:nvPr>
            <p:ph type="sldNum" sz="quarter" idx="12"/>
          </p:nvPr>
        </p:nvSpPr>
        <p:spPr/>
        <p:txBody>
          <a:bodyPr/>
          <a:lstStyle/>
          <a:p>
            <a:fld id="{5ACA52AF-F19D-405C-AD5F-7D94B96A5CC3}" type="slidenum">
              <a:rPr lang="de-CH" noProof="0" smtClean="0"/>
              <a:pPr/>
              <a:t>3</a:t>
            </a:fld>
            <a:endParaRPr lang="de-CH" noProof="0" dirty="0"/>
          </a:p>
        </p:txBody>
      </p:sp>
    </p:spTree>
    <p:extLst>
      <p:ext uri="{BB962C8B-B14F-4D97-AF65-F5344CB8AC3E}">
        <p14:creationId xmlns:p14="http://schemas.microsoft.com/office/powerpoint/2010/main" val="329710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7075-0D26-09CC-17F4-8CD483B6D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4BB5D-B692-F7BE-9775-C9AF7FDA1249}"/>
              </a:ext>
            </a:extLst>
          </p:cNvPr>
          <p:cNvSpPr>
            <a:spLocks noGrp="1"/>
          </p:cNvSpPr>
          <p:nvPr>
            <p:ph type="title"/>
          </p:nvPr>
        </p:nvSpPr>
        <p:spPr/>
        <p:txBody>
          <a:bodyPr/>
          <a:lstStyle/>
          <a:p>
            <a:r>
              <a:rPr lang="de-CH" noProof="0" dirty="0"/>
              <a:t>Beispiel 1 – Die dielektrische Polarisation – Einführung</a:t>
            </a:r>
          </a:p>
        </p:txBody>
      </p:sp>
      <p:sp>
        <p:nvSpPr>
          <p:cNvPr id="3" name="Content Placeholder 2">
            <a:extLst>
              <a:ext uri="{FF2B5EF4-FFF2-40B4-BE49-F238E27FC236}">
                <a16:creationId xmlns:a16="http://schemas.microsoft.com/office/drawing/2014/main" id="{66848CFC-C5EE-6AB7-AFEC-7B24012F919E}"/>
              </a:ext>
            </a:extLst>
          </p:cNvPr>
          <p:cNvSpPr>
            <a:spLocks noGrp="1"/>
          </p:cNvSpPr>
          <p:nvPr>
            <p:ph idx="1"/>
          </p:nvPr>
        </p:nvSpPr>
        <p:spPr>
          <a:xfrm>
            <a:off x="7141989" y="1412875"/>
            <a:ext cx="4318173"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r>
              <a:rPr lang="de-CH" sz="1600" dirty="0"/>
              <a:t>Material ist zuerst unpolarisiert</a:t>
            </a:r>
          </a:p>
          <a:p>
            <a:r>
              <a:rPr lang="de-CH" sz="1600" noProof="0" dirty="0"/>
              <a:t>Platten werden geladen. Diese Ladung erzeugt eine elektrische Flussdichte, aus welche</a:t>
            </a:r>
            <a:r>
              <a:rPr lang="de-CH" sz="1600" dirty="0"/>
              <a:t>r</a:t>
            </a:r>
            <a:r>
              <a:rPr lang="de-CH" sz="1600" noProof="0" dirty="0"/>
              <a:t> sich ein elektrisches Feld ergibt.</a:t>
            </a:r>
          </a:p>
          <a:p>
            <a:r>
              <a:rPr lang="de-CH" sz="1600" dirty="0"/>
              <a:t>Dieses elektrische Feld führt zur Ausrichtung der Dipole. Das Material wird dielektrisch polarisiert.</a:t>
            </a:r>
            <a:endParaRPr lang="de-CH" sz="1600" noProof="0" dirty="0"/>
          </a:p>
          <a:p>
            <a:r>
              <a:rPr lang="de-CH" sz="1600" dirty="0"/>
              <a:t>Da die Flussdichte von der Ladung über das Gaussche Gesetz gegeben ist, bleibt diese gleich.</a:t>
            </a:r>
          </a:p>
          <a:p>
            <a:r>
              <a:rPr lang="de-CH" sz="1600" dirty="0"/>
              <a:t>Die Polarisation schwächt das resultierende elektrische Feld ab.</a:t>
            </a:r>
            <a:endParaRPr lang="de-CH" sz="1600" noProof="0" dirty="0"/>
          </a:p>
        </p:txBody>
      </p:sp>
      <p:sp>
        <p:nvSpPr>
          <p:cNvPr id="4" name="Date Placeholder 3">
            <a:extLst>
              <a:ext uri="{FF2B5EF4-FFF2-40B4-BE49-F238E27FC236}">
                <a16:creationId xmlns:a16="http://schemas.microsoft.com/office/drawing/2014/main" id="{1A9FE714-653E-154D-6466-6E8D6DB6FD61}"/>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472F3BAD-DB21-A683-4773-E8D69C5E4C19}"/>
              </a:ext>
            </a:extLst>
          </p:cNvPr>
          <p:cNvSpPr>
            <a:spLocks noGrp="1"/>
          </p:cNvSpPr>
          <p:nvPr>
            <p:ph type="sldNum" sz="quarter" idx="12"/>
          </p:nvPr>
        </p:nvSpPr>
        <p:spPr/>
        <p:txBody>
          <a:bodyPr/>
          <a:lstStyle/>
          <a:p>
            <a:fld id="{5ACA52AF-F19D-405C-AD5F-7D94B96A5CC3}" type="slidenum">
              <a:rPr lang="de-CH" noProof="0" smtClean="0"/>
              <a:t>4</a:t>
            </a:fld>
            <a:endParaRPr lang="de-CH" noProof="0" dirty="0"/>
          </a:p>
        </p:txBody>
      </p:sp>
      <p:grpSp>
        <p:nvGrpSpPr>
          <p:cNvPr id="6" name="Gruppieren 8">
            <a:extLst>
              <a:ext uri="{FF2B5EF4-FFF2-40B4-BE49-F238E27FC236}">
                <a16:creationId xmlns:a16="http://schemas.microsoft.com/office/drawing/2014/main" id="{E1BC80EE-3373-6D7F-9CFE-324D49BBBE15}"/>
              </a:ext>
            </a:extLst>
          </p:cNvPr>
          <p:cNvGrpSpPr/>
          <p:nvPr/>
        </p:nvGrpSpPr>
        <p:grpSpPr>
          <a:xfrm>
            <a:off x="725648" y="4868923"/>
            <a:ext cx="5794830" cy="1528730"/>
            <a:chOff x="357886" y="3271659"/>
            <a:chExt cx="3760476" cy="1051821"/>
          </a:xfrm>
        </p:grpSpPr>
        <p:pic>
          <p:nvPicPr>
            <p:cNvPr id="8" name="Picture 7">
              <a:extLst>
                <a:ext uri="{FF2B5EF4-FFF2-40B4-BE49-F238E27FC236}">
                  <a16:creationId xmlns:a16="http://schemas.microsoft.com/office/drawing/2014/main" id="{E294B6E2-25DE-C143-574F-3A8DFA262A29}"/>
                </a:ext>
              </a:extLst>
            </p:cNvPr>
            <p:cNvPicPr>
              <a:picLocks noChangeAspect="1"/>
            </p:cNvPicPr>
            <p:nvPr/>
          </p:nvPicPr>
          <p:blipFill>
            <a:blip r:embed="rId3"/>
            <a:srcRect t="56782"/>
            <a:stretch>
              <a:fillRect/>
            </a:stretch>
          </p:blipFill>
          <p:spPr>
            <a:xfrm>
              <a:off x="357886" y="3458680"/>
              <a:ext cx="2572755" cy="864800"/>
            </a:xfrm>
            <a:prstGeom prst="rect">
              <a:avLst/>
            </a:prstGeom>
          </p:spPr>
        </p:pic>
        <p:cxnSp>
          <p:nvCxnSpPr>
            <p:cNvPr id="9" name="Straight Arrow Connector 9">
              <a:extLst>
                <a:ext uri="{FF2B5EF4-FFF2-40B4-BE49-F238E27FC236}">
                  <a16:creationId xmlns:a16="http://schemas.microsoft.com/office/drawing/2014/main" id="{46A4E4E4-7261-1372-F95C-2E296C724810}"/>
                </a:ext>
              </a:extLst>
            </p:cNvPr>
            <p:cNvCxnSpPr/>
            <p:nvPr/>
          </p:nvCxnSpPr>
          <p:spPr>
            <a:xfrm>
              <a:off x="3005214" y="3539926"/>
              <a:ext cx="0" cy="594298"/>
            </a:xfrm>
            <a:prstGeom prst="straightConnector1">
              <a:avLst/>
            </a:prstGeom>
            <a:ln w="57150" cap="sq">
              <a:solidFill>
                <a:schemeClr val="tx1"/>
              </a:solidFill>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10">
              <a:extLst>
                <a:ext uri="{FF2B5EF4-FFF2-40B4-BE49-F238E27FC236}">
                  <a16:creationId xmlns:a16="http://schemas.microsoft.com/office/drawing/2014/main" id="{815BBEDD-0BF6-5A95-9815-A2FB9B524952}"/>
                </a:ext>
              </a:extLst>
            </p:cNvPr>
            <p:cNvCxnSpPr>
              <a:cxnSpLocks/>
            </p:cNvCxnSpPr>
            <p:nvPr/>
          </p:nvCxnSpPr>
          <p:spPr>
            <a:xfrm flipV="1">
              <a:off x="3478064" y="3539926"/>
              <a:ext cx="0" cy="184749"/>
            </a:xfrm>
            <a:prstGeom prst="straightConnector1">
              <a:avLst/>
            </a:prstGeom>
            <a:ln w="19050" cap="sq">
              <a:solidFill>
                <a:schemeClr val="tx1"/>
              </a:solidFill>
              <a:roun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3">
              <a:extLst>
                <a:ext uri="{FF2B5EF4-FFF2-40B4-BE49-F238E27FC236}">
                  <a16:creationId xmlns:a16="http://schemas.microsoft.com/office/drawing/2014/main" id="{748C3A50-2649-2549-89B0-7776C1658958}"/>
                </a:ext>
              </a:extLst>
            </p:cNvPr>
            <p:cNvCxnSpPr>
              <a:cxnSpLocks/>
            </p:cNvCxnSpPr>
            <p:nvPr/>
          </p:nvCxnSpPr>
          <p:spPr>
            <a:xfrm>
              <a:off x="3950918" y="3724676"/>
              <a:ext cx="0" cy="409549"/>
            </a:xfrm>
            <a:prstGeom prst="straightConnector1">
              <a:avLst/>
            </a:prstGeom>
            <a:ln w="38100" cap="sq">
              <a:solidFill>
                <a:schemeClr val="tx1"/>
              </a:solidFill>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47F0473-2F4D-990E-1E3D-6F6D72269A3D}"/>
                </a:ext>
              </a:extLst>
            </p:cNvPr>
            <p:cNvSpPr txBox="1"/>
            <p:nvPr/>
          </p:nvSpPr>
          <p:spPr>
            <a:xfrm>
              <a:off x="2930067" y="3271659"/>
              <a:ext cx="1188295" cy="338818"/>
            </a:xfrm>
            <a:prstGeom prst="rect">
              <a:avLst/>
            </a:prstGeom>
            <a:noFill/>
          </p:spPr>
          <p:txBody>
            <a:bodyPr wrap="none" rtlCol="0">
              <a:spAutoFit/>
            </a:bodyPr>
            <a:lstStyle/>
            <a:p>
              <a:r>
                <a:rPr lang="de-CH" sz="1300" b="1" dirty="0"/>
                <a:t> D     =     P     +     </a:t>
              </a:r>
              <a:r>
                <a:rPr lang="de-CH" sz="1300" dirty="0"/>
                <a:t>ε</a:t>
              </a:r>
              <a:r>
                <a:rPr lang="de-CH" sz="1300" baseline="-25000" dirty="0"/>
                <a:t>0</a:t>
              </a:r>
              <a:r>
                <a:rPr lang="de-CH" sz="1300" b="1" dirty="0"/>
                <a:t>E</a:t>
              </a:r>
            </a:p>
            <a:p>
              <a:endParaRPr lang="de-CH" sz="1300" b="1" dirty="0"/>
            </a:p>
          </p:txBody>
        </p:sp>
      </p:grpSp>
      <p:pic>
        <p:nvPicPr>
          <p:cNvPr id="17" name="Picture 16">
            <a:extLst>
              <a:ext uri="{FF2B5EF4-FFF2-40B4-BE49-F238E27FC236}">
                <a16:creationId xmlns:a16="http://schemas.microsoft.com/office/drawing/2014/main" id="{8455330B-9B13-FABB-62FB-1FF9A33FE0DB}"/>
              </a:ext>
            </a:extLst>
          </p:cNvPr>
          <p:cNvPicPr>
            <a:picLocks noChangeAspect="1"/>
          </p:cNvPicPr>
          <p:nvPr/>
        </p:nvPicPr>
        <p:blipFill>
          <a:blip r:embed="rId3"/>
          <a:srcRect t="6770" b="53602"/>
          <a:stretch>
            <a:fillRect/>
          </a:stretch>
        </p:blipFill>
        <p:spPr>
          <a:xfrm>
            <a:off x="725648" y="3618885"/>
            <a:ext cx="3964572" cy="1152525"/>
          </a:xfrm>
          <a:prstGeom prst="rect">
            <a:avLst/>
          </a:prstGeom>
        </p:spPr>
      </p:pic>
      <p:sp>
        <p:nvSpPr>
          <p:cNvPr id="18" name="TextBox 17">
            <a:extLst>
              <a:ext uri="{FF2B5EF4-FFF2-40B4-BE49-F238E27FC236}">
                <a16:creationId xmlns:a16="http://schemas.microsoft.com/office/drawing/2014/main" id="{7DD15B64-8B03-88E8-84FA-615419D9DD57}"/>
              </a:ext>
            </a:extLst>
          </p:cNvPr>
          <p:cNvSpPr txBox="1"/>
          <p:nvPr/>
        </p:nvSpPr>
        <p:spPr>
          <a:xfrm>
            <a:off x="914400" y="3276600"/>
            <a:ext cx="3571875" cy="369332"/>
          </a:xfrm>
          <a:prstGeom prst="rect">
            <a:avLst/>
          </a:prstGeom>
          <a:noFill/>
        </p:spPr>
        <p:txBody>
          <a:bodyPr wrap="square" rtlCol="0">
            <a:spAutoFit/>
          </a:bodyPr>
          <a:lstStyle/>
          <a:p>
            <a:pPr algn="ctr"/>
            <a:r>
              <a:rPr lang="de-CH" dirty="0"/>
              <a:t>unpolarisiert</a:t>
            </a:r>
          </a:p>
        </p:txBody>
      </p:sp>
      <p:sp>
        <p:nvSpPr>
          <p:cNvPr id="19" name="TextBox 18">
            <a:extLst>
              <a:ext uri="{FF2B5EF4-FFF2-40B4-BE49-F238E27FC236}">
                <a16:creationId xmlns:a16="http://schemas.microsoft.com/office/drawing/2014/main" id="{61B319B3-65E2-D1FC-F33F-FD5B006C6718}"/>
              </a:ext>
            </a:extLst>
          </p:cNvPr>
          <p:cNvSpPr txBox="1"/>
          <p:nvPr/>
        </p:nvSpPr>
        <p:spPr>
          <a:xfrm>
            <a:off x="914400" y="4771410"/>
            <a:ext cx="3648075" cy="369332"/>
          </a:xfrm>
          <a:prstGeom prst="rect">
            <a:avLst/>
          </a:prstGeom>
          <a:noFill/>
        </p:spPr>
        <p:txBody>
          <a:bodyPr wrap="square" rtlCol="0">
            <a:spAutoFit/>
          </a:bodyPr>
          <a:lstStyle/>
          <a:p>
            <a:pPr algn="ctr"/>
            <a:r>
              <a:rPr lang="de-CH" dirty="0"/>
              <a:t>polarisiert</a:t>
            </a:r>
          </a:p>
        </p:txBody>
      </p:sp>
      <p:sp>
        <p:nvSpPr>
          <p:cNvPr id="23" name="TextBox 22">
            <a:extLst>
              <a:ext uri="{FF2B5EF4-FFF2-40B4-BE49-F238E27FC236}">
                <a16:creationId xmlns:a16="http://schemas.microsoft.com/office/drawing/2014/main" id="{ADA333E3-A6E2-42A1-AA3E-FD146C2D3B72}"/>
              </a:ext>
            </a:extLst>
          </p:cNvPr>
          <p:cNvSpPr txBox="1"/>
          <p:nvPr/>
        </p:nvSpPr>
        <p:spPr>
          <a:xfrm>
            <a:off x="914400" y="1238250"/>
            <a:ext cx="5448300" cy="1323439"/>
          </a:xfrm>
          <a:prstGeom prst="rect">
            <a:avLst/>
          </a:prstGeom>
          <a:noFill/>
        </p:spPr>
        <p:txBody>
          <a:bodyPr wrap="square" rtlCol="0">
            <a:spAutoFit/>
          </a:bodyPr>
          <a:lstStyle/>
          <a:p>
            <a:r>
              <a:rPr lang="de-CH" sz="1600" dirty="0"/>
              <a:t>ε</a:t>
            </a:r>
            <a:r>
              <a:rPr lang="de-CH" sz="1600" baseline="-25000" dirty="0"/>
              <a:t>0</a:t>
            </a:r>
            <a:r>
              <a:rPr lang="de-CH" sz="1600" dirty="0"/>
              <a:t>:       Elektrische Feldkonstante / Vakuumpermittivität</a:t>
            </a:r>
          </a:p>
          <a:p>
            <a:r>
              <a:rPr lang="de-CH" sz="1600" dirty="0"/>
              <a:t>ε</a:t>
            </a:r>
            <a:r>
              <a:rPr lang="de-CH" sz="1600" baseline="-25000" dirty="0"/>
              <a:t>r</a:t>
            </a:r>
            <a:r>
              <a:rPr lang="de-CH" sz="1600" dirty="0"/>
              <a:t>:        Dielektrizitätszahl</a:t>
            </a:r>
          </a:p>
          <a:p>
            <a:r>
              <a:rPr lang="el-GR" sz="1600" dirty="0"/>
              <a:t>ε</a:t>
            </a:r>
            <a:r>
              <a:rPr lang="de-CH" sz="1600" dirty="0"/>
              <a:t>=ε</a:t>
            </a:r>
            <a:r>
              <a:rPr lang="de-CH" sz="1600" baseline="-25000" dirty="0"/>
              <a:t>0</a:t>
            </a:r>
            <a:r>
              <a:rPr lang="de-CH" sz="1600" dirty="0"/>
              <a:t>ε</a:t>
            </a:r>
            <a:r>
              <a:rPr lang="de-CH" sz="1600" baseline="-25000" dirty="0"/>
              <a:t>r</a:t>
            </a:r>
            <a:r>
              <a:rPr lang="de-CH" sz="1600" dirty="0"/>
              <a:t>: Dielektrizitätskonstante</a:t>
            </a:r>
          </a:p>
          <a:p>
            <a:endParaRPr lang="de-CH" sz="1600" dirty="0"/>
          </a:p>
          <a:p>
            <a:r>
              <a:rPr lang="de-CH" sz="1600" b="1" dirty="0"/>
              <a:t>P</a:t>
            </a:r>
            <a:r>
              <a:rPr lang="de-CH" sz="1600" dirty="0"/>
              <a:t> = (</a:t>
            </a:r>
            <a:r>
              <a:rPr lang="el-GR" sz="1600" dirty="0"/>
              <a:t>ε</a:t>
            </a:r>
            <a:r>
              <a:rPr lang="de-CH" sz="1600" dirty="0"/>
              <a:t> - ε</a:t>
            </a:r>
            <a:r>
              <a:rPr lang="de-CH" sz="1600" baseline="-25000" dirty="0"/>
              <a:t>0</a:t>
            </a:r>
            <a:r>
              <a:rPr lang="de-CH" sz="1600" dirty="0"/>
              <a:t>) </a:t>
            </a:r>
            <a:r>
              <a:rPr lang="de-CH" sz="1600" b="1" dirty="0"/>
              <a:t>E</a:t>
            </a:r>
            <a:endParaRPr lang="de-CH" sz="1600" dirty="0"/>
          </a:p>
        </p:txBody>
      </p:sp>
    </p:spTree>
    <p:extLst>
      <p:ext uri="{BB962C8B-B14F-4D97-AF65-F5344CB8AC3E}">
        <p14:creationId xmlns:p14="http://schemas.microsoft.com/office/powerpoint/2010/main" val="225048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691C-7212-5AC9-598F-F37FD0950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9FDD6-1DB3-492D-5E23-45D27EDC22FF}"/>
              </a:ext>
            </a:extLst>
          </p:cNvPr>
          <p:cNvSpPr>
            <a:spLocks noGrp="1"/>
          </p:cNvSpPr>
          <p:nvPr>
            <p:ph type="title"/>
          </p:nvPr>
        </p:nvSpPr>
        <p:spPr/>
        <p:txBody>
          <a:bodyPr/>
          <a:lstStyle/>
          <a:p>
            <a:r>
              <a:rPr lang="de-CH" noProof="0" dirty="0"/>
              <a:t>Beispiel 1 – Die dielektrische Polarisation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99A04E-A769-C19A-9E3E-404558E344CF}"/>
                  </a:ext>
                </a:extLst>
              </p:cNvPr>
              <p:cNvSpPr>
                <a:spLocks noGrp="1"/>
              </p:cNvSpPr>
              <p:nvPr>
                <p:ph idx="1"/>
              </p:nvPr>
            </p:nvSpPr>
            <p:spPr>
              <a:xfrm>
                <a:off x="6420163" y="1412875"/>
                <a:ext cx="5039999"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pPr marL="0" indent="0">
                  <a:buNone/>
                </a:pPr>
                <a:r>
                  <a:rPr lang="de-CH" sz="1600" dirty="0"/>
                  <a:t>Gegeben sind zwei parallele Platten mit Abstand </a:t>
                </a:r>
                <a:r>
                  <a:rPr lang="de-CH" sz="1600" i="1" dirty="0"/>
                  <a:t>d</a:t>
                </a:r>
                <a:r>
                  <a:rPr lang="de-CH" sz="1600" dirty="0"/>
                  <a:t> und Fläche </a:t>
                </a:r>
                <a:r>
                  <a:rPr lang="de-CH" sz="1600" i="1" dirty="0"/>
                  <a:t>A. </a:t>
                </a:r>
                <a:r>
                  <a:rPr lang="de-CH" sz="1600" dirty="0"/>
                  <a:t>Dazwischen befindet sich ein Vakuum. Es wird eine Spannung </a:t>
                </a:r>
                <a:r>
                  <a:rPr lang="de-CH" sz="1600" i="1" dirty="0"/>
                  <a:t>U</a:t>
                </a:r>
                <a:r>
                  <a:rPr lang="de-CH" sz="1600" dirty="0"/>
                  <a:t> zwischen den Platten angelegt.</a:t>
                </a:r>
                <a:r>
                  <a:rPr lang="de-CH" sz="1600" i="1" dirty="0"/>
                  <a:t> </a:t>
                </a:r>
                <a:r>
                  <a:rPr lang="de-CH" sz="1600" dirty="0"/>
                  <a:t>Dadurch bilden sich ein D-Feld und ein E-Feld aus.</a:t>
                </a:r>
              </a:p>
              <a:p>
                <a:pPr marL="0" indent="0">
                  <a:buNone/>
                </a:pPr>
                <a:r>
                  <a:rPr lang="de-CH" sz="1600" dirty="0"/>
                  <a:t>Die Spannungsquelle bleibt angeschlossen. Wie verändert sich das E-Feld, wenn ein Dielektrikum mit Dielektrizitätszahl </a:t>
                </a:r>
                <a14:m>
                  <m:oMath xmlns:m="http://schemas.openxmlformats.org/officeDocument/2006/math">
                    <m:sSub>
                      <m:sSubPr>
                        <m:ctrlPr>
                          <a:rPr lang="de-CH" sz="1600" i="1" smtClean="0">
                            <a:latin typeface="Cambria Math" panose="02040503050406030204" pitchFamily="18" charset="0"/>
                            <a:ea typeface="Cambria Math" panose="02040503050406030204" pitchFamily="18" charset="0"/>
                          </a:rPr>
                        </m:ctrlPr>
                      </m:sSubPr>
                      <m:e>
                        <m:r>
                          <a:rPr lang="de-CH" sz="1600" i="1" smtClean="0">
                            <a:latin typeface="Cambria Math" panose="02040503050406030204" pitchFamily="18" charset="0"/>
                            <a:ea typeface="Cambria Math" panose="02040503050406030204" pitchFamily="18" charset="0"/>
                          </a:rPr>
                          <m:t>𝜀</m:t>
                        </m:r>
                      </m:e>
                      <m:sub>
                        <m:r>
                          <m:rPr>
                            <m:sty m:val="p"/>
                          </m:rPr>
                          <a:rPr lang="de-CH" sz="1600" b="0" i="1" smtClean="0">
                            <a:latin typeface="Cambria Math" panose="02040503050406030204" pitchFamily="18" charset="0"/>
                          </a:rPr>
                          <m:t>r</m:t>
                        </m:r>
                      </m:sub>
                    </m:sSub>
                    <m:r>
                      <a:rPr lang="de-CH" sz="1600" i="1" smtClean="0">
                        <a:latin typeface="Cambria Math" panose="02040503050406030204" pitchFamily="18" charset="0"/>
                        <a:ea typeface="Cambria Math" panose="02040503050406030204" pitchFamily="18" charset="0"/>
                      </a:rPr>
                      <m:t>≫</m:t>
                    </m:r>
                    <m:r>
                      <a:rPr lang="de-CH" sz="1600" b="0" i="1" smtClean="0">
                        <a:latin typeface="Cambria Math" panose="02040503050406030204" pitchFamily="18" charset="0"/>
                        <a:ea typeface="Cambria Math" panose="02040503050406030204" pitchFamily="18" charset="0"/>
                      </a:rPr>
                      <m:t>1</m:t>
                    </m:r>
                  </m:oMath>
                </a14:m>
                <a:r>
                  <a:rPr lang="de-CH" sz="1600" dirty="0"/>
                  <a:t> zwischen die Platten geschoben wird?</a:t>
                </a:r>
              </a:p>
              <a:p>
                <a:r>
                  <a:rPr lang="de-CH" sz="1600" dirty="0"/>
                  <a:t>E-Feld wird grösser</a:t>
                </a:r>
              </a:p>
              <a:p>
                <a:r>
                  <a:rPr lang="de-CH" sz="1600" dirty="0"/>
                  <a:t>E-Feld wird kleiner</a:t>
                </a:r>
              </a:p>
              <a:p>
                <a:r>
                  <a:rPr lang="de-CH" sz="1600" dirty="0"/>
                  <a:t>E-Feld bleibt gleich</a:t>
                </a:r>
              </a:p>
            </p:txBody>
          </p:sp>
        </mc:Choice>
        <mc:Fallback xmlns="">
          <p:sp>
            <p:nvSpPr>
              <p:cNvPr id="3" name="Content Placeholder 2">
                <a:extLst>
                  <a:ext uri="{FF2B5EF4-FFF2-40B4-BE49-F238E27FC236}">
                    <a16:creationId xmlns:a16="http://schemas.microsoft.com/office/drawing/2014/main" id="{D899A04E-A769-C19A-9E3E-404558E344CF}"/>
                  </a:ext>
                </a:extLst>
              </p:cNvPr>
              <p:cNvSpPr>
                <a:spLocks noGrp="1" noRot="1" noChangeAspect="1" noMove="1" noResize="1" noEditPoints="1" noAdjustHandles="1" noChangeArrowheads="1" noChangeShapeType="1" noTextEdit="1"/>
              </p:cNvSpPr>
              <p:nvPr>
                <p:ph idx="1"/>
              </p:nvPr>
            </p:nvSpPr>
            <p:spPr>
              <a:xfrm>
                <a:off x="6420163" y="1412875"/>
                <a:ext cx="5039999" cy="4860000"/>
              </a:xfrm>
              <a:blipFill>
                <a:blip r:embed="rId2"/>
                <a:stretch>
                  <a:fillRect l="-2781" t="-1631" r="-1330"/>
                </a:stretch>
              </a:blipFill>
            </p:spPr>
            <p:txBody>
              <a:bodyPr/>
              <a:lstStyle/>
              <a:p>
                <a:r>
                  <a:rPr lang="de-CH">
                    <a:noFill/>
                  </a:rPr>
                  <a:t> </a:t>
                </a:r>
              </a:p>
            </p:txBody>
          </p:sp>
        </mc:Fallback>
      </mc:AlternateContent>
      <p:sp>
        <p:nvSpPr>
          <p:cNvPr id="4" name="Date Placeholder 3">
            <a:extLst>
              <a:ext uri="{FF2B5EF4-FFF2-40B4-BE49-F238E27FC236}">
                <a16:creationId xmlns:a16="http://schemas.microsoft.com/office/drawing/2014/main" id="{8F0E20BA-984C-5745-326E-0E675F14C984}"/>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DE7B18B5-47C1-E461-263F-D29D698FDC96}"/>
              </a:ext>
            </a:extLst>
          </p:cNvPr>
          <p:cNvSpPr>
            <a:spLocks noGrp="1"/>
          </p:cNvSpPr>
          <p:nvPr>
            <p:ph type="sldNum" sz="quarter" idx="12"/>
          </p:nvPr>
        </p:nvSpPr>
        <p:spPr/>
        <p:txBody>
          <a:bodyPr/>
          <a:lstStyle/>
          <a:p>
            <a:fld id="{5ACA52AF-F19D-405C-AD5F-7D94B96A5CC3}" type="slidenum">
              <a:rPr lang="de-CH" noProof="0" smtClean="0"/>
              <a:t>5</a:t>
            </a:fld>
            <a:endParaRPr lang="de-CH" noProof="0" dirty="0"/>
          </a:p>
        </p:txBody>
      </p:sp>
      <p:pic>
        <p:nvPicPr>
          <p:cNvPr id="10" name="Picture Placeholder 9">
            <a:extLst>
              <a:ext uri="{FF2B5EF4-FFF2-40B4-BE49-F238E27FC236}">
                <a16:creationId xmlns:a16="http://schemas.microsoft.com/office/drawing/2014/main" id="{AE0A26D5-2087-9A16-3625-805EEF7704E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399" b="5724"/>
          <a:stretch>
            <a:fillRect/>
          </a:stretch>
        </p:blipFill>
        <p:spPr>
          <a:xfrm>
            <a:off x="731837" y="1160351"/>
            <a:ext cx="5040000" cy="5257848"/>
          </a:xfrm>
          <a:prstGeom prst="rect">
            <a:avLst/>
          </a:prstGeom>
        </p:spPr>
      </p:pic>
    </p:spTree>
    <p:extLst>
      <p:ext uri="{BB962C8B-B14F-4D97-AF65-F5344CB8AC3E}">
        <p14:creationId xmlns:p14="http://schemas.microsoft.com/office/powerpoint/2010/main" val="115081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A024F-3431-A7E6-00EA-60D58B628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32CB9-D7E6-CE51-3D3B-021D8224DE46}"/>
              </a:ext>
            </a:extLst>
          </p:cNvPr>
          <p:cNvSpPr>
            <a:spLocks noGrp="1"/>
          </p:cNvSpPr>
          <p:nvPr>
            <p:ph type="title"/>
          </p:nvPr>
        </p:nvSpPr>
        <p:spPr/>
        <p:txBody>
          <a:bodyPr/>
          <a:lstStyle/>
          <a:p>
            <a:r>
              <a:rPr lang="de-CH" noProof="0" dirty="0"/>
              <a:t>Beispiel 1 – Die dielektrische Polarisation – Lösung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428186-6DBD-9490-A780-6FFD38E12167}"/>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pPr marL="0" indent="0">
                  <a:buNone/>
                </a:pPr>
                <a:r>
                  <a:rPr lang="de-CH" sz="1600" dirty="0"/>
                  <a:t>Wie verändert sich das E-Feld, wenn ein Dielektrikum mit Dielektrizitätszahl </a:t>
                </a:r>
                <a14:m>
                  <m:oMath xmlns:m="http://schemas.openxmlformats.org/officeDocument/2006/math">
                    <m:sSub>
                      <m:sSubPr>
                        <m:ctrlPr>
                          <a:rPr lang="de-CH" sz="1600" i="1">
                            <a:latin typeface="Cambria Math" panose="02040503050406030204" pitchFamily="18" charset="0"/>
                            <a:ea typeface="Cambria Math" panose="02040503050406030204" pitchFamily="18" charset="0"/>
                          </a:rPr>
                        </m:ctrlPr>
                      </m:sSubPr>
                      <m:e>
                        <m:r>
                          <a:rPr lang="de-CH" sz="1600" i="1">
                            <a:latin typeface="Cambria Math" panose="02040503050406030204" pitchFamily="18" charset="0"/>
                            <a:ea typeface="Cambria Math" panose="02040503050406030204" pitchFamily="18" charset="0"/>
                          </a:rPr>
                          <m:t>𝜀</m:t>
                        </m:r>
                      </m:e>
                      <m:sub>
                        <m:r>
                          <m:rPr>
                            <m:sty m:val="p"/>
                          </m:rPr>
                          <a:rPr lang="de-CH" sz="1600" i="1">
                            <a:latin typeface="Cambria Math" panose="02040503050406030204" pitchFamily="18" charset="0"/>
                          </a:rPr>
                          <m:t>r</m:t>
                        </m:r>
                      </m:sub>
                    </m:sSub>
                    <m:r>
                      <a:rPr lang="de-CH" sz="1600" i="1">
                        <a:latin typeface="Cambria Math" panose="02040503050406030204" pitchFamily="18" charset="0"/>
                        <a:ea typeface="Cambria Math" panose="02040503050406030204" pitchFamily="18" charset="0"/>
                      </a:rPr>
                      <m:t>≫1</m:t>
                    </m:r>
                  </m:oMath>
                </a14:m>
                <a:r>
                  <a:rPr lang="de-CH" sz="1600" dirty="0"/>
                  <a:t> zwischen die Platten geschoben wird?</a:t>
                </a:r>
              </a:p>
              <a:p>
                <a:r>
                  <a:rPr lang="de-CH" sz="1600" dirty="0"/>
                  <a:t>E-Feld wird grösser</a:t>
                </a:r>
              </a:p>
              <a:p>
                <a:r>
                  <a:rPr lang="de-CH" sz="1600" dirty="0"/>
                  <a:t>E-Feld wird kleiner</a:t>
                </a:r>
              </a:p>
              <a:p>
                <a:r>
                  <a:rPr lang="de-CH" sz="1600" b="1" dirty="0"/>
                  <a:t>E-Feld bleibt gleich</a:t>
                </a:r>
              </a:p>
              <a:p>
                <a:pPr marL="0" indent="0">
                  <a:buNone/>
                </a:pPr>
                <a:r>
                  <a:rPr lang="de-CH" sz="1600" noProof="0" dirty="0"/>
                  <a:t>Das E-Feld ist durch die </a:t>
                </a:r>
                <a:r>
                  <a:rPr lang="de-CH" sz="1600" dirty="0"/>
                  <a:t>Spannungsquelle vorgegeben: </a:t>
                </a:r>
                <a14:m>
                  <m:oMath xmlns:m="http://schemas.openxmlformats.org/officeDocument/2006/math">
                    <m:r>
                      <a:rPr lang="de-CH" sz="1600" b="0" i="1" smtClean="0">
                        <a:latin typeface="Cambria Math" panose="02040503050406030204" pitchFamily="18" charset="0"/>
                      </a:rPr>
                      <m:t>𝐸</m:t>
                    </m:r>
                    <m:r>
                      <a:rPr lang="de-CH" sz="1600" b="0" i="1" smtClean="0">
                        <a:latin typeface="Cambria Math" panose="02040503050406030204" pitchFamily="18" charset="0"/>
                      </a:rPr>
                      <m:t> = </m:t>
                    </m:r>
                    <m:r>
                      <a:rPr lang="de-CH" sz="1600" b="0" i="1" smtClean="0">
                        <a:latin typeface="Cambria Math" panose="02040503050406030204" pitchFamily="18" charset="0"/>
                      </a:rPr>
                      <m:t>𝑈</m:t>
                    </m:r>
                    <m:r>
                      <a:rPr lang="de-CH" sz="1600" b="0" i="1" smtClean="0">
                        <a:latin typeface="Cambria Math" panose="02040503050406030204" pitchFamily="18" charset="0"/>
                      </a:rPr>
                      <m:t>/</m:t>
                    </m:r>
                    <m:r>
                      <a:rPr lang="de-CH" sz="1600" b="0" i="1" smtClean="0">
                        <a:latin typeface="Cambria Math" panose="02040503050406030204" pitchFamily="18" charset="0"/>
                      </a:rPr>
                      <m:t>𝑑</m:t>
                    </m:r>
                  </m:oMath>
                </a14:m>
                <a:r>
                  <a:rPr lang="de-CH" sz="1600" i="1" noProof="0" dirty="0"/>
                  <a:t>. </a:t>
                </a:r>
                <a:endParaRPr lang="de-CH" sz="1600" noProof="0" dirty="0"/>
              </a:p>
              <a:p>
                <a:pPr marL="0" indent="0">
                  <a:buNone/>
                </a:pPr>
                <a:r>
                  <a:rPr lang="de-CH" sz="1600" noProof="0" dirty="0"/>
                  <a:t>Was ändert sich stattdessen?</a:t>
                </a:r>
              </a:p>
            </p:txBody>
          </p:sp>
        </mc:Choice>
        <mc:Fallback xmlns="">
          <p:sp>
            <p:nvSpPr>
              <p:cNvPr id="3" name="Content Placeholder 2">
                <a:extLst>
                  <a:ext uri="{FF2B5EF4-FFF2-40B4-BE49-F238E27FC236}">
                    <a16:creationId xmlns:a16="http://schemas.microsoft.com/office/drawing/2014/main" id="{4C428186-6DBD-9490-A780-6FFD38E12167}"/>
                  </a:ext>
                </a:extLst>
              </p:cNvPr>
              <p:cNvSpPr>
                <a:spLocks noGrp="1" noRot="1" noChangeAspect="1" noMove="1" noResize="1" noEditPoints="1" noAdjustHandles="1" noChangeArrowheads="1" noChangeShapeType="1" noTextEdit="1"/>
              </p:cNvSpPr>
              <p:nvPr>
                <p:ph idx="1"/>
              </p:nvPr>
            </p:nvSpPr>
            <p:spPr>
              <a:xfrm>
                <a:off x="6846073" y="1412875"/>
                <a:ext cx="4614089" cy="4860000"/>
              </a:xfrm>
              <a:blipFill>
                <a:blip r:embed="rId2"/>
                <a:stretch>
                  <a:fillRect l="-3038" t="-1631" r="-369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75EC810-5A95-3EEC-6949-8A7EB2CAE953}"/>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334DF1FA-8AE6-0A7B-2ADA-7EEE8D6A4867}"/>
              </a:ext>
            </a:extLst>
          </p:cNvPr>
          <p:cNvSpPr>
            <a:spLocks noGrp="1"/>
          </p:cNvSpPr>
          <p:nvPr>
            <p:ph type="sldNum" sz="quarter" idx="12"/>
          </p:nvPr>
        </p:nvSpPr>
        <p:spPr/>
        <p:txBody>
          <a:bodyPr/>
          <a:lstStyle/>
          <a:p>
            <a:fld id="{5ACA52AF-F19D-405C-AD5F-7D94B96A5CC3}" type="slidenum">
              <a:rPr lang="de-CH" noProof="0" smtClean="0"/>
              <a:t>6</a:t>
            </a:fld>
            <a:endParaRPr lang="de-CH" noProof="0" dirty="0"/>
          </a:p>
        </p:txBody>
      </p:sp>
      <p:pic>
        <p:nvPicPr>
          <p:cNvPr id="8" name="Picture Placeholder 9">
            <a:extLst>
              <a:ext uri="{FF2B5EF4-FFF2-40B4-BE49-F238E27FC236}">
                <a16:creationId xmlns:a16="http://schemas.microsoft.com/office/drawing/2014/main" id="{AD9E67C7-C512-13AF-D482-BC1C0458462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399" b="5724"/>
          <a:stretch>
            <a:fillRect/>
          </a:stretch>
        </p:blipFill>
        <p:spPr>
          <a:xfrm>
            <a:off x="731837" y="1160351"/>
            <a:ext cx="5040000" cy="5257848"/>
          </a:xfrm>
          <a:prstGeom prst="rect">
            <a:avLst/>
          </a:prstGeom>
        </p:spPr>
      </p:pic>
    </p:spTree>
    <p:extLst>
      <p:ext uri="{BB962C8B-B14F-4D97-AF65-F5344CB8AC3E}">
        <p14:creationId xmlns:p14="http://schemas.microsoft.com/office/powerpoint/2010/main" val="256082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1ED53-FA76-1ABE-884D-67172A786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1942D-E14F-102A-214C-D474C2A20D92}"/>
              </a:ext>
            </a:extLst>
          </p:cNvPr>
          <p:cNvSpPr>
            <a:spLocks noGrp="1"/>
          </p:cNvSpPr>
          <p:nvPr>
            <p:ph type="title"/>
          </p:nvPr>
        </p:nvSpPr>
        <p:spPr/>
        <p:txBody>
          <a:bodyPr/>
          <a:lstStyle/>
          <a:p>
            <a:r>
              <a:rPr lang="de-CH" noProof="0" dirty="0"/>
              <a:t>Beispiel 1 – Die dielektrische Polarisation – Lösung Fortsetzung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4EA100-A4B8-A7B6-B89B-1CD24D58B759}"/>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pPr marL="0" indent="0">
                  <a:buNone/>
                </a:pPr>
                <a:r>
                  <a:rPr lang="de-CH" sz="1600" noProof="0" dirty="0"/>
                  <a:t>Das E-Feld ist durch die </a:t>
                </a:r>
                <a:r>
                  <a:rPr lang="de-CH" sz="1600" dirty="0"/>
                  <a:t>Spannungsquelle vorgegeben: </a:t>
                </a:r>
                <a14:m>
                  <m:oMath xmlns:m="http://schemas.openxmlformats.org/officeDocument/2006/math">
                    <m:r>
                      <a:rPr lang="de-CH" sz="1600" b="0" i="1" smtClean="0">
                        <a:latin typeface="Cambria Math" panose="02040503050406030204" pitchFamily="18" charset="0"/>
                      </a:rPr>
                      <m:t>𝐸</m:t>
                    </m:r>
                    <m:r>
                      <a:rPr lang="de-CH" sz="1600" b="0" i="1" smtClean="0">
                        <a:latin typeface="Cambria Math" panose="02040503050406030204" pitchFamily="18" charset="0"/>
                      </a:rPr>
                      <m:t> = </m:t>
                    </m:r>
                    <m:r>
                      <a:rPr lang="de-CH" sz="1600" b="0" i="1" smtClean="0">
                        <a:latin typeface="Cambria Math" panose="02040503050406030204" pitchFamily="18" charset="0"/>
                      </a:rPr>
                      <m:t>𝑈</m:t>
                    </m:r>
                    <m:r>
                      <a:rPr lang="de-CH" sz="1600" b="0" i="1" smtClean="0">
                        <a:latin typeface="Cambria Math" panose="02040503050406030204" pitchFamily="18" charset="0"/>
                      </a:rPr>
                      <m:t>/</m:t>
                    </m:r>
                    <m:r>
                      <a:rPr lang="de-CH" sz="1600" b="0" i="1" smtClean="0">
                        <a:latin typeface="Cambria Math" panose="02040503050406030204" pitchFamily="18" charset="0"/>
                      </a:rPr>
                      <m:t>𝑑</m:t>
                    </m:r>
                  </m:oMath>
                </a14:m>
                <a:r>
                  <a:rPr lang="de-CH" sz="1600" i="1" noProof="0" dirty="0"/>
                  <a:t>. </a:t>
                </a:r>
                <a:endParaRPr lang="de-CH" sz="1600" noProof="0" dirty="0"/>
              </a:p>
              <a:p>
                <a:pPr marL="0" indent="0">
                  <a:buNone/>
                </a:pPr>
                <a:r>
                  <a:rPr lang="de-CH" sz="1600" noProof="0" dirty="0"/>
                  <a:t>Was ändert sich stattdessen?</a:t>
                </a:r>
              </a:p>
              <a:p>
                <a:pPr marL="0" indent="0">
                  <a:buNone/>
                </a:pPr>
                <a:r>
                  <a:rPr lang="de-CH" sz="1600" b="1" dirty="0"/>
                  <a:t>Das D-Feld und die Ladungsdichte auf den Platten nehmen zu.</a:t>
                </a:r>
              </a:p>
              <a:p>
                <a:pPr marL="0" indent="0">
                  <a:buNone/>
                </a:pPr>
                <a14:m>
                  <m:oMathPara xmlns:m="http://schemas.openxmlformats.org/officeDocument/2006/math">
                    <m:oMathParaPr>
                      <m:jc m:val="centerGroup"/>
                    </m:oMathParaPr>
                    <m:oMath xmlns:m="http://schemas.openxmlformats.org/officeDocument/2006/math">
                      <m:r>
                        <a:rPr lang="de-CH" sz="1600" b="0" i="1" noProof="0" smtClean="0">
                          <a:latin typeface="Cambria Math" panose="02040503050406030204" pitchFamily="18" charset="0"/>
                          <a:ea typeface="Cambria Math" panose="02040503050406030204" pitchFamily="18" charset="0"/>
                        </a:rPr>
                        <m:t>𝜎</m:t>
                      </m:r>
                      <m:r>
                        <a:rPr lang="de-CH" sz="1600" b="0" i="1" noProof="0" smtClean="0">
                          <a:latin typeface="Cambria Math" panose="02040503050406030204" pitchFamily="18" charset="0"/>
                          <a:ea typeface="Cambria Math" panose="02040503050406030204" pitchFamily="18" charset="0"/>
                        </a:rPr>
                        <m:t>=</m:t>
                      </m:r>
                      <m:r>
                        <m:rPr>
                          <m:sty m:val="p"/>
                        </m:rPr>
                        <a:rPr lang="de-CH" sz="1600" b="0" i="1" noProof="0" smtClean="0">
                          <a:latin typeface="Cambria Math" panose="02040503050406030204" pitchFamily="18" charset="0"/>
                        </a:rPr>
                        <m:t>D</m:t>
                      </m:r>
                      <m:r>
                        <a:rPr lang="de-CH" sz="1600" b="0" i="1" noProof="0" smtClean="0">
                          <a:latin typeface="Cambria Math" panose="02040503050406030204" pitchFamily="18" charset="0"/>
                        </a:rPr>
                        <m:t> = </m:t>
                      </m:r>
                      <m:sSub>
                        <m:sSubPr>
                          <m:ctrlPr>
                            <a:rPr lang="de-CH" sz="1600" b="0" i="1" noProof="0" smtClean="0">
                              <a:latin typeface="Cambria Math" panose="02040503050406030204" pitchFamily="18" charset="0"/>
                              <a:ea typeface="Cambria Math" panose="02040503050406030204" pitchFamily="18" charset="0"/>
                            </a:rPr>
                          </m:ctrlPr>
                        </m:sSubPr>
                        <m:e>
                          <m:r>
                            <a:rPr lang="de-CH" sz="1600" b="0" i="1" noProof="0" smtClean="0">
                              <a:latin typeface="Cambria Math" panose="02040503050406030204" pitchFamily="18" charset="0"/>
                              <a:ea typeface="Cambria Math" panose="02040503050406030204" pitchFamily="18" charset="0"/>
                            </a:rPr>
                            <m:t>𝜀</m:t>
                          </m:r>
                        </m:e>
                        <m:sub>
                          <m:r>
                            <a:rPr lang="de-CH" sz="1600" b="0" i="1" noProof="0" smtClean="0">
                              <a:latin typeface="Cambria Math" panose="02040503050406030204" pitchFamily="18" charset="0"/>
                            </a:rPr>
                            <m:t>0</m:t>
                          </m:r>
                        </m:sub>
                      </m:sSub>
                      <m:sSub>
                        <m:sSubPr>
                          <m:ctrlPr>
                            <a:rPr lang="de-CH" sz="1600" i="1">
                              <a:latin typeface="Cambria Math" panose="02040503050406030204" pitchFamily="18" charset="0"/>
                              <a:ea typeface="Cambria Math" panose="02040503050406030204" pitchFamily="18" charset="0"/>
                            </a:rPr>
                          </m:ctrlPr>
                        </m:sSubPr>
                        <m:e>
                          <m:r>
                            <a:rPr lang="de-CH" sz="1600" i="1">
                              <a:latin typeface="Cambria Math" panose="02040503050406030204" pitchFamily="18" charset="0"/>
                              <a:ea typeface="Cambria Math" panose="02040503050406030204" pitchFamily="18" charset="0"/>
                            </a:rPr>
                            <m:t>𝜀</m:t>
                          </m:r>
                        </m:e>
                        <m:sub>
                          <m:r>
                            <m:rPr>
                              <m:sty m:val="p"/>
                            </m:rPr>
                            <a:rPr lang="de-CH" sz="1600" b="0" i="1" smtClean="0">
                              <a:latin typeface="Cambria Math" panose="02040503050406030204" pitchFamily="18" charset="0"/>
                            </a:rPr>
                            <m:t>r</m:t>
                          </m:r>
                        </m:sub>
                      </m:sSub>
                      <m:r>
                        <m:rPr>
                          <m:sty m:val="p"/>
                        </m:rPr>
                        <a:rPr lang="de-CH" sz="1600" b="0" i="1" smtClean="0">
                          <a:latin typeface="Cambria Math" panose="02040503050406030204" pitchFamily="18" charset="0"/>
                        </a:rPr>
                        <m:t>E</m:t>
                      </m:r>
                    </m:oMath>
                  </m:oMathPara>
                </a14:m>
                <a:endParaRPr lang="de-CH" sz="1600" noProof="0" dirty="0"/>
              </a:p>
              <a:p>
                <a:pPr marL="0" indent="0">
                  <a:buNone/>
                </a:pPr>
                <a:r>
                  <a:rPr lang="de-CH" sz="1600" b="1" dirty="0"/>
                  <a:t>Merke:</a:t>
                </a:r>
              </a:p>
              <a:p>
                <a:r>
                  <a:rPr lang="de-CH" sz="1600" dirty="0"/>
                  <a:t>Spannung gegeben </a:t>
                </a:r>
                <a:r>
                  <a:rPr lang="de-CH" dirty="0"/>
                  <a:t>→</a:t>
                </a:r>
                <a:r>
                  <a:rPr lang="de-CH" sz="1600" dirty="0"/>
                  <a:t> E-Feld gegeben</a:t>
                </a:r>
              </a:p>
              <a:p>
                <a:r>
                  <a:rPr lang="de-CH" sz="1600" noProof="0" dirty="0"/>
                  <a:t>Ladung gegeben </a:t>
                </a:r>
                <a:r>
                  <a:rPr lang="de-CH" sz="1600" dirty="0"/>
                  <a:t>→</a:t>
                </a:r>
                <a:r>
                  <a:rPr lang="de-CH" sz="1600" noProof="0" dirty="0"/>
                  <a:t> D-Feld gegeben</a:t>
                </a:r>
              </a:p>
              <a:p>
                <a:pPr marL="0" indent="0">
                  <a:buNone/>
                </a:pPr>
                <a:endParaRPr lang="de-CH" sz="1600" noProof="0" dirty="0"/>
              </a:p>
            </p:txBody>
          </p:sp>
        </mc:Choice>
        <mc:Fallback xmlns="">
          <p:sp>
            <p:nvSpPr>
              <p:cNvPr id="3" name="Content Placeholder 2">
                <a:extLst>
                  <a:ext uri="{FF2B5EF4-FFF2-40B4-BE49-F238E27FC236}">
                    <a16:creationId xmlns:a16="http://schemas.microsoft.com/office/drawing/2014/main" id="{BB4EA100-A4B8-A7B6-B89B-1CD24D58B759}"/>
                  </a:ext>
                </a:extLst>
              </p:cNvPr>
              <p:cNvSpPr>
                <a:spLocks noGrp="1" noRot="1" noChangeAspect="1" noMove="1" noResize="1" noEditPoints="1" noAdjustHandles="1" noChangeArrowheads="1" noChangeShapeType="1" noTextEdit="1"/>
              </p:cNvSpPr>
              <p:nvPr>
                <p:ph idx="1"/>
              </p:nvPr>
            </p:nvSpPr>
            <p:spPr>
              <a:xfrm>
                <a:off x="6846073" y="1412875"/>
                <a:ext cx="4614089" cy="4860000"/>
              </a:xfrm>
              <a:blipFill>
                <a:blip r:embed="rId2"/>
                <a:stretch>
                  <a:fillRect l="-3038" t="-1631"/>
                </a:stretch>
              </a:blipFill>
            </p:spPr>
            <p:txBody>
              <a:bodyPr/>
              <a:lstStyle/>
              <a:p>
                <a:r>
                  <a:rPr lang="de-CH">
                    <a:noFill/>
                  </a:rPr>
                  <a:t> </a:t>
                </a:r>
              </a:p>
            </p:txBody>
          </p:sp>
        </mc:Fallback>
      </mc:AlternateContent>
      <p:sp>
        <p:nvSpPr>
          <p:cNvPr id="4" name="Date Placeholder 3">
            <a:extLst>
              <a:ext uri="{FF2B5EF4-FFF2-40B4-BE49-F238E27FC236}">
                <a16:creationId xmlns:a16="http://schemas.microsoft.com/office/drawing/2014/main" id="{FA072BA8-6C24-7348-39E0-36F6769BA73C}"/>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95159431-FFAC-9872-A52E-8049452A8EA4}"/>
              </a:ext>
            </a:extLst>
          </p:cNvPr>
          <p:cNvSpPr>
            <a:spLocks noGrp="1"/>
          </p:cNvSpPr>
          <p:nvPr>
            <p:ph type="sldNum" sz="quarter" idx="12"/>
          </p:nvPr>
        </p:nvSpPr>
        <p:spPr/>
        <p:txBody>
          <a:bodyPr/>
          <a:lstStyle/>
          <a:p>
            <a:fld id="{5ACA52AF-F19D-405C-AD5F-7D94B96A5CC3}" type="slidenum">
              <a:rPr lang="de-CH" noProof="0" smtClean="0"/>
              <a:t>7</a:t>
            </a:fld>
            <a:endParaRPr lang="de-CH" noProof="0" dirty="0"/>
          </a:p>
        </p:txBody>
      </p:sp>
      <p:pic>
        <p:nvPicPr>
          <p:cNvPr id="8" name="Picture Placeholder 9">
            <a:extLst>
              <a:ext uri="{FF2B5EF4-FFF2-40B4-BE49-F238E27FC236}">
                <a16:creationId xmlns:a16="http://schemas.microsoft.com/office/drawing/2014/main" id="{C04A2D66-9215-9C0B-7861-8E33256D125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6552" b="6552"/>
          <a:stretch/>
        </p:blipFill>
        <p:spPr>
          <a:xfrm>
            <a:off x="731837" y="1110111"/>
            <a:ext cx="5040000" cy="5257848"/>
          </a:xfrm>
          <a:prstGeom prst="rect">
            <a:avLst/>
          </a:prstGeom>
        </p:spPr>
      </p:pic>
    </p:spTree>
    <p:extLst>
      <p:ext uri="{BB962C8B-B14F-4D97-AF65-F5344CB8AC3E}">
        <p14:creationId xmlns:p14="http://schemas.microsoft.com/office/powerpoint/2010/main" val="201474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4ADF-4BF0-52EF-2C6B-CE2A4F5AD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6FCE6-A17D-B5F6-A353-F7993E4B5B20}"/>
              </a:ext>
            </a:extLst>
          </p:cNvPr>
          <p:cNvSpPr>
            <a:spLocks noGrp="1"/>
          </p:cNvSpPr>
          <p:nvPr>
            <p:ph type="title"/>
          </p:nvPr>
        </p:nvSpPr>
        <p:spPr/>
        <p:txBody>
          <a:bodyPr/>
          <a:lstStyle/>
          <a:p>
            <a:r>
              <a:rPr lang="de-CH" noProof="0" dirty="0"/>
              <a:t>Beispiel 1b – Die dielektrische Polarisation berechnen</a:t>
            </a:r>
          </a:p>
        </p:txBody>
      </p:sp>
      <p:sp>
        <p:nvSpPr>
          <p:cNvPr id="3" name="Content Placeholder 2">
            <a:extLst>
              <a:ext uri="{FF2B5EF4-FFF2-40B4-BE49-F238E27FC236}">
                <a16:creationId xmlns:a16="http://schemas.microsoft.com/office/drawing/2014/main" id="{8D437333-8FF6-EA9B-B5EB-301DBFA70D8D}"/>
              </a:ext>
            </a:extLst>
          </p:cNvPr>
          <p:cNvSpPr>
            <a:spLocks noGrp="1"/>
          </p:cNvSpPr>
          <p:nvPr>
            <p:ph idx="1"/>
          </p:nvPr>
        </p:nvSpPr>
        <p:spPr>
          <a:xfrm>
            <a:off x="6420163" y="1412875"/>
            <a:ext cx="5039999"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pPr marL="0" indent="0">
              <a:buNone/>
            </a:pPr>
            <a:r>
              <a:rPr lang="de-CH" sz="1600" dirty="0"/>
              <a:t>Gegeben: Abstand </a:t>
            </a:r>
            <a:r>
              <a:rPr lang="de-CH" sz="1600" i="1" dirty="0"/>
              <a:t>d,</a:t>
            </a:r>
            <a:r>
              <a:rPr lang="de-CH" sz="1600" dirty="0"/>
              <a:t> Fläche </a:t>
            </a:r>
            <a:r>
              <a:rPr lang="de-CH" sz="1600" i="1" dirty="0"/>
              <a:t>A, </a:t>
            </a:r>
            <a:r>
              <a:rPr lang="de-CH" sz="1600" dirty="0"/>
              <a:t>Spannung </a:t>
            </a:r>
            <a:r>
              <a:rPr lang="de-CH" sz="1600" i="1" dirty="0"/>
              <a:t>U:</a:t>
            </a:r>
          </a:p>
          <a:p>
            <a:r>
              <a:rPr lang="de-CH" sz="1600" dirty="0"/>
              <a:t>Berechnet die D- und E-Felder und die Polarisation in beiden Dielektrika</a:t>
            </a:r>
          </a:p>
        </p:txBody>
      </p:sp>
      <p:sp>
        <p:nvSpPr>
          <p:cNvPr id="4" name="Date Placeholder 3">
            <a:extLst>
              <a:ext uri="{FF2B5EF4-FFF2-40B4-BE49-F238E27FC236}">
                <a16:creationId xmlns:a16="http://schemas.microsoft.com/office/drawing/2014/main" id="{51206256-AC68-1797-8954-CFBE2D36A9AD}"/>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E4F694CD-26C7-A62D-7EEC-8947DCFEC4FB}"/>
              </a:ext>
            </a:extLst>
          </p:cNvPr>
          <p:cNvSpPr>
            <a:spLocks noGrp="1"/>
          </p:cNvSpPr>
          <p:nvPr>
            <p:ph type="sldNum" sz="quarter" idx="12"/>
          </p:nvPr>
        </p:nvSpPr>
        <p:spPr/>
        <p:txBody>
          <a:bodyPr/>
          <a:lstStyle/>
          <a:p>
            <a:fld id="{5ACA52AF-F19D-405C-AD5F-7D94B96A5CC3}" type="slidenum">
              <a:rPr lang="de-CH" noProof="0" smtClean="0"/>
              <a:t>8</a:t>
            </a:fld>
            <a:endParaRPr lang="de-CH" noProof="0" dirty="0"/>
          </a:p>
        </p:txBody>
      </p:sp>
      <p:pic>
        <p:nvPicPr>
          <p:cNvPr id="10" name="Picture Placeholder 9">
            <a:extLst>
              <a:ext uri="{FF2B5EF4-FFF2-40B4-BE49-F238E27FC236}">
                <a16:creationId xmlns:a16="http://schemas.microsoft.com/office/drawing/2014/main" id="{D838DD52-C81D-8434-E125-C85C3917E90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7399" b="5724"/>
          <a:stretch>
            <a:fillRect/>
          </a:stretch>
        </p:blipFill>
        <p:spPr>
          <a:xfrm>
            <a:off x="731837" y="1160351"/>
            <a:ext cx="5040000" cy="5257848"/>
          </a:xfrm>
          <a:prstGeom prst="rect">
            <a:avLst/>
          </a:prstGeom>
        </p:spPr>
      </p:pic>
    </p:spTree>
    <p:extLst>
      <p:ext uri="{BB962C8B-B14F-4D97-AF65-F5344CB8AC3E}">
        <p14:creationId xmlns:p14="http://schemas.microsoft.com/office/powerpoint/2010/main" val="143670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DA694-5839-4F91-AC13-778FE6AEB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9D8DC-F633-67DE-033F-1F1768CF0273}"/>
              </a:ext>
            </a:extLst>
          </p:cNvPr>
          <p:cNvSpPr>
            <a:spLocks noGrp="1"/>
          </p:cNvSpPr>
          <p:nvPr>
            <p:ph type="title"/>
          </p:nvPr>
        </p:nvSpPr>
        <p:spPr/>
        <p:txBody>
          <a:bodyPr/>
          <a:lstStyle/>
          <a:p>
            <a:r>
              <a:rPr lang="de-CH" noProof="0" dirty="0"/>
              <a:t>Beispiel 1b – Die dielektrische Polarisation berechnen – Lösung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11DC5D-0669-C255-0F60-EBAC33F86656}"/>
                  </a:ext>
                </a:extLst>
              </p:cNvPr>
              <p:cNvSpPr>
                <a:spLocks noGrp="1"/>
              </p:cNvSpPr>
              <p:nvPr>
                <p:ph idx="1"/>
              </p:nvPr>
            </p:nvSpPr>
            <p:spPr>
              <a:xfrm>
                <a:off x="6420163" y="1412875"/>
                <a:ext cx="5039999" cy="4860000"/>
              </a:xfrm>
            </p:spPr>
            <p:txBody>
              <a:bodyPr/>
              <a:lstStyle/>
              <a:p>
                <a:pPr marL="0" indent="0">
                  <a:buNone/>
                </a:pPr>
                <a:r>
                  <a:rPr lang="de-CH" b="1" u="sng" noProof="0" dirty="0"/>
                  <a:t>Schlüsselkonzepte</a:t>
                </a:r>
              </a:p>
              <a:p>
                <a:pPr marL="0" indent="0">
                  <a:buNone/>
                </a:pPr>
                <a:r>
                  <a:rPr lang="de-CH" dirty="0"/>
                  <a:t>Die dielektrische Polarisation</a:t>
                </a:r>
              </a:p>
              <a:p>
                <a:pPr marL="0" indent="0">
                  <a:buNone/>
                </a:pPr>
                <a:endParaRPr lang="de-CH" noProof="0" dirty="0"/>
              </a:p>
              <a:p>
                <a:pPr marL="0" indent="0">
                  <a:buNone/>
                </a:pPr>
                <a:r>
                  <a:rPr lang="de-CH" sz="1600" dirty="0"/>
                  <a:t>Gegeben: Abstand </a:t>
                </a:r>
                <a:r>
                  <a:rPr lang="de-CH" sz="1600" i="1" dirty="0"/>
                  <a:t>d,</a:t>
                </a:r>
                <a:r>
                  <a:rPr lang="de-CH" sz="1600" dirty="0"/>
                  <a:t> Fläche </a:t>
                </a:r>
                <a:r>
                  <a:rPr lang="de-CH" sz="1600" i="1" dirty="0"/>
                  <a:t>A, </a:t>
                </a:r>
                <a:r>
                  <a:rPr lang="de-CH" sz="1600" dirty="0"/>
                  <a:t>Spannung </a:t>
                </a:r>
                <a:r>
                  <a:rPr lang="de-CH" sz="1600" i="1" dirty="0"/>
                  <a:t>U:</a:t>
                </a:r>
              </a:p>
              <a:p>
                <a:r>
                  <a:rPr lang="de-CH" sz="1600" dirty="0"/>
                  <a:t>Berechnet die D- und E-Felder und die Polarisation in beiden Dielektrika</a:t>
                </a:r>
              </a:p>
              <a:p>
                <a:endParaRPr lang="de-CH" sz="1600" dirty="0"/>
              </a:p>
              <a:p>
                <a:pPr marL="0" indent="0">
                  <a:buNone/>
                </a:pPr>
                <a14:m>
                  <m:oMathPara xmlns:m="http://schemas.openxmlformats.org/officeDocument/2006/math">
                    <m:oMathParaPr>
                      <m:jc m:val="centerGroup"/>
                    </m:oMathParaPr>
                    <m:oMath xmlns:m="http://schemas.openxmlformats.org/officeDocument/2006/math">
                      <m:r>
                        <a:rPr lang="de-CH" sz="1600" b="0" i="1" smtClean="0">
                          <a:latin typeface="Cambria Math" panose="02040503050406030204" pitchFamily="18" charset="0"/>
                        </a:rPr>
                        <m:t>𝐸</m:t>
                      </m:r>
                      <m:r>
                        <a:rPr lang="de-CH" sz="1600" b="0" i="1" smtClean="0">
                          <a:latin typeface="Cambria Math" panose="02040503050406030204" pitchFamily="18" charset="0"/>
                        </a:rPr>
                        <m:t>=</m:t>
                      </m:r>
                      <m:r>
                        <a:rPr lang="de-CH" sz="1600" b="0" i="1" smtClean="0">
                          <a:latin typeface="Cambria Math" panose="02040503050406030204" pitchFamily="18" charset="0"/>
                        </a:rPr>
                        <m:t>𝑈</m:t>
                      </m:r>
                      <m:r>
                        <a:rPr lang="de-CH" sz="1600" b="0" i="1" smtClean="0">
                          <a:latin typeface="Cambria Math" panose="02040503050406030204" pitchFamily="18" charset="0"/>
                        </a:rPr>
                        <m:t>/</m:t>
                      </m:r>
                      <m:r>
                        <a:rPr lang="de-CH" sz="1600" b="0" i="1" smtClean="0">
                          <a:latin typeface="Cambria Math" panose="02040503050406030204" pitchFamily="18" charset="0"/>
                        </a:rPr>
                        <m:t>𝑑</m:t>
                      </m:r>
                    </m:oMath>
                  </m:oMathPara>
                </a14:m>
                <a:endParaRPr lang="de-CH" sz="1600" b="0" i="1" dirty="0"/>
              </a:p>
              <a:p>
                <a:pPr marL="0" indent="0">
                  <a:buNone/>
                </a:pPr>
                <a14:m>
                  <m:oMathPara xmlns:m="http://schemas.openxmlformats.org/officeDocument/2006/math">
                    <m:oMathParaPr>
                      <m:jc m:val="centerGroup"/>
                    </m:oMathParaPr>
                    <m:oMath xmlns:m="http://schemas.openxmlformats.org/officeDocument/2006/math">
                      <m:sSub>
                        <m:sSubPr>
                          <m:ctrlPr>
                            <a:rPr lang="de-CH" sz="1600" b="0" i="1" smtClean="0">
                              <a:latin typeface="Cambria Math" panose="02040503050406030204" pitchFamily="18" charset="0"/>
                            </a:rPr>
                          </m:ctrlPr>
                        </m:sSubPr>
                        <m:e>
                          <m:r>
                            <a:rPr lang="de-CH" sz="1600" b="0" i="1" smtClean="0">
                              <a:latin typeface="Cambria Math" panose="02040503050406030204" pitchFamily="18" charset="0"/>
                            </a:rPr>
                            <m:t>𝐷</m:t>
                          </m:r>
                        </m:e>
                        <m:sub>
                          <m:r>
                            <a:rPr lang="de-CH" sz="1600" b="0" i="1" smtClean="0">
                              <a:latin typeface="Cambria Math" panose="02040503050406030204" pitchFamily="18" charset="0"/>
                            </a:rPr>
                            <m:t>1</m:t>
                          </m:r>
                        </m:sub>
                      </m:sSub>
                      <m:r>
                        <a:rPr lang="de-CH" sz="1600" b="0" i="1" smtClean="0">
                          <a:latin typeface="Cambria Math" panose="02040503050406030204" pitchFamily="18" charset="0"/>
                        </a:rPr>
                        <m:t>=</m:t>
                      </m:r>
                      <m:sSub>
                        <m:sSubPr>
                          <m:ctrlPr>
                            <a:rPr lang="de-CH" sz="1600" i="1" dirty="0" smtClean="0">
                              <a:latin typeface="Cambria Math" panose="02040503050406030204" pitchFamily="18" charset="0"/>
                              <a:ea typeface="Cambria Math" panose="02040503050406030204" pitchFamily="18" charset="0"/>
                            </a:rPr>
                          </m:ctrlPr>
                        </m:sSubPr>
                        <m:e>
                          <m:r>
                            <a:rPr lang="de-CH" sz="1600" i="1" dirty="0" smtClean="0">
                              <a:latin typeface="Cambria Math" panose="02040503050406030204" pitchFamily="18" charset="0"/>
                              <a:ea typeface="Cambria Math" panose="02040503050406030204" pitchFamily="18" charset="0"/>
                            </a:rPr>
                            <m:t>𝜀</m:t>
                          </m:r>
                        </m:e>
                        <m:sub>
                          <m:r>
                            <a:rPr lang="de-CH" sz="1600" b="0" i="1" dirty="0" smtClean="0">
                              <a:latin typeface="Cambria Math" panose="02040503050406030204" pitchFamily="18" charset="0"/>
                            </a:rPr>
                            <m:t>0</m:t>
                          </m:r>
                        </m:sub>
                      </m:sSub>
                      <m:r>
                        <a:rPr lang="de-CH" sz="1600" b="0" i="1" smtClean="0">
                          <a:latin typeface="Cambria Math" panose="02040503050406030204" pitchFamily="18" charset="0"/>
                        </a:rPr>
                        <m:t>𝐸</m:t>
                      </m:r>
                      <m:r>
                        <a:rPr lang="de-CH" sz="1600" b="0" i="1"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i="1" dirty="0">
                              <a:latin typeface="Cambria Math" panose="02040503050406030204" pitchFamily="18" charset="0"/>
                            </a:rPr>
                            <m:t>0</m:t>
                          </m:r>
                        </m:sub>
                      </m:sSub>
                      <m:r>
                        <a:rPr lang="de-CH" sz="1600" b="0" i="1" dirty="0" smtClean="0">
                          <a:latin typeface="Cambria Math" panose="02040503050406030204" pitchFamily="18" charset="0"/>
                        </a:rPr>
                        <m:t>𝑈</m:t>
                      </m:r>
                      <m:r>
                        <a:rPr lang="de-CH" sz="1600" b="0" i="1" dirty="0" smtClean="0">
                          <a:latin typeface="Cambria Math" panose="02040503050406030204" pitchFamily="18" charset="0"/>
                        </a:rPr>
                        <m:t>/</m:t>
                      </m:r>
                      <m:r>
                        <a:rPr lang="de-CH" sz="1600" b="0" i="1" dirty="0" smtClean="0">
                          <a:latin typeface="Cambria Math" panose="02040503050406030204" pitchFamily="18" charset="0"/>
                        </a:rPr>
                        <m:t>𝑑</m:t>
                      </m:r>
                    </m:oMath>
                  </m:oMathPara>
                </a14:m>
                <a:endParaRPr lang="de-CH" sz="1600" b="0" i="1" dirty="0"/>
              </a:p>
              <a:p>
                <a:pPr marL="0" indent="0">
                  <a:buNone/>
                </a:pPr>
                <a14:m>
                  <m:oMathPara xmlns:m="http://schemas.openxmlformats.org/officeDocument/2006/math">
                    <m:oMathParaPr>
                      <m:jc m:val="centerGroup"/>
                    </m:oMathParaPr>
                    <m:oMath xmlns:m="http://schemas.openxmlformats.org/officeDocument/2006/math">
                      <m:sSub>
                        <m:sSubPr>
                          <m:ctrlPr>
                            <a:rPr lang="de-CH" sz="1600" i="1">
                              <a:latin typeface="Cambria Math" panose="02040503050406030204" pitchFamily="18" charset="0"/>
                            </a:rPr>
                          </m:ctrlPr>
                        </m:sSubPr>
                        <m:e>
                          <m:r>
                            <a:rPr lang="de-CH" sz="1600" i="1">
                              <a:latin typeface="Cambria Math" panose="02040503050406030204" pitchFamily="18" charset="0"/>
                            </a:rPr>
                            <m:t>𝐷</m:t>
                          </m:r>
                        </m:e>
                        <m:sub>
                          <m:r>
                            <a:rPr lang="de-CH" sz="1600" b="0" i="1" smtClean="0">
                              <a:latin typeface="Cambria Math" panose="02040503050406030204" pitchFamily="18" charset="0"/>
                            </a:rPr>
                            <m:t>2</m:t>
                          </m:r>
                        </m:sub>
                      </m:sSub>
                      <m:r>
                        <a:rPr lang="de-CH" sz="1600" i="1">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i="1" dirty="0">
                              <a:latin typeface="Cambria Math" panose="02040503050406030204" pitchFamily="18" charset="0"/>
                            </a:rPr>
                            <m:t>0</m:t>
                          </m:r>
                        </m:sub>
                      </m:sSub>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r</m:t>
                          </m:r>
                        </m:sub>
                      </m:sSub>
                      <m:r>
                        <a:rPr lang="de-CH" sz="1600" i="1">
                          <a:latin typeface="Cambria Math" panose="02040503050406030204" pitchFamily="18" charset="0"/>
                        </a:rPr>
                        <m:t>𝐸</m:t>
                      </m:r>
                      <m:r>
                        <a:rPr lang="de-CH" sz="1600" b="0" i="1"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i="1" dirty="0">
                              <a:latin typeface="Cambria Math" panose="02040503050406030204" pitchFamily="18" charset="0"/>
                            </a:rPr>
                            <m:t>0</m:t>
                          </m:r>
                        </m:sub>
                      </m:sSub>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r</m:t>
                          </m:r>
                        </m:sub>
                      </m:sSub>
                      <m:r>
                        <a:rPr lang="de-CH" sz="1600" b="0" i="1" dirty="0" smtClean="0">
                          <a:latin typeface="Cambria Math" panose="02040503050406030204" pitchFamily="18" charset="0"/>
                        </a:rPr>
                        <m:t>𝑈</m:t>
                      </m:r>
                      <m:r>
                        <a:rPr lang="de-CH" sz="1600" b="0" i="1" dirty="0" smtClean="0">
                          <a:latin typeface="Cambria Math" panose="02040503050406030204" pitchFamily="18" charset="0"/>
                        </a:rPr>
                        <m:t>/</m:t>
                      </m:r>
                      <m:r>
                        <a:rPr lang="de-CH" sz="1600" b="0" i="1" dirty="0" smtClean="0">
                          <a:latin typeface="Cambria Math" panose="02040503050406030204" pitchFamily="18" charset="0"/>
                        </a:rPr>
                        <m:t>𝑑</m:t>
                      </m:r>
                    </m:oMath>
                  </m:oMathPara>
                </a14:m>
                <a:endParaRPr lang="de-CH" sz="1600" i="1" dirty="0"/>
              </a:p>
              <a:p>
                <a:pPr marL="0" indent="0">
                  <a:buNone/>
                </a:pPr>
                <a14:m>
                  <m:oMathPara xmlns:m="http://schemas.openxmlformats.org/officeDocument/2006/math">
                    <m:oMathParaPr>
                      <m:jc m:val="centerGroup"/>
                    </m:oMathParaPr>
                    <m:oMath xmlns:m="http://schemas.openxmlformats.org/officeDocument/2006/math">
                      <m:sSub>
                        <m:sSubPr>
                          <m:ctrlPr>
                            <a:rPr lang="de-CH" sz="1600" b="0" i="1" smtClean="0">
                              <a:latin typeface="Cambria Math" panose="02040503050406030204" pitchFamily="18" charset="0"/>
                            </a:rPr>
                          </m:ctrlPr>
                        </m:sSubPr>
                        <m:e>
                          <m:r>
                            <a:rPr lang="de-CH" sz="1600" b="0" i="1" smtClean="0">
                              <a:latin typeface="Cambria Math" panose="02040503050406030204" pitchFamily="18" charset="0"/>
                            </a:rPr>
                            <m:t>𝑃</m:t>
                          </m:r>
                        </m:e>
                        <m:sub>
                          <m:r>
                            <a:rPr lang="de-CH" sz="1600" i="1">
                              <a:latin typeface="Cambria Math" panose="02040503050406030204" pitchFamily="18" charset="0"/>
                            </a:rPr>
                            <m:t>1</m:t>
                          </m:r>
                        </m:sub>
                      </m:sSub>
                      <m:r>
                        <a:rPr lang="de-CH" sz="1600" b="0" i="1" smtClean="0">
                          <a:latin typeface="Cambria Math" panose="02040503050406030204" pitchFamily="18" charset="0"/>
                        </a:rPr>
                        <m:t>=</m:t>
                      </m:r>
                      <m:sSub>
                        <m:sSubPr>
                          <m:ctrlPr>
                            <a:rPr lang="de-CH" sz="1600" i="1">
                              <a:latin typeface="Cambria Math" panose="02040503050406030204" pitchFamily="18" charset="0"/>
                            </a:rPr>
                          </m:ctrlPr>
                        </m:sSubPr>
                        <m:e>
                          <m:r>
                            <a:rPr lang="de-CH" sz="1600" i="1">
                              <a:latin typeface="Cambria Math" panose="02040503050406030204" pitchFamily="18" charset="0"/>
                            </a:rPr>
                            <m:t>𝐷</m:t>
                          </m:r>
                        </m:e>
                        <m:sub>
                          <m:r>
                            <a:rPr lang="de-CH" sz="1600" i="1">
                              <a:latin typeface="Cambria Math" panose="02040503050406030204" pitchFamily="18" charset="0"/>
                            </a:rPr>
                            <m:t>1</m:t>
                          </m:r>
                        </m:sub>
                      </m:sSub>
                      <m:r>
                        <m:rPr>
                          <m:nor/>
                        </m:rPr>
                        <a:rPr lang="en-US" sz="1600" i="0"/>
                        <m:t>−</m:t>
                      </m:r>
                      <m:sSub>
                        <m:sSubPr>
                          <m:ctrlPr>
                            <a:rPr lang="de-CH" sz="1600" b="0" i="1" dirty="0">
                              <a:latin typeface="Cambria Math" panose="02040503050406030204" pitchFamily="18" charset="0"/>
                              <a:ea typeface="Cambria Math" panose="02040503050406030204" pitchFamily="18" charset="0"/>
                            </a:rPr>
                          </m:ctrlPr>
                        </m:sSubPr>
                        <m:e>
                          <m:r>
                            <a:rPr lang="de-CH" sz="1600" b="0" i="1" dirty="0">
                              <a:latin typeface="Cambria Math" panose="02040503050406030204" pitchFamily="18" charset="0"/>
                              <a:ea typeface="Cambria Math" panose="02040503050406030204" pitchFamily="18" charset="0"/>
                            </a:rPr>
                            <m:t>𝜀</m:t>
                          </m:r>
                        </m:e>
                        <m:sub>
                          <m:r>
                            <a:rPr lang="de-CH" sz="1600" b="0" i="1" dirty="0">
                              <a:latin typeface="Cambria Math" panose="02040503050406030204" pitchFamily="18" charset="0"/>
                            </a:rPr>
                            <m:t>0</m:t>
                          </m:r>
                        </m:sub>
                      </m:sSub>
                      <m:r>
                        <a:rPr lang="de-CH" sz="1600" i="1">
                          <a:latin typeface="Cambria Math" panose="02040503050406030204" pitchFamily="18" charset="0"/>
                        </a:rPr>
                        <m:t>𝐸</m:t>
                      </m:r>
                      <m:r>
                        <a:rPr lang="de-CH" sz="1600" b="0" i="1" smtClean="0">
                          <a:latin typeface="Cambria Math" panose="02040503050406030204" pitchFamily="18" charset="0"/>
                        </a:rPr>
                        <m:t> = 0</m:t>
                      </m:r>
                    </m:oMath>
                  </m:oMathPara>
                </a14:m>
                <a:endParaRPr lang="de-CH" sz="1600" i="1" dirty="0"/>
              </a:p>
              <a:p>
                <a:pPr marL="0" indent="0">
                  <a:buNone/>
                </a:pPr>
                <a14:m>
                  <m:oMathPara xmlns:m="http://schemas.openxmlformats.org/officeDocument/2006/math">
                    <m:oMathParaPr>
                      <m:jc m:val="centerGroup"/>
                    </m:oMathParaPr>
                    <m:oMath xmlns:m="http://schemas.openxmlformats.org/officeDocument/2006/math">
                      <m:sSub>
                        <m:sSubPr>
                          <m:ctrlPr>
                            <a:rPr lang="de-CH" sz="1600" i="1">
                              <a:latin typeface="Cambria Math" panose="02040503050406030204" pitchFamily="18" charset="0"/>
                            </a:rPr>
                          </m:ctrlPr>
                        </m:sSubPr>
                        <m:e>
                          <m:r>
                            <a:rPr lang="de-CH" sz="1600" i="1">
                              <a:latin typeface="Cambria Math" panose="02040503050406030204" pitchFamily="18" charset="0"/>
                            </a:rPr>
                            <m:t>𝑃</m:t>
                          </m:r>
                        </m:e>
                        <m:sub>
                          <m:r>
                            <a:rPr lang="de-CH" sz="1600" b="0" i="1" smtClean="0">
                              <a:latin typeface="Cambria Math" panose="02040503050406030204" pitchFamily="18" charset="0"/>
                            </a:rPr>
                            <m:t>2</m:t>
                          </m:r>
                        </m:sub>
                      </m:sSub>
                      <m:r>
                        <a:rPr lang="de-CH" sz="1600" i="1">
                          <a:latin typeface="Cambria Math" panose="02040503050406030204" pitchFamily="18" charset="0"/>
                        </a:rPr>
                        <m:t>=</m:t>
                      </m:r>
                      <m:sSub>
                        <m:sSubPr>
                          <m:ctrlPr>
                            <a:rPr lang="de-CH" sz="1600" i="1">
                              <a:latin typeface="Cambria Math" panose="02040503050406030204" pitchFamily="18" charset="0"/>
                            </a:rPr>
                          </m:ctrlPr>
                        </m:sSubPr>
                        <m:e>
                          <m:r>
                            <a:rPr lang="de-CH" sz="1600" i="1">
                              <a:latin typeface="Cambria Math" panose="02040503050406030204" pitchFamily="18" charset="0"/>
                            </a:rPr>
                            <m:t>𝐷</m:t>
                          </m:r>
                        </m:e>
                        <m:sub>
                          <m:r>
                            <a:rPr lang="de-CH" sz="1600" b="0" i="1" smtClean="0">
                              <a:latin typeface="Cambria Math" panose="02040503050406030204" pitchFamily="18" charset="0"/>
                            </a:rPr>
                            <m:t>2</m:t>
                          </m:r>
                        </m:sub>
                      </m:sSub>
                      <m:r>
                        <m:rPr>
                          <m:nor/>
                        </m:rPr>
                        <a:rPr lang="en-US" sz="1600" i="0"/>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i="1" dirty="0">
                              <a:latin typeface="Cambria Math" panose="02040503050406030204" pitchFamily="18" charset="0"/>
                            </a:rPr>
                            <m:t>0</m:t>
                          </m:r>
                        </m:sub>
                      </m:sSub>
                      <m:r>
                        <a:rPr lang="de-CH" sz="1600" i="1">
                          <a:latin typeface="Cambria Math" panose="02040503050406030204" pitchFamily="18" charset="0"/>
                        </a:rPr>
                        <m:t>𝐸</m:t>
                      </m:r>
                      <m:r>
                        <a:rPr lang="de-CH" sz="1600" i="1">
                          <a:latin typeface="Cambria Math" panose="02040503050406030204" pitchFamily="18" charset="0"/>
                        </a:rPr>
                        <m:t> =</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i="1" dirty="0">
                              <a:latin typeface="Cambria Math" panose="02040503050406030204" pitchFamily="18" charset="0"/>
                            </a:rPr>
                            <m:t>0</m:t>
                          </m:r>
                        </m:sub>
                      </m:sSub>
                      <m:r>
                        <a:rPr lang="de-CH" sz="1600" b="0" i="1"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r</m:t>
                          </m:r>
                        </m:sub>
                      </m:sSub>
                      <m:r>
                        <m:rPr>
                          <m:nor/>
                        </m:rPr>
                        <a:rPr lang="en-US" sz="1600" i="0"/>
                        <m:t>−</m:t>
                      </m:r>
                      <m:r>
                        <m:rPr>
                          <m:nor/>
                        </m:rPr>
                        <a:rPr lang="de-CH" sz="1600" b="0" i="0" smtClean="0"/>
                        <m:t>1</m:t>
                      </m:r>
                      <m:r>
                        <a:rPr lang="de-CH" sz="1600" b="0" i="1" smtClean="0">
                          <a:latin typeface="Cambria Math" panose="02040503050406030204" pitchFamily="18" charset="0"/>
                        </a:rPr>
                        <m:t>) </m:t>
                      </m:r>
                      <m:r>
                        <a:rPr lang="de-CH" sz="1600" i="1" dirty="0">
                          <a:latin typeface="Cambria Math" panose="02040503050406030204" pitchFamily="18" charset="0"/>
                        </a:rPr>
                        <m:t>𝑈</m:t>
                      </m:r>
                      <m:r>
                        <a:rPr lang="de-CH" sz="1600" i="1" dirty="0">
                          <a:latin typeface="Cambria Math" panose="02040503050406030204" pitchFamily="18" charset="0"/>
                        </a:rPr>
                        <m:t>/</m:t>
                      </m:r>
                      <m:r>
                        <a:rPr lang="de-CH" sz="1600" i="1" dirty="0">
                          <a:latin typeface="Cambria Math" panose="02040503050406030204" pitchFamily="18" charset="0"/>
                        </a:rPr>
                        <m:t>𝑑</m:t>
                      </m:r>
                    </m:oMath>
                  </m:oMathPara>
                </a14:m>
                <a:endParaRPr lang="de-CH" sz="1600" i="1" dirty="0"/>
              </a:p>
              <a:p>
                <a:pPr marL="0" indent="0">
                  <a:buNone/>
                </a:pPr>
                <a:endParaRPr lang="de-CH" sz="1600" i="1" dirty="0"/>
              </a:p>
              <a:p>
                <a:pPr marL="0" indent="0">
                  <a:buNone/>
                </a:pPr>
                <a:endParaRPr lang="de-CH" sz="1600" b="0" i="1" dirty="0"/>
              </a:p>
              <a:p>
                <a:pPr marL="0" indent="0">
                  <a:buNone/>
                </a:pPr>
                <a:endParaRPr lang="de-CH" sz="1600" i="1" dirty="0"/>
              </a:p>
            </p:txBody>
          </p:sp>
        </mc:Choice>
        <mc:Fallback xmlns="">
          <p:sp>
            <p:nvSpPr>
              <p:cNvPr id="3" name="Content Placeholder 2">
                <a:extLst>
                  <a:ext uri="{FF2B5EF4-FFF2-40B4-BE49-F238E27FC236}">
                    <a16:creationId xmlns:a16="http://schemas.microsoft.com/office/drawing/2014/main" id="{1D11DC5D-0669-C255-0F60-EBAC33F86656}"/>
                  </a:ext>
                </a:extLst>
              </p:cNvPr>
              <p:cNvSpPr>
                <a:spLocks noGrp="1" noRot="1" noChangeAspect="1" noMove="1" noResize="1" noEditPoints="1" noAdjustHandles="1" noChangeArrowheads="1" noChangeShapeType="1" noTextEdit="1"/>
              </p:cNvSpPr>
              <p:nvPr>
                <p:ph idx="1"/>
              </p:nvPr>
            </p:nvSpPr>
            <p:spPr>
              <a:xfrm>
                <a:off x="6420163" y="1412875"/>
                <a:ext cx="5039999" cy="4860000"/>
              </a:xfrm>
              <a:blipFill>
                <a:blip r:embed="rId3"/>
                <a:stretch>
                  <a:fillRect l="-2781" t="-1631"/>
                </a:stretch>
              </a:blipFill>
            </p:spPr>
            <p:txBody>
              <a:bodyPr/>
              <a:lstStyle/>
              <a:p>
                <a:r>
                  <a:rPr lang="de-CH">
                    <a:noFill/>
                  </a:rPr>
                  <a:t> </a:t>
                </a:r>
              </a:p>
            </p:txBody>
          </p:sp>
        </mc:Fallback>
      </mc:AlternateContent>
      <p:sp>
        <p:nvSpPr>
          <p:cNvPr id="4" name="Date Placeholder 3">
            <a:extLst>
              <a:ext uri="{FF2B5EF4-FFF2-40B4-BE49-F238E27FC236}">
                <a16:creationId xmlns:a16="http://schemas.microsoft.com/office/drawing/2014/main" id="{B7AF3B61-78AA-847B-FD4D-7D5C303408EE}"/>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BF69D4E2-988E-84BB-911B-79B03CE413C6}"/>
              </a:ext>
            </a:extLst>
          </p:cNvPr>
          <p:cNvSpPr>
            <a:spLocks noGrp="1"/>
          </p:cNvSpPr>
          <p:nvPr>
            <p:ph type="sldNum" sz="quarter" idx="12"/>
          </p:nvPr>
        </p:nvSpPr>
        <p:spPr/>
        <p:txBody>
          <a:bodyPr/>
          <a:lstStyle/>
          <a:p>
            <a:fld id="{5ACA52AF-F19D-405C-AD5F-7D94B96A5CC3}" type="slidenum">
              <a:rPr lang="de-CH" noProof="0" smtClean="0"/>
              <a:t>9</a:t>
            </a:fld>
            <a:endParaRPr lang="de-CH" noProof="0" dirty="0"/>
          </a:p>
        </p:txBody>
      </p:sp>
      <p:pic>
        <p:nvPicPr>
          <p:cNvPr id="10" name="Picture Placeholder 9">
            <a:extLst>
              <a:ext uri="{FF2B5EF4-FFF2-40B4-BE49-F238E27FC236}">
                <a16:creationId xmlns:a16="http://schemas.microsoft.com/office/drawing/2014/main" id="{F0064E69-2075-AE21-BE3E-DB54D673B07D}"/>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7399" b="5724"/>
          <a:stretch>
            <a:fillRect/>
          </a:stretch>
        </p:blipFill>
        <p:spPr>
          <a:xfrm>
            <a:off x="731837" y="1160351"/>
            <a:ext cx="5040000" cy="5257848"/>
          </a:xfrm>
          <a:prstGeom prst="rect">
            <a:avLst/>
          </a:prstGeom>
        </p:spPr>
      </p:pic>
    </p:spTree>
    <p:extLst>
      <p:ext uri="{BB962C8B-B14F-4D97-AF65-F5344CB8AC3E}">
        <p14:creationId xmlns:p14="http://schemas.microsoft.com/office/powerpoint/2010/main" val="241043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D92B9-8FB5-FC99-DF7C-A16013C200AA}"/>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61CF3B17-0C83-2F72-DED0-45915472BAB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5" r="3247"/>
          <a:stretch>
            <a:fillRect/>
          </a:stretch>
        </p:blipFill>
        <p:spPr>
          <a:xfrm>
            <a:off x="731837" y="3196300"/>
            <a:ext cx="7934325" cy="3076575"/>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B85B532-E1A9-7CC3-058C-6B5154F4AE5B}"/>
                  </a:ext>
                </a:extLst>
              </p:cNvPr>
              <p:cNvSpPr txBox="1"/>
              <p:nvPr/>
            </p:nvSpPr>
            <p:spPr>
              <a:xfrm>
                <a:off x="3048000" y="3244334"/>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1</m:t>
                          </m:r>
                        </m:sub>
                      </m:sSub>
                      <m:r>
                        <a:rPr lang="de-CH" sz="1800" i="1">
                          <a:latin typeface="Cambria Math" panose="02040503050406030204" pitchFamily="18" charset="0"/>
                        </a:rPr>
                        <m:t>&gt;</m:t>
                      </m:r>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2</m:t>
                          </m:r>
                        </m:sub>
                      </m:sSub>
                    </m:oMath>
                  </m:oMathPara>
                </a14:m>
                <a:endParaRPr lang="de-CH" dirty="0"/>
              </a:p>
            </p:txBody>
          </p:sp>
        </mc:Choice>
        <mc:Fallback xmlns="">
          <p:sp>
            <p:nvSpPr>
              <p:cNvPr id="14" name="TextBox 13">
                <a:extLst>
                  <a:ext uri="{FF2B5EF4-FFF2-40B4-BE49-F238E27FC236}">
                    <a16:creationId xmlns:a16="http://schemas.microsoft.com/office/drawing/2014/main" id="{FB85B532-E1A9-7CC3-058C-6B5154F4AE5B}"/>
                  </a:ext>
                </a:extLst>
              </p:cNvPr>
              <p:cNvSpPr txBox="1">
                <a:spLocks noRot="1" noChangeAspect="1" noMove="1" noResize="1" noEditPoints="1" noAdjustHandles="1" noChangeArrowheads="1" noChangeShapeType="1" noTextEdit="1"/>
              </p:cNvSpPr>
              <p:nvPr/>
            </p:nvSpPr>
            <p:spPr>
              <a:xfrm>
                <a:off x="3048000" y="3244334"/>
                <a:ext cx="6096000" cy="369332"/>
              </a:xfrm>
              <a:prstGeom prst="rect">
                <a:avLst/>
              </a:prstGeom>
              <a:blipFill>
                <a:blip r:embed="rId3"/>
                <a:stretch>
                  <a:fillRect/>
                </a:stretch>
              </a:blipFill>
            </p:spPr>
            <p:txBody>
              <a:bodyPr/>
              <a:lstStyle/>
              <a:p>
                <a:r>
                  <a:rPr lang="de-CH">
                    <a:noFill/>
                  </a:rPr>
                  <a:t> </a:t>
                </a:r>
              </a:p>
            </p:txBody>
          </p:sp>
        </mc:Fallback>
      </mc:AlternateContent>
      <p:pic>
        <p:nvPicPr>
          <p:cNvPr id="16" name="Picture 15">
            <a:extLst>
              <a:ext uri="{FF2B5EF4-FFF2-40B4-BE49-F238E27FC236}">
                <a16:creationId xmlns:a16="http://schemas.microsoft.com/office/drawing/2014/main" id="{F9B0D859-AC7D-4FEF-082B-F30856CE26DE}"/>
              </a:ext>
            </a:extLst>
          </p:cNvPr>
          <p:cNvPicPr>
            <a:picLocks noChangeAspect="1"/>
          </p:cNvPicPr>
          <p:nvPr/>
        </p:nvPicPr>
        <p:blipFill>
          <a:blip r:embed="rId4">
            <a:extLst>
              <a:ext uri="{28A0092B-C50C-407E-A947-70E740481C1C}">
                <a14:useLocalDpi xmlns:a14="http://schemas.microsoft.com/office/drawing/2010/main" val="0"/>
              </a:ext>
            </a:extLst>
          </a:blip>
          <a:srcRect l="24253" t="14024" r="23194" b="11555"/>
          <a:stretch>
            <a:fillRect/>
          </a:stretch>
        </p:blipFill>
        <p:spPr>
          <a:xfrm rot="3223200">
            <a:off x="6616361" y="1574655"/>
            <a:ext cx="1419225" cy="2009775"/>
          </a:xfrm>
          <a:prstGeom prst="rect">
            <a:avLst/>
          </a:prstGeom>
        </p:spPr>
      </p:pic>
      <p:sp>
        <p:nvSpPr>
          <p:cNvPr id="2" name="Title 1">
            <a:extLst>
              <a:ext uri="{FF2B5EF4-FFF2-40B4-BE49-F238E27FC236}">
                <a16:creationId xmlns:a16="http://schemas.microsoft.com/office/drawing/2014/main" id="{E489D19B-7630-0A6C-D42A-47BE13CE9A87}"/>
              </a:ext>
            </a:extLst>
          </p:cNvPr>
          <p:cNvSpPr>
            <a:spLocks noGrp="1"/>
          </p:cNvSpPr>
          <p:nvPr>
            <p:ph type="title"/>
          </p:nvPr>
        </p:nvSpPr>
        <p:spPr/>
        <p:txBody>
          <a:bodyPr/>
          <a:lstStyle/>
          <a:p>
            <a:r>
              <a:rPr lang="de-CH" noProof="0" dirty="0"/>
              <a:t>Beispiel 2 – </a:t>
            </a:r>
            <a:r>
              <a:rPr lang="de-CH" dirty="0"/>
              <a:t>Sprungstellen der Dielektrizitätskonstanten</a:t>
            </a:r>
            <a:endParaRPr lang="de-CH" noProof="0" dirty="0"/>
          </a:p>
        </p:txBody>
      </p:sp>
      <p:sp>
        <p:nvSpPr>
          <p:cNvPr id="4" name="Date Placeholder 3">
            <a:extLst>
              <a:ext uri="{FF2B5EF4-FFF2-40B4-BE49-F238E27FC236}">
                <a16:creationId xmlns:a16="http://schemas.microsoft.com/office/drawing/2014/main" id="{587EF446-52C5-49ED-08A0-2608C78A4FC4}"/>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2A49EE7C-CC5D-330D-4200-DDFA83B7B415}"/>
              </a:ext>
            </a:extLst>
          </p:cNvPr>
          <p:cNvSpPr>
            <a:spLocks noGrp="1"/>
          </p:cNvSpPr>
          <p:nvPr>
            <p:ph type="sldNum" sz="quarter" idx="12"/>
          </p:nvPr>
        </p:nvSpPr>
        <p:spPr/>
        <p:txBody>
          <a:bodyPr/>
          <a:lstStyle/>
          <a:p>
            <a:fld id="{5ACA52AF-F19D-405C-AD5F-7D94B96A5CC3}" type="slidenum">
              <a:rPr lang="de-CH" noProof="0" smtClean="0"/>
              <a:t>10</a:t>
            </a:fld>
            <a:endParaRPr lang="de-CH" noProof="0" dirty="0"/>
          </a:p>
        </p:txBody>
      </p:sp>
      <p:sp>
        <p:nvSpPr>
          <p:cNvPr id="9" name="Content Placeholder 2">
            <a:extLst>
              <a:ext uri="{FF2B5EF4-FFF2-40B4-BE49-F238E27FC236}">
                <a16:creationId xmlns:a16="http://schemas.microsoft.com/office/drawing/2014/main" id="{35B0CB2B-8717-6B58-EBF2-1B7910051F27}"/>
              </a:ext>
            </a:extLst>
          </p:cNvPr>
          <p:cNvSpPr txBox="1">
            <a:spLocks/>
          </p:cNvSpPr>
          <p:nvPr/>
        </p:nvSpPr>
        <p:spPr>
          <a:xfrm>
            <a:off x="1054100" y="1412875"/>
            <a:ext cx="5296458"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dirty="0"/>
              <a:t>An zwei unterschiedliche Plattenkondensatoren wird dieselbe Spannung angelegt. Zeichnet qualitativ:</a:t>
            </a:r>
          </a:p>
          <a:p>
            <a:r>
              <a:rPr lang="de-CH" dirty="0"/>
              <a:t>Die Ladungsdichten auf den Platten und das D-Feld in den Dielektrika</a:t>
            </a:r>
          </a:p>
          <a:p>
            <a:r>
              <a:rPr lang="de-CH" dirty="0"/>
              <a:t>Die E-Felder in den Dielektrika</a:t>
            </a:r>
          </a:p>
        </p:txBody>
      </p:sp>
      <p:sp>
        <p:nvSpPr>
          <p:cNvPr id="12" name="Content Placeholder 2">
            <a:extLst>
              <a:ext uri="{FF2B5EF4-FFF2-40B4-BE49-F238E27FC236}">
                <a16:creationId xmlns:a16="http://schemas.microsoft.com/office/drawing/2014/main" id="{4ED66402-9E3F-DC25-B4C4-C53902CC2F23}"/>
              </a:ext>
            </a:extLst>
          </p:cNvPr>
          <p:cNvSpPr txBox="1">
            <a:spLocks/>
          </p:cNvSpPr>
          <p:nvPr/>
        </p:nvSpPr>
        <p:spPr>
          <a:xfrm>
            <a:off x="8651450" y="1412875"/>
            <a:ext cx="2808712" cy="11303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u="sng"/>
              <a:t>Schlüsselkonzepte</a:t>
            </a:r>
          </a:p>
          <a:p>
            <a:pPr marL="0" indent="0">
              <a:buFont typeface="Arial" panose="020B0604020202020204" pitchFamily="34" charset="0"/>
              <a:buNone/>
            </a:pPr>
            <a:r>
              <a:rPr lang="de-CH"/>
              <a:t>Sprungstellen der Dielektrizitätskonstanten</a:t>
            </a:r>
          </a:p>
          <a:p>
            <a:pPr marL="0" indent="0">
              <a:buFont typeface="Arial" panose="020B0604020202020204" pitchFamily="34" charset="0"/>
              <a:buNone/>
            </a:pPr>
            <a:endParaRPr lang="de-CH"/>
          </a:p>
          <a:p>
            <a:pPr marL="0" indent="0">
              <a:buFont typeface="Arial" panose="020B0604020202020204" pitchFamily="34" charset="0"/>
              <a:buNone/>
            </a:pPr>
            <a:endParaRPr lang="de-CH" dirty="0"/>
          </a:p>
        </p:txBody>
      </p:sp>
    </p:spTree>
    <p:extLst>
      <p:ext uri="{BB962C8B-B14F-4D97-AF65-F5344CB8AC3E}">
        <p14:creationId xmlns:p14="http://schemas.microsoft.com/office/powerpoint/2010/main" val="1171713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869B4-4662-2D51-63F7-673C0CAA6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72D39-BC46-C4BD-0B6B-B41196D7115B}"/>
              </a:ext>
            </a:extLst>
          </p:cNvPr>
          <p:cNvSpPr>
            <a:spLocks noGrp="1"/>
          </p:cNvSpPr>
          <p:nvPr>
            <p:ph type="title"/>
          </p:nvPr>
        </p:nvSpPr>
        <p:spPr/>
        <p:txBody>
          <a:bodyPr/>
          <a:lstStyle/>
          <a:p>
            <a:r>
              <a:rPr lang="de-CH" noProof="0" dirty="0"/>
              <a:t>Beispiel 2 – </a:t>
            </a:r>
            <a:r>
              <a:rPr lang="de-CH" dirty="0"/>
              <a:t>Sprungstellen der Dielektrizitätskonstanten – Lösung 1</a:t>
            </a:r>
            <a:endParaRPr lang="de-CH" noProof="0" dirty="0"/>
          </a:p>
        </p:txBody>
      </p:sp>
      <p:sp>
        <p:nvSpPr>
          <p:cNvPr id="3" name="Content Placeholder 2">
            <a:extLst>
              <a:ext uri="{FF2B5EF4-FFF2-40B4-BE49-F238E27FC236}">
                <a16:creationId xmlns:a16="http://schemas.microsoft.com/office/drawing/2014/main" id="{13C4E3AA-3054-3FBC-90C0-1C312B6988D2}"/>
              </a:ext>
            </a:extLst>
          </p:cNvPr>
          <p:cNvSpPr>
            <a:spLocks noGrp="1"/>
          </p:cNvSpPr>
          <p:nvPr>
            <p:ph idx="1"/>
          </p:nvPr>
        </p:nvSpPr>
        <p:spPr>
          <a:xfrm>
            <a:off x="8651450" y="1412875"/>
            <a:ext cx="2808712" cy="1130300"/>
          </a:xfrm>
        </p:spPr>
        <p:txBody>
          <a:bodyPr/>
          <a:lstStyle/>
          <a:p>
            <a:pPr marL="0" indent="0">
              <a:buNone/>
            </a:pPr>
            <a:r>
              <a:rPr lang="de-CH" b="1" u="sng" noProof="0" dirty="0"/>
              <a:t>Schlüsselkonzepte</a:t>
            </a:r>
          </a:p>
          <a:p>
            <a:pPr marL="0" indent="0">
              <a:buNone/>
            </a:pPr>
            <a:r>
              <a:rPr lang="de-CH" dirty="0"/>
              <a:t>Sprungstellen der Dielektrizitätskonstanten</a:t>
            </a:r>
          </a:p>
          <a:p>
            <a:pPr marL="0" indent="0">
              <a:buNone/>
            </a:pPr>
            <a:endParaRPr lang="de-CH" noProof="0" dirty="0"/>
          </a:p>
          <a:p>
            <a:pPr marL="0" indent="0">
              <a:buNone/>
            </a:pPr>
            <a:endParaRPr lang="de-CH" noProof="0" dirty="0"/>
          </a:p>
        </p:txBody>
      </p:sp>
      <p:sp>
        <p:nvSpPr>
          <p:cNvPr id="4" name="Date Placeholder 3">
            <a:extLst>
              <a:ext uri="{FF2B5EF4-FFF2-40B4-BE49-F238E27FC236}">
                <a16:creationId xmlns:a16="http://schemas.microsoft.com/office/drawing/2014/main" id="{8282ACC8-A2DF-DA71-8A8F-0BF3371F8AFB}"/>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28F34481-CF8B-8528-EF43-E2753FEB84C9}"/>
              </a:ext>
            </a:extLst>
          </p:cNvPr>
          <p:cNvSpPr>
            <a:spLocks noGrp="1"/>
          </p:cNvSpPr>
          <p:nvPr>
            <p:ph type="sldNum" sz="quarter" idx="12"/>
          </p:nvPr>
        </p:nvSpPr>
        <p:spPr/>
        <p:txBody>
          <a:bodyPr/>
          <a:lstStyle/>
          <a:p>
            <a:fld id="{5ACA52AF-F19D-405C-AD5F-7D94B96A5CC3}" type="slidenum">
              <a:rPr lang="de-CH" noProof="0" smtClean="0"/>
              <a:t>11</a:t>
            </a:fld>
            <a:endParaRPr lang="de-CH" noProof="0" dirty="0"/>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A867D975-C2FD-3D5B-7484-9728ABC8DA6C}"/>
                  </a:ext>
                </a:extLst>
              </p:cNvPr>
              <p:cNvSpPr txBox="1">
                <a:spLocks/>
              </p:cNvSpPr>
              <p:nvPr/>
            </p:nvSpPr>
            <p:spPr>
              <a:xfrm>
                <a:off x="731837" y="1387523"/>
                <a:ext cx="7509455" cy="2411702"/>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Serielle Dielektrika</a:t>
                </a:r>
              </a:p>
              <a:p>
                <a:r>
                  <a:rPr lang="de-CH" sz="1600" b="1" dirty="0"/>
                  <a:t>Die Normalkomponente des D-Feldes bleibt an Sprungstellen gleich </a:t>
                </a:r>
              </a:p>
              <a:p>
                <a:pPr lvl="1"/>
                <a:r>
                  <a:rPr lang="de-CH" sz="1600" dirty="0"/>
                  <a:t>(ausser bei Flächenladungsdichte, dann gilt  </a:t>
                </a:r>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n</m:t>
                        </m:r>
                        <m:r>
                          <a:rPr lang="de-CH" sz="1600" b="0" i="1" smtClean="0">
                            <a:latin typeface="Cambria Math" panose="02040503050406030204" pitchFamily="18" charset="0"/>
                          </a:rPr>
                          <m:t>2</m:t>
                        </m:r>
                      </m:sub>
                    </m:sSub>
                    <m:r>
                      <a:rPr lang="de-CH" sz="1600" b="0" i="1" smtClean="0">
                        <a:latin typeface="Cambria Math" panose="02040503050406030204" pitchFamily="18" charset="0"/>
                      </a:rPr>
                      <m:t>=</m:t>
                    </m:r>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n</m:t>
                        </m:r>
                        <m:r>
                          <a:rPr lang="de-CH" sz="1600" b="0" i="1" smtClean="0">
                            <a:latin typeface="Cambria Math" panose="02040503050406030204" pitchFamily="18" charset="0"/>
                          </a:rPr>
                          <m:t>1</m:t>
                        </m:r>
                      </m:sub>
                    </m:sSub>
                    <m:r>
                      <a:rPr lang="de-CH" sz="1600" b="0" i="1" smtClean="0">
                        <a:latin typeface="Cambria Math" panose="02040503050406030204" pitchFamily="18" charset="0"/>
                      </a:rPr>
                      <m:t>+</m:t>
                    </m:r>
                    <m:r>
                      <a:rPr lang="de-CH" sz="1600" b="0" i="1" smtClean="0">
                        <a:latin typeface="Cambria Math" panose="02040503050406030204" pitchFamily="18" charset="0"/>
                        <a:ea typeface="Cambria Math" panose="02040503050406030204" pitchFamily="18" charset="0"/>
                      </a:rPr>
                      <m:t>𝜎</m:t>
                    </m:r>
                  </m:oMath>
                </a14:m>
                <a:r>
                  <a:rPr lang="de-CH" sz="1600" dirty="0"/>
                  <a:t>)</a:t>
                </a:r>
              </a:p>
              <a:p>
                <a:r>
                  <a:rPr lang="de-CH" sz="1600" dirty="0"/>
                  <a:t>Die Flächenladungsdichte auf den Platten ist homogen</a:t>
                </a:r>
              </a:p>
              <a:p>
                <a:r>
                  <a:rPr lang="de-CH" sz="1600" dirty="0"/>
                  <a:t>Das E-Feld im «dichteren» Medium ist abgeschwächt (</a:t>
                </a:r>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E</m:t>
                        </m:r>
                      </m:e>
                      <m:sub>
                        <m:r>
                          <m:rPr>
                            <m:sty m:val="p"/>
                          </m:rPr>
                          <a:rPr lang="de-CH" sz="1600" i="1">
                            <a:latin typeface="Cambria Math" panose="02040503050406030204" pitchFamily="18" charset="0"/>
                          </a:rPr>
                          <m:t>n</m:t>
                        </m:r>
                        <m:r>
                          <m:rPr>
                            <m:sty m:val="p"/>
                          </m:rPr>
                          <a:rPr lang="de-CH" sz="1600" b="0" i="1" smtClean="0">
                            <a:latin typeface="Cambria Math" panose="02040503050406030204" pitchFamily="18" charset="0"/>
                          </a:rPr>
                          <m:t>i</m:t>
                        </m:r>
                      </m:sub>
                    </m:sSub>
                    <m:r>
                      <a:rPr lang="de-CH" sz="1600" b="0" i="1" smtClean="0">
                        <a:latin typeface="Cambria Math" panose="02040503050406030204" pitchFamily="18" charset="0"/>
                      </a:rPr>
                      <m:t>=</m:t>
                    </m:r>
                  </m:oMath>
                </a14:m>
                <a:r>
                  <a:rPr lang="de-CH" sz="1600" dirty="0"/>
                  <a:t> </a:t>
                </a:r>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D</m:t>
                        </m:r>
                      </m:e>
                      <m:sub>
                        <m:r>
                          <m:rPr>
                            <m:sty m:val="p"/>
                          </m:rPr>
                          <a:rPr lang="de-CH" sz="1600" i="1">
                            <a:latin typeface="Cambria Math" panose="02040503050406030204" pitchFamily="18" charset="0"/>
                          </a:rPr>
                          <m:t>ni</m:t>
                        </m:r>
                      </m:sub>
                    </m:sSub>
                    <m:r>
                      <a:rPr lang="de-CH" sz="1600" b="0" i="1" smtClean="0">
                        <a:latin typeface="Cambria Math" panose="02040503050406030204" pitchFamily="18" charset="0"/>
                      </a:rPr>
                      <m:t>/</m:t>
                    </m:r>
                    <m:sSub>
                      <m:sSubPr>
                        <m:ctrlPr>
                          <a:rPr lang="de-CH" sz="1600" i="1">
                            <a:latin typeface="Cambria Math" panose="02040503050406030204" pitchFamily="18" charset="0"/>
                            <a:ea typeface="Cambria Math" panose="02040503050406030204" pitchFamily="18" charset="0"/>
                          </a:rPr>
                        </m:ctrlPr>
                      </m:sSubPr>
                      <m:e>
                        <m:r>
                          <a:rPr lang="de-CH" sz="1600" i="1">
                            <a:latin typeface="Cambria Math" panose="02040503050406030204" pitchFamily="18" charset="0"/>
                            <a:ea typeface="Cambria Math" panose="02040503050406030204" pitchFamily="18" charset="0"/>
                          </a:rPr>
                          <m:t>𝜀</m:t>
                        </m:r>
                      </m:e>
                      <m:sub>
                        <m:r>
                          <m:rPr>
                            <m:sty m:val="p"/>
                          </m:rPr>
                          <a:rPr lang="de-CH" sz="1600" b="0" i="1" smtClean="0">
                            <a:latin typeface="Cambria Math" panose="02040503050406030204" pitchFamily="18" charset="0"/>
                          </a:rPr>
                          <m:t>i</m:t>
                        </m:r>
                      </m:sub>
                    </m:sSub>
                    <m:r>
                      <a:rPr lang="de-CH" sz="1600" b="0" i="1" smtClean="0">
                        <a:latin typeface="Cambria Math" panose="02040503050406030204" pitchFamily="18" charset="0"/>
                      </a:rPr>
                      <m:t>)</m:t>
                    </m:r>
                  </m:oMath>
                </a14:m>
                <a:endParaRPr lang="de-CH" sz="1600" dirty="0"/>
              </a:p>
              <a:p>
                <a:endParaRPr lang="de-CH" sz="1600" dirty="0"/>
              </a:p>
            </p:txBody>
          </p:sp>
        </mc:Choice>
        <mc:Fallback xmlns="">
          <p:sp>
            <p:nvSpPr>
              <p:cNvPr id="13" name="Content Placeholder 2">
                <a:extLst>
                  <a:ext uri="{FF2B5EF4-FFF2-40B4-BE49-F238E27FC236}">
                    <a16:creationId xmlns:a16="http://schemas.microsoft.com/office/drawing/2014/main" id="{A867D975-C2FD-3D5B-7484-9728ABC8DA6C}"/>
                  </a:ext>
                </a:extLst>
              </p:cNvPr>
              <p:cNvSpPr txBox="1">
                <a:spLocks noRot="1" noChangeAspect="1" noMove="1" noResize="1" noEditPoints="1" noAdjustHandles="1" noChangeArrowheads="1" noChangeShapeType="1" noTextEdit="1"/>
              </p:cNvSpPr>
              <p:nvPr/>
            </p:nvSpPr>
            <p:spPr>
              <a:xfrm>
                <a:off x="731837" y="1387523"/>
                <a:ext cx="7509455" cy="2411702"/>
              </a:xfrm>
              <a:prstGeom prst="rect">
                <a:avLst/>
              </a:prstGeom>
              <a:blipFill>
                <a:blip r:embed="rId4"/>
                <a:stretch>
                  <a:fillRect l="-1623" t="-2785"/>
                </a:stretch>
              </a:blipFill>
            </p:spPr>
            <p:txBody>
              <a:bodyPr/>
              <a:lstStyle/>
              <a:p>
                <a:r>
                  <a:rPr lang="en-US">
                    <a:noFill/>
                  </a:rPr>
                  <a:t> </a:t>
                </a:r>
              </a:p>
            </p:txBody>
          </p:sp>
        </mc:Fallback>
      </mc:AlternateContent>
      <p:pic>
        <p:nvPicPr>
          <p:cNvPr id="9" name="Picture Placeholder 8">
            <a:extLst>
              <a:ext uri="{FF2B5EF4-FFF2-40B4-BE49-F238E27FC236}">
                <a16:creationId xmlns:a16="http://schemas.microsoft.com/office/drawing/2014/main" id="{FB4C10FE-40D2-C20F-F2D4-33F00CC5ECAD}"/>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Lst>
          </a:blip>
          <a:srcRect t="-1664" b="12406"/>
          <a:stretch>
            <a:fillRect/>
          </a:stretch>
        </p:blipFill>
        <p:spPr>
          <a:xfrm>
            <a:off x="731838" y="3621386"/>
            <a:ext cx="5040312" cy="2700534"/>
          </a:xfrm>
          <a:prstGeom prst="rect">
            <a:avLst/>
          </a:prstGeom>
        </p:spPr>
      </p:pic>
      <p:pic>
        <p:nvPicPr>
          <p:cNvPr id="12" name="Picture 11">
            <a:extLst>
              <a:ext uri="{FF2B5EF4-FFF2-40B4-BE49-F238E27FC236}">
                <a16:creationId xmlns:a16="http://schemas.microsoft.com/office/drawing/2014/main" id="{08997A7C-2745-0CBC-8480-35BAC53E35A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518210" y="3799225"/>
            <a:ext cx="4498857" cy="270053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0B5655-0FD9-BB07-CB70-7406939458F0}"/>
                  </a:ext>
                </a:extLst>
              </p:cNvPr>
              <p:cNvSpPr txBox="1"/>
              <p:nvPr/>
            </p:nvSpPr>
            <p:spPr>
              <a:xfrm>
                <a:off x="3048000" y="3244334"/>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1</m:t>
                          </m:r>
                        </m:sub>
                      </m:sSub>
                      <m:r>
                        <a:rPr lang="de-CH" sz="1800" i="1">
                          <a:latin typeface="Cambria Math" panose="02040503050406030204" pitchFamily="18" charset="0"/>
                        </a:rPr>
                        <m:t>&gt;</m:t>
                      </m:r>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2</m:t>
                          </m:r>
                        </m:sub>
                      </m:sSub>
                    </m:oMath>
                  </m:oMathPara>
                </a14:m>
                <a:endParaRPr lang="de-CH" dirty="0"/>
              </a:p>
            </p:txBody>
          </p:sp>
        </mc:Choice>
        <mc:Fallback xmlns="">
          <p:sp>
            <p:nvSpPr>
              <p:cNvPr id="7" name="TextBox 6">
                <a:extLst>
                  <a:ext uri="{FF2B5EF4-FFF2-40B4-BE49-F238E27FC236}">
                    <a16:creationId xmlns:a16="http://schemas.microsoft.com/office/drawing/2014/main" id="{D40B5655-0FD9-BB07-CB70-7406939458F0}"/>
                  </a:ext>
                </a:extLst>
              </p:cNvPr>
              <p:cNvSpPr txBox="1">
                <a:spLocks noRot="1" noChangeAspect="1" noMove="1" noResize="1" noEditPoints="1" noAdjustHandles="1" noChangeArrowheads="1" noChangeShapeType="1" noTextEdit="1"/>
              </p:cNvSpPr>
              <p:nvPr/>
            </p:nvSpPr>
            <p:spPr>
              <a:xfrm>
                <a:off x="3048000" y="3244334"/>
                <a:ext cx="6096000" cy="369332"/>
              </a:xfrm>
              <a:prstGeom prst="rect">
                <a:avLst/>
              </a:prstGeom>
              <a:blipFill>
                <a:blip r:embed="rId7"/>
                <a:stretch>
                  <a:fillRect/>
                </a:stretch>
              </a:blipFill>
            </p:spPr>
            <p:txBody>
              <a:bodyPr/>
              <a:lstStyle/>
              <a:p>
                <a:r>
                  <a:rPr lang="de-CH">
                    <a:noFill/>
                  </a:rPr>
                  <a:t> </a:t>
                </a:r>
              </a:p>
            </p:txBody>
          </p:sp>
        </mc:Fallback>
      </mc:AlternateContent>
    </p:spTree>
    <p:extLst>
      <p:ext uri="{BB962C8B-B14F-4D97-AF65-F5344CB8AC3E}">
        <p14:creationId xmlns:p14="http://schemas.microsoft.com/office/powerpoint/2010/main" val="1264140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C21F2-0F06-E40F-CF6A-85CC38839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9F650-B664-057A-2745-3AB66EB1D96F}"/>
              </a:ext>
            </a:extLst>
          </p:cNvPr>
          <p:cNvSpPr>
            <a:spLocks noGrp="1"/>
          </p:cNvSpPr>
          <p:nvPr>
            <p:ph type="title"/>
          </p:nvPr>
        </p:nvSpPr>
        <p:spPr/>
        <p:txBody>
          <a:bodyPr/>
          <a:lstStyle/>
          <a:p>
            <a:r>
              <a:rPr lang="de-CH" noProof="0" dirty="0"/>
              <a:t>Beispiel 2 – </a:t>
            </a:r>
            <a:r>
              <a:rPr lang="de-CH" dirty="0"/>
              <a:t>Sprungstellen der Dielektrizitätskonstanten – Lösung 2</a:t>
            </a:r>
            <a:endParaRPr lang="de-CH" noProof="0" dirty="0"/>
          </a:p>
        </p:txBody>
      </p:sp>
      <p:sp>
        <p:nvSpPr>
          <p:cNvPr id="3" name="Content Placeholder 2">
            <a:extLst>
              <a:ext uri="{FF2B5EF4-FFF2-40B4-BE49-F238E27FC236}">
                <a16:creationId xmlns:a16="http://schemas.microsoft.com/office/drawing/2014/main" id="{5E893BE0-6AD9-747D-ED32-465998DB76F0}"/>
              </a:ext>
            </a:extLst>
          </p:cNvPr>
          <p:cNvSpPr>
            <a:spLocks noGrp="1"/>
          </p:cNvSpPr>
          <p:nvPr>
            <p:ph idx="1"/>
          </p:nvPr>
        </p:nvSpPr>
        <p:spPr>
          <a:xfrm>
            <a:off x="8651450" y="1412875"/>
            <a:ext cx="2808712" cy="1225550"/>
          </a:xfrm>
        </p:spPr>
        <p:txBody>
          <a:bodyPr/>
          <a:lstStyle/>
          <a:p>
            <a:pPr marL="0" indent="0">
              <a:buNone/>
            </a:pPr>
            <a:r>
              <a:rPr lang="de-CH" b="1" u="sng" noProof="0" dirty="0"/>
              <a:t>Schlüsselkonzepte</a:t>
            </a:r>
          </a:p>
          <a:p>
            <a:pPr marL="0" indent="0">
              <a:buNone/>
            </a:pPr>
            <a:r>
              <a:rPr lang="de-CH" dirty="0"/>
              <a:t>Sprungstellen der Dielektrizitätskonstanten</a:t>
            </a:r>
          </a:p>
          <a:p>
            <a:pPr marL="0" indent="0">
              <a:buNone/>
            </a:pPr>
            <a:endParaRPr lang="de-CH" noProof="0" dirty="0"/>
          </a:p>
          <a:p>
            <a:pPr marL="0" indent="0">
              <a:buNone/>
            </a:pPr>
            <a:endParaRPr lang="de-CH" noProof="0" dirty="0"/>
          </a:p>
        </p:txBody>
      </p:sp>
      <p:sp>
        <p:nvSpPr>
          <p:cNvPr id="4" name="Date Placeholder 3">
            <a:extLst>
              <a:ext uri="{FF2B5EF4-FFF2-40B4-BE49-F238E27FC236}">
                <a16:creationId xmlns:a16="http://schemas.microsoft.com/office/drawing/2014/main" id="{95A3D090-C3FC-F45D-5F00-7DD80DE06FF8}"/>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8E3BE8A3-F87B-91BB-7531-A57D65B5763A}"/>
              </a:ext>
            </a:extLst>
          </p:cNvPr>
          <p:cNvSpPr>
            <a:spLocks noGrp="1"/>
          </p:cNvSpPr>
          <p:nvPr>
            <p:ph type="sldNum" sz="quarter" idx="12"/>
          </p:nvPr>
        </p:nvSpPr>
        <p:spPr/>
        <p:txBody>
          <a:bodyPr/>
          <a:lstStyle/>
          <a:p>
            <a:fld id="{5ACA52AF-F19D-405C-AD5F-7D94B96A5CC3}" type="slidenum">
              <a:rPr lang="de-CH" noProof="0" smtClean="0"/>
              <a:t>12</a:t>
            </a:fld>
            <a:endParaRPr lang="de-CH" noProof="0" dirty="0"/>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F87BBB52-8875-41D0-599F-589C06C7E611}"/>
                  </a:ext>
                </a:extLst>
              </p:cNvPr>
              <p:cNvSpPr txBox="1">
                <a:spLocks/>
              </p:cNvSpPr>
              <p:nvPr/>
            </p:nvSpPr>
            <p:spPr>
              <a:xfrm>
                <a:off x="731837" y="1387523"/>
                <a:ext cx="7625142" cy="2411702"/>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Parallele Dielektrika</a:t>
                </a:r>
              </a:p>
              <a:p>
                <a:r>
                  <a:rPr lang="de-CH" sz="1600" dirty="0"/>
                  <a:t>Das E-Feld ist durch die Spannung vorgegeben (</a:t>
                </a:r>
                <a14:m>
                  <m:oMath xmlns:m="http://schemas.openxmlformats.org/officeDocument/2006/math">
                    <m:r>
                      <a:rPr lang="de-CH" sz="1600" b="0" i="1" smtClean="0">
                        <a:latin typeface="Cambria Math" panose="02040503050406030204" pitchFamily="18" charset="0"/>
                      </a:rPr>
                      <m:t>𝐸</m:t>
                    </m:r>
                    <m:r>
                      <a:rPr lang="de-CH" sz="1600" b="0" i="1" smtClean="0">
                        <a:latin typeface="Cambria Math" panose="02040503050406030204" pitchFamily="18" charset="0"/>
                      </a:rPr>
                      <m:t> = </m:t>
                    </m:r>
                    <m:r>
                      <a:rPr lang="de-CH" sz="1600" b="0" i="1" smtClean="0">
                        <a:latin typeface="Cambria Math" panose="02040503050406030204" pitchFamily="18" charset="0"/>
                      </a:rPr>
                      <m:t>𝑈</m:t>
                    </m:r>
                    <m:r>
                      <a:rPr lang="de-CH" sz="1600" b="0" i="1" smtClean="0">
                        <a:latin typeface="Cambria Math" panose="02040503050406030204" pitchFamily="18" charset="0"/>
                      </a:rPr>
                      <m:t>/</m:t>
                    </m:r>
                    <m:r>
                      <a:rPr lang="de-CH" sz="1600" b="0" i="1" smtClean="0">
                        <a:latin typeface="Cambria Math" panose="02040503050406030204" pitchFamily="18" charset="0"/>
                      </a:rPr>
                      <m:t>𝑑</m:t>
                    </m:r>
                  </m:oMath>
                </a14:m>
                <a:r>
                  <a:rPr lang="de-CH" sz="1600" dirty="0"/>
                  <a:t>)</a:t>
                </a:r>
              </a:p>
              <a:p>
                <a:r>
                  <a:rPr lang="de-CH" sz="1600" b="1" dirty="0"/>
                  <a:t>Tangentiales E-Feld an Sprungstelle bleibt gleich</a:t>
                </a:r>
              </a:p>
              <a:p>
                <a:r>
                  <a:rPr lang="de-CH" sz="1600" dirty="0"/>
                  <a:t>Im «dichteren» Medium ist die Flussdichte höher (</a:t>
                </a:r>
                <a14:m>
                  <m:oMath xmlns:m="http://schemas.openxmlformats.org/officeDocument/2006/math">
                    <m:r>
                      <a:rPr lang="de-CH" sz="1600" i="1">
                        <a:latin typeface="Cambria Math" panose="02040503050406030204" pitchFamily="18" charset="0"/>
                      </a:rPr>
                      <m:t>𝐷</m:t>
                    </m:r>
                    <m:r>
                      <a:rPr lang="de-CH" sz="1600" i="1">
                        <a:latin typeface="Cambria Math" panose="02040503050406030204" pitchFamily="18" charset="0"/>
                      </a:rPr>
                      <m:t> =</m:t>
                    </m:r>
                    <m:r>
                      <a:rPr lang="de-CH" sz="1600" i="1">
                        <a:latin typeface="Cambria Math" panose="02040503050406030204" pitchFamily="18" charset="0"/>
                        <a:ea typeface="Cambria Math" panose="02040503050406030204" pitchFamily="18" charset="0"/>
                      </a:rPr>
                      <m:t>𝜀</m:t>
                    </m:r>
                    <m:r>
                      <a:rPr lang="de-CH" sz="1600" i="1">
                        <a:latin typeface="Cambria Math" panose="02040503050406030204" pitchFamily="18" charset="0"/>
                      </a:rPr>
                      <m:t>𝐸</m:t>
                    </m:r>
                  </m:oMath>
                </a14:m>
                <a:r>
                  <a:rPr lang="de-CH" sz="1600" dirty="0"/>
                  <a:t>)</a:t>
                </a:r>
              </a:p>
              <a:p>
                <a:r>
                  <a:rPr lang="de-CH" sz="1600" dirty="0"/>
                  <a:t>Die Platten des «dichteren» Mediums haben eine höhere Ladungsdichte </a:t>
                </a:r>
                <a14:m>
                  <m:oMath xmlns:m="http://schemas.openxmlformats.org/officeDocument/2006/math">
                    <m:r>
                      <a:rPr lang="de-CH" sz="1600" b="0" i="0" smtClean="0">
                        <a:latin typeface="Cambria Math" panose="02040503050406030204" pitchFamily="18" charset="0"/>
                      </a:rPr>
                      <m:t>(</m:t>
                    </m:r>
                    <m:r>
                      <a:rPr lang="de-CH" sz="1600" b="0" i="1" smtClean="0">
                        <a:latin typeface="Cambria Math" panose="02040503050406030204" pitchFamily="18" charset="0"/>
                      </a:rPr>
                      <m:t>𝐷</m:t>
                    </m:r>
                    <m:r>
                      <a:rPr lang="de-CH" sz="1600" b="0" i="1" smtClean="0">
                        <a:latin typeface="Cambria Math" panose="02040503050406030204" pitchFamily="18" charset="0"/>
                      </a:rPr>
                      <m:t>=</m:t>
                    </m:r>
                    <m:r>
                      <a:rPr lang="de-CH" sz="1600" b="0" i="1" smtClean="0">
                        <a:latin typeface="Cambria Math" panose="02040503050406030204" pitchFamily="18" charset="0"/>
                        <a:ea typeface="Cambria Math" panose="02040503050406030204" pitchFamily="18" charset="0"/>
                      </a:rPr>
                      <m:t>𝜎</m:t>
                    </m:r>
                    <m:r>
                      <a:rPr lang="de-CH" sz="1600" b="0" i="1" smtClean="0">
                        <a:latin typeface="Cambria Math" panose="02040503050406030204" pitchFamily="18" charset="0"/>
                        <a:ea typeface="Cambria Math" panose="02040503050406030204" pitchFamily="18" charset="0"/>
                      </a:rPr>
                      <m:t>)</m:t>
                    </m:r>
                  </m:oMath>
                </a14:m>
                <a:endParaRPr lang="de-CH" sz="1600" dirty="0"/>
              </a:p>
            </p:txBody>
          </p:sp>
        </mc:Choice>
        <mc:Fallback xmlns="">
          <p:sp>
            <p:nvSpPr>
              <p:cNvPr id="13" name="Content Placeholder 2">
                <a:extLst>
                  <a:ext uri="{FF2B5EF4-FFF2-40B4-BE49-F238E27FC236}">
                    <a16:creationId xmlns:a16="http://schemas.microsoft.com/office/drawing/2014/main" id="{F87BBB52-8875-41D0-599F-589C06C7E611}"/>
                  </a:ext>
                </a:extLst>
              </p:cNvPr>
              <p:cNvSpPr txBox="1">
                <a:spLocks noRot="1" noChangeAspect="1" noMove="1" noResize="1" noEditPoints="1" noAdjustHandles="1" noChangeArrowheads="1" noChangeShapeType="1" noTextEdit="1"/>
              </p:cNvSpPr>
              <p:nvPr/>
            </p:nvSpPr>
            <p:spPr>
              <a:xfrm>
                <a:off x="731837" y="1387523"/>
                <a:ext cx="7625142" cy="2411702"/>
              </a:xfrm>
              <a:prstGeom prst="rect">
                <a:avLst/>
              </a:prstGeom>
              <a:blipFill>
                <a:blip r:embed="rId4"/>
                <a:stretch>
                  <a:fillRect l="-1599" t="-2785" r="-80"/>
                </a:stretch>
              </a:blipFill>
            </p:spPr>
            <p:txBody>
              <a:bodyPr/>
              <a:lstStyle/>
              <a:p>
                <a:r>
                  <a:rPr lang="de-CH">
                    <a:noFill/>
                  </a:rPr>
                  <a:t> </a:t>
                </a:r>
              </a:p>
            </p:txBody>
          </p:sp>
        </mc:Fallback>
      </mc:AlternateContent>
      <p:pic>
        <p:nvPicPr>
          <p:cNvPr id="9" name="Picture Placeholder 8">
            <a:extLst>
              <a:ext uri="{FF2B5EF4-FFF2-40B4-BE49-F238E27FC236}">
                <a16:creationId xmlns:a16="http://schemas.microsoft.com/office/drawing/2014/main" id="{CCF4F458-5862-EE24-2F86-411B41D45444}"/>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Lst>
          </a:blip>
          <a:srcRect t="-2476" b="13219"/>
          <a:stretch>
            <a:fillRect/>
          </a:stretch>
        </p:blipFill>
        <p:spPr>
          <a:xfrm>
            <a:off x="731838" y="3571680"/>
            <a:ext cx="5040312" cy="2700533"/>
          </a:xfrm>
          <a:prstGeom prst="rect">
            <a:avLst/>
          </a:prstGeom>
        </p:spPr>
      </p:pic>
      <p:pic>
        <p:nvPicPr>
          <p:cNvPr id="12" name="Picture 11">
            <a:extLst>
              <a:ext uri="{FF2B5EF4-FFF2-40B4-BE49-F238E27FC236}">
                <a16:creationId xmlns:a16="http://schemas.microsoft.com/office/drawing/2014/main" id="{5C2297B6-DA1A-C74E-1804-31E1EE0CF5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18210" y="3799225"/>
            <a:ext cx="4498857" cy="270053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EACF8B-1B66-80E7-B64B-5C90440128AF}"/>
                  </a:ext>
                </a:extLst>
              </p:cNvPr>
              <p:cNvSpPr txBox="1"/>
              <p:nvPr/>
            </p:nvSpPr>
            <p:spPr>
              <a:xfrm>
                <a:off x="3048000" y="3244334"/>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1</m:t>
                          </m:r>
                        </m:sub>
                      </m:sSub>
                      <m:r>
                        <a:rPr lang="de-CH" sz="1800" i="1">
                          <a:latin typeface="Cambria Math" panose="02040503050406030204" pitchFamily="18" charset="0"/>
                        </a:rPr>
                        <m:t>&gt;</m:t>
                      </m:r>
                      <m:sSub>
                        <m:sSubPr>
                          <m:ctrlPr>
                            <a:rPr lang="de-CH" sz="1800" i="1">
                              <a:latin typeface="Cambria Math" panose="02040503050406030204" pitchFamily="18" charset="0"/>
                              <a:ea typeface="Cambria Math" panose="02040503050406030204" pitchFamily="18" charset="0"/>
                            </a:rPr>
                          </m:ctrlPr>
                        </m:sSubPr>
                        <m:e>
                          <m:r>
                            <a:rPr lang="de-CH" sz="1800" i="1">
                              <a:latin typeface="Cambria Math" panose="02040503050406030204" pitchFamily="18" charset="0"/>
                              <a:ea typeface="Cambria Math" panose="02040503050406030204" pitchFamily="18" charset="0"/>
                            </a:rPr>
                            <m:t>𝜀</m:t>
                          </m:r>
                        </m:e>
                        <m:sub>
                          <m:r>
                            <a:rPr lang="de-CH" sz="1800" i="1">
                              <a:latin typeface="Cambria Math" panose="02040503050406030204" pitchFamily="18" charset="0"/>
                            </a:rPr>
                            <m:t>2</m:t>
                          </m:r>
                        </m:sub>
                      </m:sSub>
                    </m:oMath>
                  </m:oMathPara>
                </a14:m>
                <a:endParaRPr lang="de-CH" dirty="0"/>
              </a:p>
            </p:txBody>
          </p:sp>
        </mc:Choice>
        <mc:Fallback xmlns="">
          <p:sp>
            <p:nvSpPr>
              <p:cNvPr id="7" name="TextBox 6">
                <a:extLst>
                  <a:ext uri="{FF2B5EF4-FFF2-40B4-BE49-F238E27FC236}">
                    <a16:creationId xmlns:a16="http://schemas.microsoft.com/office/drawing/2014/main" id="{DFEACF8B-1B66-80E7-B64B-5C90440128AF}"/>
                  </a:ext>
                </a:extLst>
              </p:cNvPr>
              <p:cNvSpPr txBox="1">
                <a:spLocks noRot="1" noChangeAspect="1" noMove="1" noResize="1" noEditPoints="1" noAdjustHandles="1" noChangeArrowheads="1" noChangeShapeType="1" noTextEdit="1"/>
              </p:cNvSpPr>
              <p:nvPr/>
            </p:nvSpPr>
            <p:spPr>
              <a:xfrm>
                <a:off x="3048000" y="3244334"/>
                <a:ext cx="6096000" cy="369332"/>
              </a:xfrm>
              <a:prstGeom prst="rect">
                <a:avLst/>
              </a:prstGeom>
              <a:blipFill>
                <a:blip r:embed="rId7"/>
                <a:stretch>
                  <a:fillRect/>
                </a:stretch>
              </a:blipFill>
            </p:spPr>
            <p:txBody>
              <a:bodyPr/>
              <a:lstStyle/>
              <a:p>
                <a:r>
                  <a:rPr lang="de-CH">
                    <a:noFill/>
                  </a:rPr>
                  <a:t> </a:t>
                </a:r>
              </a:p>
            </p:txBody>
          </p:sp>
        </mc:Fallback>
      </mc:AlternateContent>
    </p:spTree>
    <p:extLst>
      <p:ext uri="{BB962C8B-B14F-4D97-AF65-F5344CB8AC3E}">
        <p14:creationId xmlns:p14="http://schemas.microsoft.com/office/powerpoint/2010/main" val="396657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A866-0672-4D2B-1DAA-901624DDC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5305B-33EB-E735-ED5F-8CDBAF0F1D63}"/>
              </a:ext>
            </a:extLst>
          </p:cNvPr>
          <p:cNvSpPr>
            <a:spLocks noGrp="1"/>
          </p:cNvSpPr>
          <p:nvPr>
            <p:ph type="title"/>
          </p:nvPr>
        </p:nvSpPr>
        <p:spPr/>
        <p:txBody>
          <a:bodyPr/>
          <a:lstStyle/>
          <a:p>
            <a:r>
              <a:rPr lang="de-CH" noProof="0" dirty="0"/>
              <a:t>Beispiel 3 – Kapazität und Kondensatornetzwerke</a:t>
            </a:r>
          </a:p>
        </p:txBody>
      </p:sp>
      <p:sp>
        <p:nvSpPr>
          <p:cNvPr id="3" name="Content Placeholder 2">
            <a:extLst>
              <a:ext uri="{FF2B5EF4-FFF2-40B4-BE49-F238E27FC236}">
                <a16:creationId xmlns:a16="http://schemas.microsoft.com/office/drawing/2014/main" id="{AADC39E2-7CFB-D0EC-E1BF-015B612D094D}"/>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Kapazität und einfache Kondensatornetzwerke</a:t>
            </a:r>
            <a:endParaRPr lang="de-CH" noProof="0" dirty="0"/>
          </a:p>
        </p:txBody>
      </p:sp>
      <p:sp>
        <p:nvSpPr>
          <p:cNvPr id="4" name="Date Placeholder 3">
            <a:extLst>
              <a:ext uri="{FF2B5EF4-FFF2-40B4-BE49-F238E27FC236}">
                <a16:creationId xmlns:a16="http://schemas.microsoft.com/office/drawing/2014/main" id="{BE662360-CB89-55ED-2138-4A13FE97671A}"/>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1B840879-3B79-BE92-039F-33DCAF091825}"/>
              </a:ext>
            </a:extLst>
          </p:cNvPr>
          <p:cNvSpPr>
            <a:spLocks noGrp="1"/>
          </p:cNvSpPr>
          <p:nvPr>
            <p:ph type="sldNum" sz="quarter" idx="12"/>
          </p:nvPr>
        </p:nvSpPr>
        <p:spPr/>
        <p:txBody>
          <a:bodyPr/>
          <a:lstStyle/>
          <a:p>
            <a:fld id="{5ACA52AF-F19D-405C-AD5F-7D94B96A5CC3}" type="slidenum">
              <a:rPr lang="de-CH" noProof="0" smtClean="0"/>
              <a:t>13</a:t>
            </a:fld>
            <a:endParaRPr lang="de-CH" noProof="0" dirty="0"/>
          </a:p>
        </p:txBody>
      </p:sp>
      <p:pic>
        <p:nvPicPr>
          <p:cNvPr id="6" name="Picture Placeholder 7">
            <a:extLst>
              <a:ext uri="{FF2B5EF4-FFF2-40B4-BE49-F238E27FC236}">
                <a16:creationId xmlns:a16="http://schemas.microsoft.com/office/drawing/2014/main" id="{740A9E45-8EF7-A6E3-8A52-1BF1CFB9107D}"/>
              </a:ext>
            </a:extLst>
          </p:cNvPr>
          <p:cNvPicPr>
            <a:picLocks noChangeAspect="1"/>
          </p:cNvPicPr>
          <p:nvPr/>
        </p:nvPicPr>
        <p:blipFill>
          <a:blip r:embed="rId2">
            <a:extLst>
              <a:ext uri="{28A0092B-C50C-407E-A947-70E740481C1C}">
                <a14:useLocalDpi xmlns:a14="http://schemas.microsoft.com/office/drawing/2010/main" val="0"/>
              </a:ext>
            </a:extLst>
          </a:blip>
          <a:srcRect t="730" r="56338" b="730"/>
          <a:stretch>
            <a:fillRect/>
          </a:stretch>
        </p:blipFill>
        <p:spPr>
          <a:xfrm>
            <a:off x="6236145" y="3321084"/>
            <a:ext cx="4543547" cy="3076575"/>
          </a:xfrm>
          <a:prstGeom prst="rect">
            <a:avLst/>
          </a:prstGeom>
        </p:spPr>
      </p:pic>
      <p:sp>
        <p:nvSpPr>
          <p:cNvPr id="8" name="Content Placeholder 2">
            <a:extLst>
              <a:ext uri="{FF2B5EF4-FFF2-40B4-BE49-F238E27FC236}">
                <a16:creationId xmlns:a16="http://schemas.microsoft.com/office/drawing/2014/main" id="{5E1DD516-B671-8D90-1F2D-99BF420206A3}"/>
              </a:ext>
            </a:extLst>
          </p:cNvPr>
          <p:cNvSpPr txBox="1">
            <a:spLocks/>
          </p:cNvSpPr>
          <p:nvPr/>
        </p:nvSpPr>
        <p:spPr>
          <a:xfrm>
            <a:off x="731837" y="1412875"/>
            <a:ext cx="5256000"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Abstand </a:t>
            </a:r>
            <a:r>
              <a:rPr lang="de-CH" sz="1600" i="1" dirty="0"/>
              <a:t>d,</a:t>
            </a:r>
            <a:r>
              <a:rPr lang="de-CH" sz="1600" dirty="0"/>
              <a:t> Flächen </a:t>
            </a:r>
            <a:r>
              <a:rPr lang="de-CH" sz="1600" i="1" dirty="0"/>
              <a:t>A</a:t>
            </a:r>
            <a:r>
              <a:rPr lang="de-CH" sz="1600" baseline="-25000" dirty="0"/>
              <a:t>1</a:t>
            </a:r>
            <a:r>
              <a:rPr lang="de-CH" sz="1600" i="1" dirty="0"/>
              <a:t>/A</a:t>
            </a:r>
            <a:r>
              <a:rPr lang="de-CH" sz="1600" baseline="-25000" dirty="0"/>
              <a:t>2</a:t>
            </a:r>
            <a:r>
              <a:rPr lang="de-CH" sz="1600" i="1" dirty="0"/>
              <a:t>, </a:t>
            </a:r>
            <a:r>
              <a:rPr lang="de-CH" sz="1600" dirty="0"/>
              <a:t>Spannung </a:t>
            </a:r>
            <a:r>
              <a:rPr lang="de-CH" sz="1600" i="1" dirty="0"/>
              <a:t>U:</a:t>
            </a:r>
          </a:p>
          <a:p>
            <a:pPr marL="0" indent="0">
              <a:buNone/>
            </a:pPr>
            <a:r>
              <a:rPr lang="de-CH" sz="1600" dirty="0"/>
              <a:t>Berechnet:</a:t>
            </a:r>
          </a:p>
          <a:p>
            <a:r>
              <a:rPr lang="de-CH" sz="1600" i="1" dirty="0"/>
              <a:t>E</a:t>
            </a:r>
            <a:r>
              <a:rPr lang="de-CH" sz="1600" baseline="-25000" dirty="0"/>
              <a:t>1</a:t>
            </a:r>
            <a:r>
              <a:rPr lang="de-CH" sz="1600" dirty="0"/>
              <a:t> und </a:t>
            </a:r>
            <a:r>
              <a:rPr lang="de-CH" sz="1600" i="1" dirty="0"/>
              <a:t>E</a:t>
            </a:r>
            <a:r>
              <a:rPr lang="de-CH" sz="1600" baseline="-25000" dirty="0"/>
              <a:t>2</a:t>
            </a:r>
          </a:p>
          <a:p>
            <a:r>
              <a:rPr lang="de-CH" sz="1600" i="1" dirty="0"/>
              <a:t>D</a:t>
            </a:r>
            <a:r>
              <a:rPr lang="de-CH" sz="1600" baseline="-25000" dirty="0"/>
              <a:t>1</a:t>
            </a:r>
            <a:r>
              <a:rPr lang="de-CH" sz="1600" dirty="0"/>
              <a:t> und </a:t>
            </a:r>
            <a:r>
              <a:rPr lang="de-CH" sz="1600" i="1" dirty="0"/>
              <a:t>D</a:t>
            </a:r>
            <a:r>
              <a:rPr lang="de-CH" sz="1600" baseline="-25000" dirty="0"/>
              <a:t>2</a:t>
            </a:r>
          </a:p>
          <a:p>
            <a:r>
              <a:rPr lang="de-CH" sz="1600" i="1" dirty="0"/>
              <a:t>C</a:t>
            </a:r>
            <a:r>
              <a:rPr lang="de-CH" sz="1600" baseline="-25000" dirty="0"/>
              <a:t>1</a:t>
            </a:r>
            <a:r>
              <a:rPr lang="de-CH" sz="1600" dirty="0"/>
              <a:t> und </a:t>
            </a:r>
            <a:r>
              <a:rPr lang="de-CH" sz="1600" i="1" dirty="0"/>
              <a:t>C</a:t>
            </a:r>
            <a:r>
              <a:rPr lang="de-CH" sz="1600" baseline="-25000" dirty="0"/>
              <a:t>2</a:t>
            </a:r>
          </a:p>
          <a:p>
            <a:r>
              <a:rPr lang="de-CH" sz="1600" dirty="0"/>
              <a:t>Zeichnet das Kondensatornetzwerk und berechnet die Gesamtkapazität zwischen den Platten</a:t>
            </a:r>
          </a:p>
        </p:txBody>
      </p:sp>
    </p:spTree>
    <p:extLst>
      <p:ext uri="{BB962C8B-B14F-4D97-AF65-F5344CB8AC3E}">
        <p14:creationId xmlns:p14="http://schemas.microsoft.com/office/powerpoint/2010/main" val="2917247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1B20-4053-3B53-5468-1A405BCB8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D1F99-1F73-4B8F-EAAE-39DD6ED3BBB4}"/>
              </a:ext>
            </a:extLst>
          </p:cNvPr>
          <p:cNvSpPr>
            <a:spLocks noGrp="1"/>
          </p:cNvSpPr>
          <p:nvPr>
            <p:ph type="title"/>
          </p:nvPr>
        </p:nvSpPr>
        <p:spPr/>
        <p:txBody>
          <a:bodyPr/>
          <a:lstStyle/>
          <a:p>
            <a:r>
              <a:rPr lang="de-CH" noProof="0" dirty="0"/>
              <a:t>Beispiel 3 – Kapazität und Kondensatornetzwerke – Lösung</a:t>
            </a:r>
          </a:p>
        </p:txBody>
      </p:sp>
      <p:sp>
        <p:nvSpPr>
          <p:cNvPr id="3" name="Content Placeholder 2">
            <a:extLst>
              <a:ext uri="{FF2B5EF4-FFF2-40B4-BE49-F238E27FC236}">
                <a16:creationId xmlns:a16="http://schemas.microsoft.com/office/drawing/2014/main" id="{70A8C9B9-5F4E-ED13-E218-4924CA3EF28E}"/>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Kapazität und einfache Kondensatornetzwerke</a:t>
            </a:r>
            <a:endParaRPr lang="de-CH" noProof="0" dirty="0"/>
          </a:p>
        </p:txBody>
      </p:sp>
      <p:sp>
        <p:nvSpPr>
          <p:cNvPr id="4" name="Date Placeholder 3">
            <a:extLst>
              <a:ext uri="{FF2B5EF4-FFF2-40B4-BE49-F238E27FC236}">
                <a16:creationId xmlns:a16="http://schemas.microsoft.com/office/drawing/2014/main" id="{6B731AB1-907B-D385-6A9F-8D9122060A4B}"/>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C849A0FC-1078-721D-75BE-2AC05AA98302}"/>
              </a:ext>
            </a:extLst>
          </p:cNvPr>
          <p:cNvSpPr>
            <a:spLocks noGrp="1"/>
          </p:cNvSpPr>
          <p:nvPr>
            <p:ph type="sldNum" sz="quarter" idx="12"/>
          </p:nvPr>
        </p:nvSpPr>
        <p:spPr/>
        <p:txBody>
          <a:bodyPr/>
          <a:lstStyle/>
          <a:p>
            <a:fld id="{5ACA52AF-F19D-405C-AD5F-7D94B96A5CC3}" type="slidenum">
              <a:rPr lang="de-CH" noProof="0" smtClean="0"/>
              <a:t>14</a:t>
            </a:fld>
            <a:endParaRPr lang="de-CH" noProof="0" dirty="0"/>
          </a:p>
        </p:txBody>
      </p:sp>
      <p:pic>
        <p:nvPicPr>
          <p:cNvPr id="6" name="Picture Placeholder 7">
            <a:extLst>
              <a:ext uri="{FF2B5EF4-FFF2-40B4-BE49-F238E27FC236}">
                <a16:creationId xmlns:a16="http://schemas.microsoft.com/office/drawing/2014/main" id="{02E75D3D-AEF1-5397-7155-E87A65315D05}"/>
              </a:ext>
            </a:extLst>
          </p:cNvPr>
          <p:cNvPicPr>
            <a:picLocks noChangeAspect="1"/>
          </p:cNvPicPr>
          <p:nvPr/>
        </p:nvPicPr>
        <p:blipFill>
          <a:blip r:embed="rId3">
            <a:extLst>
              <a:ext uri="{28A0092B-C50C-407E-A947-70E740481C1C}">
                <a14:useLocalDpi xmlns:a14="http://schemas.microsoft.com/office/drawing/2010/main" val="0"/>
              </a:ext>
            </a:extLst>
          </a:blip>
          <a:srcRect t="730" r="56338" b="730"/>
          <a:stretch>
            <a:fillRect/>
          </a:stretch>
        </p:blipFill>
        <p:spPr>
          <a:xfrm>
            <a:off x="6236145" y="3321084"/>
            <a:ext cx="4543547" cy="3076575"/>
          </a:xfrm>
          <a:prstGeom prst="rect">
            <a:avLst/>
          </a:prstGeom>
        </p:spPr>
      </p:pic>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DB833C10-58E1-FD42-7CEC-5A3FC5F8FB0B}"/>
                  </a:ext>
                </a:extLst>
              </p:cNvPr>
              <p:cNvSpPr txBox="1">
                <a:spLocks/>
              </p:cNvSpPr>
              <p:nvPr/>
            </p:nvSpPr>
            <p:spPr>
              <a:xfrm>
                <a:off x="731836" y="1412875"/>
                <a:ext cx="6214874"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Abstand </a:t>
                </a:r>
                <a:r>
                  <a:rPr lang="de-CH" sz="1600" i="1" dirty="0"/>
                  <a:t>d,</a:t>
                </a:r>
                <a:r>
                  <a:rPr lang="de-CH" sz="1600" dirty="0"/>
                  <a:t> Flächen </a:t>
                </a:r>
                <a:r>
                  <a:rPr lang="de-CH" sz="1600" i="1" dirty="0"/>
                  <a:t>A</a:t>
                </a:r>
                <a:r>
                  <a:rPr lang="de-CH" sz="1600" baseline="-25000" dirty="0"/>
                  <a:t>1</a:t>
                </a:r>
                <a:r>
                  <a:rPr lang="de-CH" sz="1600" i="1" dirty="0"/>
                  <a:t>/A</a:t>
                </a:r>
                <a:r>
                  <a:rPr lang="de-CH" sz="1600" baseline="-25000" dirty="0"/>
                  <a:t>2</a:t>
                </a:r>
                <a:r>
                  <a:rPr lang="de-CH" sz="1600" i="1" dirty="0"/>
                  <a:t>, </a:t>
                </a:r>
                <a:r>
                  <a:rPr lang="de-CH" sz="1600" dirty="0"/>
                  <a:t>Spannung </a:t>
                </a:r>
                <a:r>
                  <a:rPr lang="de-CH" sz="1600" i="1" dirty="0"/>
                  <a:t>U:</a:t>
                </a:r>
              </a:p>
              <a:p>
                <a14:m>
                  <m:oMath xmlns:m="http://schemas.openxmlformats.org/officeDocument/2006/math">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1</m:t>
                        </m:r>
                      </m:sub>
                    </m:sSub>
                    <m:r>
                      <a:rPr lang="de-CH" sz="1600" b="0" i="1" dirty="0" smtClean="0">
                        <a:latin typeface="Cambria Math" panose="02040503050406030204" pitchFamily="18" charset="0"/>
                      </a:rPr>
                      <m:t>=</m:t>
                    </m:r>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2</m:t>
                        </m:r>
                      </m:sub>
                    </m:sSub>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i="1" dirty="0"/>
              </a:p>
              <a:p>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sSub>
                      <m:sSubPr>
                        <m:ctrlPr>
                          <a:rPr lang="de-CH" sz="1600" i="1" dirty="0" smtClean="0">
                            <a:latin typeface="Cambria Math" panose="02040503050406030204" pitchFamily="18" charset="0"/>
                            <a:ea typeface="Cambria Math" panose="02040503050406030204" pitchFamily="18" charset="0"/>
                          </a:rPr>
                        </m:ctrlPr>
                      </m:sSubPr>
                      <m:e>
                        <m:sSub>
                          <m:sSubPr>
                            <m:ctrlPr>
                              <a:rPr lang="de-CH" sz="1600" i="1" dirty="0" smtClean="0">
                                <a:latin typeface="Cambria Math" panose="02040503050406030204" pitchFamily="18" charset="0"/>
                                <a:ea typeface="Cambria Math" panose="02040503050406030204" pitchFamily="18" charset="0"/>
                              </a:rPr>
                            </m:ctrlPr>
                          </m:sSubPr>
                          <m:e>
                            <m:r>
                              <a:rPr lang="de-CH" sz="1600" i="1" dirty="0" smtClean="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i="1" dirty="0">
                            <a:latin typeface="Cambria Math" panose="02040503050406030204" pitchFamily="18" charset="0"/>
                          </a:rPr>
                          <m:t>E</m:t>
                        </m:r>
                      </m:e>
                      <m:sub>
                        <m:r>
                          <m:rPr>
                            <m:sty m:val="p"/>
                          </m:rPr>
                          <a:rPr lang="de-CH" sz="1600" b="0" i="1" dirty="0" smtClean="0">
                            <a:latin typeface="Cambria Math" panose="02040503050406030204" pitchFamily="18" charset="0"/>
                          </a:rPr>
                          <m:t>k</m:t>
                        </m:r>
                      </m:sub>
                    </m:sSub>
                    <m:r>
                      <a:rPr lang="de-CH" sz="1600" b="0" i="1" dirty="0"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b="0" i="1" dirty="0"/>
              </a:p>
              <a:p>
                <a:r>
                  <a:rPr lang="de-CH" sz="1600" dirty="0"/>
                  <a:t>(Albach 1.75)</a:t>
                </a:r>
              </a:p>
              <a:p>
                <a:pPr lvl="1"/>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C</m:t>
                        </m:r>
                      </m:e>
                      <m:sub>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f>
                      <m:fPr>
                        <m:ctrlPr>
                          <a:rPr lang="de-CH" sz="1600" b="0" i="1" smtClean="0">
                            <a:latin typeface="Cambria Math" panose="02040503050406030204" pitchFamily="18" charset="0"/>
                          </a:rPr>
                        </m:ctrlPr>
                      </m:fPr>
                      <m:num>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Q</m:t>
                            </m:r>
                          </m:e>
                          <m:sub>
                            <m:r>
                              <m:rPr>
                                <m:sty m:val="p"/>
                              </m:rPr>
                              <a:rPr lang="de-CH" sz="1600" b="0" i="1" smtClean="0">
                                <a:latin typeface="Cambria Math" panose="02040503050406030204" pitchFamily="18" charset="0"/>
                              </a:rPr>
                              <m:t>k</m:t>
                            </m:r>
                          </m:sub>
                        </m:sSub>
                      </m:num>
                      <m:den>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U</m:t>
                            </m:r>
                          </m:e>
                          <m:sub>
                            <m:r>
                              <m:rPr>
                                <m:sty m:val="p"/>
                              </m:rPr>
                              <a:rPr lang="de-CH" sz="1600" b="0" i="1" smtClean="0">
                                <a:latin typeface="Cambria Math" panose="02040503050406030204" pitchFamily="18" charset="0"/>
                              </a:rPr>
                              <m:t>k</m:t>
                            </m:r>
                          </m:sub>
                        </m:sSub>
                      </m:den>
                    </m:f>
                  </m:oMath>
                </a14:m>
                <a:endParaRPr lang="de-CH" sz="1600" dirty="0"/>
              </a:p>
              <a:p>
                <a:pPr lvl="1"/>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Q</m:t>
                        </m:r>
                      </m:e>
                      <m:sub>
                        <m:r>
                          <m:rPr>
                            <m:sty m:val="p"/>
                          </m:rPr>
                          <a:rPr lang="de-CH" sz="1600" i="1">
                            <a:latin typeface="Cambria Math" panose="02040503050406030204" pitchFamily="18" charset="0"/>
                          </a:rPr>
                          <m:t>k</m:t>
                        </m:r>
                      </m:sub>
                    </m:sSub>
                    <m:r>
                      <a:rPr lang="de-CH" sz="1600" b="0" i="1" smtClean="0">
                        <a:latin typeface="Cambria Math" panose="02040503050406030204" pitchFamily="18" charset="0"/>
                      </a:rPr>
                      <m:t>=</m:t>
                    </m:r>
                  </m:oMath>
                </a14:m>
                <a:r>
                  <a:rPr lang="de-CH" sz="1600" dirty="0"/>
                  <a:t> </a:t>
                </a:r>
                <a14:m>
                  <m:oMath xmlns:m="http://schemas.openxmlformats.org/officeDocument/2006/math">
                    <m:nary>
                      <m:naryPr>
                        <m:chr m:val="∯"/>
                        <m:limLoc m:val="undOvr"/>
                        <m:subHide m:val="on"/>
                        <m:supHide m:val="on"/>
                        <m:ctrlPr>
                          <a:rPr lang="de-CH" sz="1600" i="1">
                            <a:latin typeface="Cambria Math" panose="02040503050406030204" pitchFamily="18" charset="0"/>
                          </a:rPr>
                        </m:ctrlPr>
                      </m:naryPr>
                      <m:sub/>
                      <m:sup/>
                      <m:e>
                        <m:acc>
                          <m:accPr>
                            <m:chr m:val="⃗"/>
                            <m:ctrlPr>
                              <a:rPr lang="de-CH" sz="1600" b="0" i="1" smtClean="0">
                                <a:latin typeface="Cambria Math" panose="02040503050406030204" pitchFamily="18" charset="0"/>
                              </a:rPr>
                            </m:ctrlPr>
                          </m:accPr>
                          <m:e>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k</m:t>
                                </m:r>
                              </m:sub>
                            </m:sSub>
                          </m:e>
                        </m:acc>
                        <m:r>
                          <m:rPr>
                            <m:sty m:val="p"/>
                          </m:rPr>
                          <a:rPr lang="de-CH" sz="1600" i="1">
                            <a:latin typeface="Cambria Math" panose="02040503050406030204" pitchFamily="18" charset="0"/>
                          </a:rPr>
                          <m:t>d</m:t>
                        </m:r>
                        <m:acc>
                          <m:accPr>
                            <m:chr m:val="⃗"/>
                            <m:ctrlPr>
                              <a:rPr lang="de-CH" sz="1600" i="1">
                                <a:latin typeface="Cambria Math" panose="02040503050406030204" pitchFamily="18" charset="0"/>
                              </a:rPr>
                            </m:ctrlPr>
                          </m:accPr>
                          <m:e>
                            <m:r>
                              <m:rPr>
                                <m:sty m:val="p"/>
                              </m:rPr>
                              <a:rPr lang="de-CH" sz="1600" i="1">
                                <a:latin typeface="Cambria Math" panose="02040503050406030204" pitchFamily="18" charset="0"/>
                              </a:rPr>
                              <m:t>A</m:t>
                            </m:r>
                          </m:e>
                        </m:acc>
                        <m:r>
                          <a:rPr lang="de-CH" sz="1600" b="0" i="1" smtClean="0">
                            <a:latin typeface="Cambria Math" panose="02040503050406030204" pitchFamily="18" charset="0"/>
                          </a:rPr>
                          <m:t>=</m:t>
                        </m:r>
                      </m:e>
                    </m:nary>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D</m:t>
                        </m:r>
                      </m:e>
                      <m:sub>
                        <m:r>
                          <m:rPr>
                            <m:sty m:val="p"/>
                          </m:rPr>
                          <a:rPr lang="de-CH" sz="1600" i="1">
                            <a:latin typeface="Cambria Math" panose="02040503050406030204" pitchFamily="18" charset="0"/>
                          </a:rPr>
                          <m:t>k</m:t>
                        </m:r>
                      </m:sub>
                    </m:sSub>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A</m:t>
                        </m:r>
                      </m:e>
                      <m:sub>
                        <m:r>
                          <m:rPr>
                            <m:sty m:val="p"/>
                          </m:rPr>
                          <a:rPr lang="de-CH" sz="1600" i="1">
                            <a:latin typeface="Cambria Math" panose="02040503050406030204" pitchFamily="18" charset="0"/>
                          </a:rPr>
                          <m:t>k</m:t>
                        </m:r>
                      </m:sub>
                    </m:sSub>
                  </m:oMath>
                </a14:m>
                <a:r>
                  <a:rPr lang="de-CH" sz="1600" dirty="0"/>
                  <a:t> </a:t>
                </a:r>
              </a:p>
              <a:p>
                <a:pPr lvl="2"/>
                <a:r>
                  <a:rPr lang="de-CH" sz="1200" dirty="0"/>
                  <a:t>(da D-Feld parallel zu vektoriellem Flächenelement und homogen)</a:t>
                </a:r>
              </a:p>
              <a:p>
                <a:pPr lvl="1"/>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U</m:t>
                        </m:r>
                      </m:e>
                      <m:sub>
                        <m:r>
                          <m:rPr>
                            <m:sty m:val="p"/>
                          </m:rPr>
                          <a:rPr lang="de-CH" sz="1600" i="1">
                            <a:latin typeface="Cambria Math" panose="02040503050406030204" pitchFamily="18" charset="0"/>
                          </a:rPr>
                          <m:t>k</m:t>
                        </m:r>
                      </m:sub>
                    </m:sSub>
                    <m:r>
                      <a:rPr lang="de-CH" sz="1600" b="0" i="1" smtClean="0">
                        <a:latin typeface="Cambria Math" panose="02040503050406030204" pitchFamily="18" charset="0"/>
                      </a:rPr>
                      <m:t>=</m:t>
                    </m:r>
                    <m:nary>
                      <m:naryPr>
                        <m:limLoc m:val="undOvr"/>
                        <m:ctrlPr>
                          <a:rPr lang="de-CH" sz="1600" b="0" i="1" smtClean="0">
                            <a:latin typeface="Cambria Math" panose="02040503050406030204" pitchFamily="18" charset="0"/>
                          </a:rPr>
                        </m:ctrlPr>
                      </m:naryPr>
                      <m:sub>
                        <m:r>
                          <m:rPr>
                            <m:brk m:alnAt="24"/>
                          </m:rPr>
                          <a:rPr lang="de-CH" sz="1600" b="0" i="1" smtClean="0">
                            <a:latin typeface="Cambria Math" panose="02040503050406030204" pitchFamily="18" charset="0"/>
                          </a:rPr>
                          <m:t>0</m:t>
                        </m:r>
                      </m:sub>
                      <m:sup>
                        <m:r>
                          <m:rPr>
                            <m:sty m:val="p"/>
                          </m:rPr>
                          <a:rPr lang="de-CH" sz="1600" b="0" i="1" smtClean="0">
                            <a:latin typeface="Cambria Math" panose="02040503050406030204" pitchFamily="18" charset="0"/>
                          </a:rPr>
                          <m:t>d</m:t>
                        </m:r>
                      </m:sup>
                      <m:e>
                        <m:sSub>
                          <m:sSubPr>
                            <m:ctrlPr>
                              <a:rPr lang="de-CH" sz="1600" b="0" i="1" dirty="0" smtClean="0">
                                <a:latin typeface="Cambria Math" panose="02040503050406030204" pitchFamily="18" charset="0"/>
                              </a:rPr>
                            </m:ctrlPr>
                          </m:sSubPr>
                          <m:e>
                            <m:acc>
                              <m:accPr>
                                <m:chr m:val="⃗"/>
                                <m:ctrlPr>
                                  <a:rPr lang="de-CH" sz="1600" b="0" i="1" dirty="0" smtClean="0">
                                    <a:latin typeface="Cambria Math" panose="02040503050406030204" pitchFamily="18" charset="0"/>
                                  </a:rPr>
                                </m:ctrlPr>
                              </m:accPr>
                              <m:e>
                                <m:r>
                                  <m:rPr>
                                    <m:sty m:val="p"/>
                                  </m:rPr>
                                  <a:rPr lang="de-CH" sz="1600" b="0" i="1" dirty="0" smtClean="0">
                                    <a:latin typeface="Cambria Math" panose="02040503050406030204" pitchFamily="18" charset="0"/>
                                  </a:rPr>
                                  <m:t>E</m:t>
                                </m:r>
                              </m:e>
                            </m:acc>
                          </m:e>
                          <m:sub>
                            <m:r>
                              <m:rPr>
                                <m:sty m:val="p"/>
                              </m:rPr>
                              <a:rPr lang="de-CH" sz="1600" b="0" i="1" dirty="0" smtClean="0">
                                <a:latin typeface="Cambria Math" panose="02040503050406030204" pitchFamily="18" charset="0"/>
                              </a:rPr>
                              <m:t>k</m:t>
                            </m:r>
                          </m:sub>
                        </m:sSub>
                        <m:r>
                          <m:rPr>
                            <m:sty m:val="p"/>
                          </m:rPr>
                          <a:rPr lang="de-CH" sz="1600" b="0" i="1" dirty="0" smtClean="0">
                            <a:latin typeface="Cambria Math" panose="02040503050406030204" pitchFamily="18" charset="0"/>
                          </a:rPr>
                          <m:t>d</m:t>
                        </m:r>
                        <m:acc>
                          <m:accPr>
                            <m:chr m:val="⃗"/>
                            <m:ctrlPr>
                              <a:rPr lang="de-CH" sz="1600" b="0" i="1" dirty="0" smtClean="0">
                                <a:latin typeface="Cambria Math" panose="02040503050406030204" pitchFamily="18" charset="0"/>
                              </a:rPr>
                            </m:ctrlPr>
                          </m:accPr>
                          <m:e>
                            <m:r>
                              <m:rPr>
                                <m:sty m:val="p"/>
                              </m:rPr>
                              <a:rPr lang="de-CH" sz="1600" b="0" i="1" dirty="0" smtClean="0">
                                <a:latin typeface="Cambria Math" panose="02040503050406030204" pitchFamily="18" charset="0"/>
                              </a:rPr>
                              <m:t>s</m:t>
                            </m:r>
                          </m:e>
                        </m:acc>
                      </m:e>
                    </m:nary>
                    <m:r>
                      <a:rPr lang="de-CH" sz="1600" b="0" i="1" smtClean="0">
                        <a:latin typeface="Cambria Math" panose="02040503050406030204" pitchFamily="18" charset="0"/>
                      </a:rPr>
                      <m:t>=(</m:t>
                    </m:r>
                    <m:r>
                      <m:rPr>
                        <m:sty m:val="p"/>
                      </m:rPr>
                      <a:rPr lang="de-CH" sz="1600" b="0" i="1" smtClean="0">
                        <a:latin typeface="Cambria Math" panose="02040503050406030204" pitchFamily="18" charset="0"/>
                      </a:rPr>
                      <m:t>U</m:t>
                    </m:r>
                    <m:r>
                      <a:rPr lang="de-CH" sz="1600" b="0" i="0" smtClean="0">
                        <a:latin typeface="Cambria Math" panose="02040503050406030204" pitchFamily="18" charset="0"/>
                      </a:rPr>
                      <m:t>/</m:t>
                    </m:r>
                    <m:r>
                      <m:rPr>
                        <m:sty m:val="p"/>
                      </m:rPr>
                      <a:rPr lang="de-CH" sz="1600" b="0" i="0" smtClean="0">
                        <a:latin typeface="Cambria Math" panose="02040503050406030204" pitchFamily="18" charset="0"/>
                      </a:rPr>
                      <m:t>d</m:t>
                    </m:r>
                    <m:r>
                      <a:rPr lang="de-CH" sz="1600" b="0" i="0" smtClean="0">
                        <a:latin typeface="Cambria Math" panose="02040503050406030204" pitchFamily="18" charset="0"/>
                      </a:rPr>
                      <m:t>)∙</m:t>
                    </m:r>
                    <m:r>
                      <m:rPr>
                        <m:sty m:val="p"/>
                      </m:rPr>
                      <a:rPr lang="de-CH" sz="1600" b="0" i="1" smtClean="0">
                        <a:latin typeface="Cambria Math" panose="02040503050406030204" pitchFamily="18" charset="0"/>
                        <a:ea typeface="Cambria Math" panose="02040503050406030204" pitchFamily="18" charset="0"/>
                      </a:rPr>
                      <m:t>d</m:t>
                    </m:r>
                    <m:r>
                      <a:rPr lang="de-CH" sz="1600" b="0" i="1" smtClean="0">
                        <a:latin typeface="Cambria Math" panose="02040503050406030204" pitchFamily="18" charset="0"/>
                        <a:ea typeface="Cambria Math" panose="02040503050406030204" pitchFamily="18" charset="0"/>
                      </a:rPr>
                      <m:t>=</m:t>
                    </m:r>
                    <m:r>
                      <m:rPr>
                        <m:sty m:val="p"/>
                      </m:rPr>
                      <a:rPr lang="de-CH" sz="1600" b="0" i="1" smtClean="0">
                        <a:latin typeface="Cambria Math" panose="02040503050406030204" pitchFamily="18" charset="0"/>
                        <a:ea typeface="Cambria Math" panose="02040503050406030204" pitchFamily="18" charset="0"/>
                      </a:rPr>
                      <m:t>U</m:t>
                    </m:r>
                  </m:oMath>
                </a14:m>
                <a:endParaRPr lang="de-CH" sz="1600" b="0" dirty="0">
                  <a:ea typeface="Cambria Math" panose="02040503050406030204" pitchFamily="18" charset="0"/>
                </a:endParaRPr>
              </a:p>
              <a:p>
                <a:pPr lvl="2"/>
                <a:r>
                  <a:rPr lang="de-CH" sz="1200" dirty="0"/>
                  <a:t>(da E-Feld parallel zu Weg und homogen)</a:t>
                </a:r>
              </a:p>
              <a:p>
                <a:pPr lvl="1"/>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m:rPr>
                            <m:sty m:val="p"/>
                          </m:rPr>
                          <a:rPr lang="de-CH" sz="1600" i="1">
                            <a:latin typeface="Cambria Math" panose="02040503050406030204" pitchFamily="18" charset="0"/>
                          </a:rPr>
                          <m:t>k</m:t>
                        </m:r>
                      </m:sub>
                    </m:sSub>
                    <m:r>
                      <a:rPr lang="de-CH" sz="1600" b="0" i="1" smtClean="0">
                        <a:latin typeface="Cambria Math" panose="02040503050406030204" pitchFamily="18" charset="0"/>
                      </a:rPr>
                      <m:t>=</m:t>
                    </m:r>
                    <m:f>
                      <m:fPr>
                        <m:ctrlPr>
                          <a:rPr lang="de-CH" sz="1600" i="1">
                            <a:latin typeface="Cambria Math" panose="02040503050406030204" pitchFamily="18" charset="0"/>
                          </a:rPr>
                        </m:ctrlPr>
                      </m:fPr>
                      <m:num>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Q</m:t>
                            </m:r>
                          </m:e>
                          <m:sub>
                            <m:r>
                              <m:rPr>
                                <m:sty m:val="p"/>
                              </m:rPr>
                              <a:rPr lang="de-CH" sz="1600" i="1">
                                <a:latin typeface="Cambria Math" panose="02040503050406030204" pitchFamily="18" charset="0"/>
                              </a:rPr>
                              <m:t>k</m:t>
                            </m:r>
                          </m:sub>
                        </m:sSub>
                      </m:num>
                      <m:den>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U</m:t>
                            </m:r>
                          </m:e>
                          <m:sub>
                            <m:r>
                              <m:rPr>
                                <m:sty m:val="p"/>
                              </m:rPr>
                              <a:rPr lang="de-CH" sz="1600" i="1">
                                <a:latin typeface="Cambria Math" panose="02040503050406030204" pitchFamily="18" charset="0"/>
                              </a:rPr>
                              <m:t>k</m:t>
                            </m:r>
                          </m:sub>
                        </m:sSub>
                      </m:den>
                    </m:f>
                    <m:r>
                      <a:rPr lang="de-CH" sz="1600" b="0" i="1" smtClean="0">
                        <a:latin typeface="Cambria Math" panose="02040503050406030204" pitchFamily="18" charset="0"/>
                      </a:rPr>
                      <m:t>=</m:t>
                    </m:r>
                    <m:f>
                      <m:fPr>
                        <m:ctrlPr>
                          <a:rPr lang="de-CH" sz="1600" i="1">
                            <a:latin typeface="Cambria Math" panose="02040503050406030204" pitchFamily="18" charset="0"/>
                          </a:rPr>
                        </m:ctrlPr>
                      </m:fPr>
                      <m:num>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D</m:t>
                            </m:r>
                          </m:e>
                          <m:sub>
                            <m:r>
                              <m:rPr>
                                <m:sty m:val="p"/>
                              </m:rPr>
                              <a:rPr lang="de-CH" sz="1600" i="1">
                                <a:latin typeface="Cambria Math" panose="02040503050406030204" pitchFamily="18" charset="0"/>
                              </a:rPr>
                              <m:t>k</m:t>
                            </m:r>
                          </m:sub>
                        </m:sSub>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A</m:t>
                            </m:r>
                          </m:e>
                          <m:sub>
                            <m:r>
                              <m:rPr>
                                <m:sty m:val="p"/>
                              </m:rPr>
                              <a:rPr lang="de-CH" sz="1600" i="1">
                                <a:latin typeface="Cambria Math" panose="02040503050406030204" pitchFamily="18" charset="0"/>
                              </a:rPr>
                              <m:t>k</m:t>
                            </m:r>
                          </m:sub>
                        </m:sSub>
                      </m:num>
                      <m:den>
                        <m:r>
                          <m:rPr>
                            <m:sty m:val="p"/>
                          </m:rPr>
                          <a:rPr lang="de-CH" sz="1600" b="0" i="1" smtClean="0">
                            <a:latin typeface="Cambria Math" panose="02040503050406030204" pitchFamily="18" charset="0"/>
                          </a:rPr>
                          <m:t>U</m:t>
                        </m:r>
                      </m:den>
                    </m:f>
                    <m:r>
                      <a:rPr lang="de-CH" sz="1600" b="0" i="1" smtClean="0">
                        <a:latin typeface="Cambria Math" panose="02040503050406030204" pitchFamily="18" charset="0"/>
                      </a:rPr>
                      <m:t>=</m:t>
                    </m:r>
                    <m:f>
                      <m:fPr>
                        <m:ctrlPr>
                          <a:rPr lang="de-CH" sz="1600" i="1" dirty="0">
                            <a:latin typeface="Cambria Math" panose="02040503050406030204" pitchFamily="18" charset="0"/>
                            <a:ea typeface="Cambria Math" panose="02040503050406030204" pitchFamily="18" charset="0"/>
                          </a:rPr>
                        </m:ctrlPr>
                      </m:fPr>
                      <m:num>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k</m:t>
                            </m:r>
                          </m:sub>
                        </m:sSub>
                        <m:r>
                          <m:rPr>
                            <m:sty m:val="p"/>
                          </m:rPr>
                          <a:rPr lang="de-CH" sz="1600" i="1" dirty="0">
                            <a:latin typeface="Cambria Math" panose="02040503050406030204" pitchFamily="18" charset="0"/>
                          </a:rPr>
                          <m:t>U</m:t>
                        </m:r>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A</m:t>
                            </m:r>
                          </m:e>
                          <m:sub>
                            <m:r>
                              <m:rPr>
                                <m:sty m:val="p"/>
                              </m:rPr>
                              <a:rPr lang="de-CH" sz="1600" i="1">
                                <a:latin typeface="Cambria Math" panose="02040503050406030204" pitchFamily="18" charset="0"/>
                              </a:rPr>
                              <m:t>k</m:t>
                            </m:r>
                          </m:sub>
                        </m:sSub>
                      </m:num>
                      <m:den>
                        <m:r>
                          <m:rPr>
                            <m:sty m:val="p"/>
                          </m:rPr>
                          <a:rPr lang="de-CH" sz="1600" i="1" dirty="0">
                            <a:latin typeface="Cambria Math" panose="02040503050406030204" pitchFamily="18" charset="0"/>
                          </a:rPr>
                          <m:t>d</m:t>
                        </m:r>
                        <m:r>
                          <a:rPr lang="de-CH" sz="1600" i="1" dirty="0" smtClean="0">
                            <a:latin typeface="Cambria Math" panose="02040503050406030204" pitchFamily="18" charset="0"/>
                            <a:ea typeface="Cambria Math" panose="02040503050406030204" pitchFamily="18" charset="0"/>
                          </a:rPr>
                          <m:t>∙</m:t>
                        </m:r>
                        <m:r>
                          <m:rPr>
                            <m:sty m:val="p"/>
                          </m:rPr>
                          <a:rPr lang="de-CH" sz="1600" i="1">
                            <a:latin typeface="Cambria Math" panose="02040503050406030204" pitchFamily="18" charset="0"/>
                          </a:rPr>
                          <m:t>U</m:t>
                        </m:r>
                      </m:den>
                    </m:f>
                    <m:r>
                      <a:rPr lang="de-CH" sz="1600" b="0" i="1"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k</m:t>
                        </m:r>
                      </m:sub>
                    </m:sSub>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A</m:t>
                        </m:r>
                      </m:e>
                      <m:sub>
                        <m:r>
                          <m:rPr>
                            <m:sty m:val="p"/>
                          </m:rPr>
                          <a:rPr lang="de-CH" sz="1600" i="1">
                            <a:latin typeface="Cambria Math" panose="02040503050406030204" pitchFamily="18" charset="0"/>
                          </a:rPr>
                          <m:t>k</m:t>
                        </m:r>
                      </m:sub>
                    </m:sSub>
                    <m:r>
                      <a:rPr lang="de-CH" sz="1600" b="0" i="1" smtClean="0">
                        <a:latin typeface="Cambria Math" panose="02040503050406030204" pitchFamily="18" charset="0"/>
                      </a:rPr>
                      <m:t> / </m:t>
                    </m:r>
                    <m:r>
                      <m:rPr>
                        <m:sty m:val="p"/>
                      </m:rPr>
                      <a:rPr lang="de-CH" sz="1600" b="0" i="1" smtClean="0">
                        <a:latin typeface="Cambria Math" panose="02040503050406030204" pitchFamily="18" charset="0"/>
                      </a:rPr>
                      <m:t>d</m:t>
                    </m:r>
                  </m:oMath>
                </a14:m>
                <a:endParaRPr lang="de-CH" sz="1600" dirty="0"/>
              </a:p>
              <a:p>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m:rPr>
                            <m:sty m:val="p"/>
                          </m:rPr>
                          <a:rPr lang="de-CH" sz="1600" b="0" i="1" smtClean="0">
                            <a:latin typeface="Cambria Math" panose="02040503050406030204" pitchFamily="18" charset="0"/>
                          </a:rPr>
                          <m:t>ges</m:t>
                        </m:r>
                      </m:sub>
                    </m:sSub>
                    <m:r>
                      <a:rPr lang="de-CH" sz="1600" b="0" i="1" smtClean="0">
                        <a:latin typeface="Cambria Math" panose="02040503050406030204" pitchFamily="18" charset="0"/>
                      </a:rPr>
                      <m:t>=</m:t>
                    </m:r>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b="0" i="1" smtClean="0">
                            <a:latin typeface="Cambria Math" panose="02040503050406030204" pitchFamily="18" charset="0"/>
                          </a:rPr>
                          <m:t>1</m:t>
                        </m:r>
                      </m:sub>
                    </m:sSub>
                    <m:r>
                      <a:rPr lang="de-CH" sz="1600" b="0" i="1" smtClean="0">
                        <a:latin typeface="Cambria Math" panose="02040503050406030204" pitchFamily="18" charset="0"/>
                      </a:rPr>
                      <m:t>+</m:t>
                    </m:r>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b="0" i="1" smtClean="0">
                            <a:latin typeface="Cambria Math" panose="02040503050406030204" pitchFamily="18" charset="0"/>
                          </a:rPr>
                          <m:t>2</m:t>
                        </m:r>
                      </m:sub>
                    </m:sSub>
                    <m:r>
                      <a:rPr lang="de-CH" sz="1600" b="0" i="1" smtClean="0">
                        <a:latin typeface="Cambria Math" panose="02040503050406030204" pitchFamily="18" charset="0"/>
                      </a:rPr>
                      <m:t>=</m:t>
                    </m:r>
                    <m:f>
                      <m:fPr>
                        <m:ctrlPr>
                          <a:rPr lang="de-CH" sz="1600" i="1" dirty="0">
                            <a:latin typeface="Cambria Math" panose="02040503050406030204" pitchFamily="18" charset="0"/>
                            <a:ea typeface="Cambria Math" panose="02040503050406030204" pitchFamily="18" charset="0"/>
                          </a:rPr>
                        </m:ctrlPr>
                      </m:fPr>
                      <m:num>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b="0" i="1" dirty="0" smtClean="0">
                                <a:latin typeface="Cambria Math" panose="02040503050406030204" pitchFamily="18" charset="0"/>
                              </a:rPr>
                              <m:t>1</m:t>
                            </m:r>
                          </m:sub>
                        </m:sSub>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A</m:t>
                            </m:r>
                          </m:e>
                          <m:sub>
                            <m:r>
                              <a:rPr lang="de-CH" sz="1600" b="0" i="1" smtClean="0">
                                <a:latin typeface="Cambria Math" panose="02040503050406030204" pitchFamily="18" charset="0"/>
                              </a:rPr>
                              <m:t>1</m:t>
                            </m:r>
                          </m:sub>
                        </m:sSub>
                        <m:r>
                          <a:rPr lang="de-CH" sz="1600" b="0" i="1"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a:rPr lang="de-CH" sz="1600" b="0" i="1" dirty="0" smtClean="0">
                                <a:latin typeface="Cambria Math" panose="02040503050406030204" pitchFamily="18" charset="0"/>
                              </a:rPr>
                              <m:t>2</m:t>
                            </m:r>
                          </m:sub>
                        </m:sSub>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A</m:t>
                            </m:r>
                          </m:e>
                          <m:sub>
                            <m:r>
                              <a:rPr lang="de-CH" sz="1600" b="0" i="1" smtClean="0">
                                <a:latin typeface="Cambria Math" panose="02040503050406030204" pitchFamily="18" charset="0"/>
                              </a:rPr>
                              <m:t>2</m:t>
                            </m:r>
                          </m:sub>
                        </m:sSub>
                      </m:num>
                      <m:den>
                        <m:r>
                          <m:rPr>
                            <m:sty m:val="p"/>
                          </m:rPr>
                          <a:rPr lang="de-CH" sz="1600" b="0" i="1" smtClean="0">
                            <a:latin typeface="Cambria Math" panose="02040503050406030204" pitchFamily="18" charset="0"/>
                          </a:rPr>
                          <m:t>d</m:t>
                        </m:r>
                      </m:den>
                    </m:f>
                  </m:oMath>
                </a14:m>
                <a:r>
                  <a:rPr lang="de-CH" sz="1600" dirty="0"/>
                  <a:t> (parallel geschaltete Kondensatoren)</a:t>
                </a:r>
              </a:p>
            </p:txBody>
          </p:sp>
        </mc:Choice>
        <mc:Fallback xmlns="">
          <p:sp>
            <p:nvSpPr>
              <p:cNvPr id="8" name="Content Placeholder 2">
                <a:extLst>
                  <a:ext uri="{FF2B5EF4-FFF2-40B4-BE49-F238E27FC236}">
                    <a16:creationId xmlns:a16="http://schemas.microsoft.com/office/drawing/2014/main" id="{DB833C10-58E1-FD42-7CEC-5A3FC5F8FB0B}"/>
                  </a:ext>
                </a:extLst>
              </p:cNvPr>
              <p:cNvSpPr txBox="1">
                <a:spLocks noRot="1" noChangeAspect="1" noMove="1" noResize="1" noEditPoints="1" noAdjustHandles="1" noChangeArrowheads="1" noChangeShapeType="1" noTextEdit="1"/>
              </p:cNvSpPr>
              <p:nvPr/>
            </p:nvSpPr>
            <p:spPr>
              <a:xfrm>
                <a:off x="731836" y="1412875"/>
                <a:ext cx="6214874" cy="4860000"/>
              </a:xfrm>
              <a:prstGeom prst="rect">
                <a:avLst/>
              </a:prstGeom>
              <a:blipFill>
                <a:blip r:embed="rId4"/>
                <a:stretch>
                  <a:fillRect l="-1961" t="-1380"/>
                </a:stretch>
              </a:blipFill>
            </p:spPr>
            <p:txBody>
              <a:bodyPr/>
              <a:lstStyle/>
              <a:p>
                <a:r>
                  <a:rPr lang="de-CH">
                    <a:noFill/>
                  </a:rPr>
                  <a:t> </a:t>
                </a:r>
              </a:p>
            </p:txBody>
          </p:sp>
        </mc:Fallback>
      </mc:AlternateContent>
      <p:pic>
        <p:nvPicPr>
          <p:cNvPr id="9" name="Picture 8">
            <a:extLst>
              <a:ext uri="{FF2B5EF4-FFF2-40B4-BE49-F238E27FC236}">
                <a16:creationId xmlns:a16="http://schemas.microsoft.com/office/drawing/2014/main" id="{0EC674FE-B97D-BC76-A662-9F1B9DA829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35106" y="4143344"/>
            <a:ext cx="1652147" cy="1502877"/>
          </a:xfrm>
          <a:prstGeom prst="rect">
            <a:avLst/>
          </a:prstGeom>
        </p:spPr>
      </p:pic>
    </p:spTree>
    <p:extLst>
      <p:ext uri="{BB962C8B-B14F-4D97-AF65-F5344CB8AC3E}">
        <p14:creationId xmlns:p14="http://schemas.microsoft.com/office/powerpoint/2010/main" val="396782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398E6-7AF4-E146-1EB0-B27A30AAD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A0CA0-177B-9353-6299-013A7D3112E8}"/>
              </a:ext>
            </a:extLst>
          </p:cNvPr>
          <p:cNvSpPr>
            <a:spLocks noGrp="1"/>
          </p:cNvSpPr>
          <p:nvPr>
            <p:ph type="title"/>
          </p:nvPr>
        </p:nvSpPr>
        <p:spPr/>
        <p:txBody>
          <a:bodyPr/>
          <a:lstStyle/>
          <a:p>
            <a:r>
              <a:rPr lang="de-CH" noProof="0" dirty="0"/>
              <a:t>Beispiel 3b – Kapazität und Kondensatornetzwerke</a:t>
            </a:r>
          </a:p>
        </p:txBody>
      </p:sp>
      <p:sp>
        <p:nvSpPr>
          <p:cNvPr id="3" name="Content Placeholder 2">
            <a:extLst>
              <a:ext uri="{FF2B5EF4-FFF2-40B4-BE49-F238E27FC236}">
                <a16:creationId xmlns:a16="http://schemas.microsoft.com/office/drawing/2014/main" id="{11A64881-17C2-B6D1-448B-65974A93894D}"/>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Kapazität und einfache Kondensatornetzwerke</a:t>
            </a:r>
            <a:endParaRPr lang="de-CH" noProof="0" dirty="0"/>
          </a:p>
        </p:txBody>
      </p:sp>
      <p:sp>
        <p:nvSpPr>
          <p:cNvPr id="4" name="Date Placeholder 3">
            <a:extLst>
              <a:ext uri="{FF2B5EF4-FFF2-40B4-BE49-F238E27FC236}">
                <a16:creationId xmlns:a16="http://schemas.microsoft.com/office/drawing/2014/main" id="{AB732089-3FA0-32AE-A2D2-0BF3C53453A2}"/>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3BB3D6A2-0354-18EB-3FBE-5C6CB8F2C68C}"/>
              </a:ext>
            </a:extLst>
          </p:cNvPr>
          <p:cNvSpPr>
            <a:spLocks noGrp="1"/>
          </p:cNvSpPr>
          <p:nvPr>
            <p:ph type="sldNum" sz="quarter" idx="12"/>
          </p:nvPr>
        </p:nvSpPr>
        <p:spPr/>
        <p:txBody>
          <a:bodyPr/>
          <a:lstStyle/>
          <a:p>
            <a:fld id="{5ACA52AF-F19D-405C-AD5F-7D94B96A5CC3}" type="slidenum">
              <a:rPr lang="de-CH" noProof="0" smtClean="0"/>
              <a:t>15</a:t>
            </a:fld>
            <a:endParaRPr lang="de-CH" noProof="0" dirty="0"/>
          </a:p>
        </p:txBody>
      </p:sp>
      <p:pic>
        <p:nvPicPr>
          <p:cNvPr id="6" name="Picture Placeholder 7">
            <a:extLst>
              <a:ext uri="{FF2B5EF4-FFF2-40B4-BE49-F238E27FC236}">
                <a16:creationId xmlns:a16="http://schemas.microsoft.com/office/drawing/2014/main" id="{97E8FED5-19D1-016D-9FB2-AD133E17201D}"/>
              </a:ext>
            </a:extLst>
          </p:cNvPr>
          <p:cNvPicPr>
            <a:picLocks noChangeAspect="1"/>
          </p:cNvPicPr>
          <p:nvPr/>
        </p:nvPicPr>
        <p:blipFill>
          <a:blip r:embed="rId2">
            <a:extLst>
              <a:ext uri="{28A0092B-C50C-407E-A947-70E740481C1C}">
                <a14:useLocalDpi xmlns:a14="http://schemas.microsoft.com/office/drawing/2010/main" val="0"/>
              </a:ext>
            </a:extLst>
          </a:blip>
          <a:srcRect l="48890" t="730" r="28655" b="730"/>
          <a:stretch>
            <a:fillRect/>
          </a:stretch>
        </p:blipFill>
        <p:spPr>
          <a:xfrm>
            <a:off x="9305292" y="3321084"/>
            <a:ext cx="2336800" cy="3076575"/>
          </a:xfrm>
          <a:prstGeom prst="rect">
            <a:avLst/>
          </a:prstGeom>
        </p:spPr>
      </p:pic>
      <p:sp>
        <p:nvSpPr>
          <p:cNvPr id="8" name="Content Placeholder 2">
            <a:extLst>
              <a:ext uri="{FF2B5EF4-FFF2-40B4-BE49-F238E27FC236}">
                <a16:creationId xmlns:a16="http://schemas.microsoft.com/office/drawing/2014/main" id="{F54034C2-A7A9-679C-2491-E81A140CD98B}"/>
              </a:ext>
            </a:extLst>
          </p:cNvPr>
          <p:cNvSpPr txBox="1">
            <a:spLocks/>
          </p:cNvSpPr>
          <p:nvPr/>
        </p:nvSpPr>
        <p:spPr>
          <a:xfrm>
            <a:off x="731837" y="1412875"/>
            <a:ext cx="5256000"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t>
            </a:r>
            <a:r>
              <a:rPr lang="de-CH" sz="1600" i="1" dirty="0"/>
              <a:t>C</a:t>
            </a:r>
            <a:r>
              <a:rPr lang="de-CH" sz="1600" baseline="-25000" dirty="0"/>
              <a:t>1</a:t>
            </a:r>
            <a:r>
              <a:rPr lang="de-CH" sz="1600" i="1" baseline="-25000" dirty="0"/>
              <a:t> </a:t>
            </a:r>
            <a:r>
              <a:rPr lang="de-CH" sz="1600" dirty="0"/>
              <a:t>und </a:t>
            </a:r>
            <a:r>
              <a:rPr lang="de-CH" sz="1600" i="1" dirty="0"/>
              <a:t>C</a:t>
            </a:r>
            <a:r>
              <a:rPr lang="de-CH" sz="1600" baseline="-25000" dirty="0"/>
              <a:t>2</a:t>
            </a:r>
            <a:r>
              <a:rPr lang="de-CH" sz="1600" i="1" dirty="0"/>
              <a:t>, </a:t>
            </a:r>
          </a:p>
          <a:p>
            <a:pPr marL="0" indent="0">
              <a:buNone/>
            </a:pPr>
            <a:r>
              <a:rPr lang="de-CH" sz="1600" dirty="0"/>
              <a:t>Zeichnet das Kondensatornetzwerk und berechnet die Gesamtkapazität zwischen den Platten</a:t>
            </a:r>
          </a:p>
        </p:txBody>
      </p:sp>
    </p:spTree>
    <p:extLst>
      <p:ext uri="{BB962C8B-B14F-4D97-AF65-F5344CB8AC3E}">
        <p14:creationId xmlns:p14="http://schemas.microsoft.com/office/powerpoint/2010/main" val="708542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84E2C-FAA2-1CA5-297A-764A12EF0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81394-4B67-A40A-1E11-C58B4EE2E4A0}"/>
              </a:ext>
            </a:extLst>
          </p:cNvPr>
          <p:cNvSpPr>
            <a:spLocks noGrp="1"/>
          </p:cNvSpPr>
          <p:nvPr>
            <p:ph type="title"/>
          </p:nvPr>
        </p:nvSpPr>
        <p:spPr/>
        <p:txBody>
          <a:bodyPr/>
          <a:lstStyle/>
          <a:p>
            <a:r>
              <a:rPr lang="de-CH" noProof="0" dirty="0"/>
              <a:t>Beispiel 3b – Kapazität und Kondensatornetzwerke – Lösung</a:t>
            </a:r>
          </a:p>
        </p:txBody>
      </p:sp>
      <p:sp>
        <p:nvSpPr>
          <p:cNvPr id="3" name="Content Placeholder 2">
            <a:extLst>
              <a:ext uri="{FF2B5EF4-FFF2-40B4-BE49-F238E27FC236}">
                <a16:creationId xmlns:a16="http://schemas.microsoft.com/office/drawing/2014/main" id="{8BF5207B-FA41-40EF-7501-8D18FC21D644}"/>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Die Kapazität und einfache Kondensatornetzwerke</a:t>
            </a:r>
            <a:endParaRPr lang="de-CH" noProof="0" dirty="0"/>
          </a:p>
        </p:txBody>
      </p:sp>
      <p:sp>
        <p:nvSpPr>
          <p:cNvPr id="4" name="Date Placeholder 3">
            <a:extLst>
              <a:ext uri="{FF2B5EF4-FFF2-40B4-BE49-F238E27FC236}">
                <a16:creationId xmlns:a16="http://schemas.microsoft.com/office/drawing/2014/main" id="{F0D89C38-DBBE-6AE6-90C8-05526DCC01F4}"/>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444C2D88-3C9F-7D40-B222-E663504622E4}"/>
              </a:ext>
            </a:extLst>
          </p:cNvPr>
          <p:cNvSpPr>
            <a:spLocks noGrp="1"/>
          </p:cNvSpPr>
          <p:nvPr>
            <p:ph type="sldNum" sz="quarter" idx="12"/>
          </p:nvPr>
        </p:nvSpPr>
        <p:spPr/>
        <p:txBody>
          <a:bodyPr/>
          <a:lstStyle/>
          <a:p>
            <a:fld id="{5ACA52AF-F19D-405C-AD5F-7D94B96A5CC3}" type="slidenum">
              <a:rPr lang="de-CH" noProof="0" smtClean="0"/>
              <a:t>16</a:t>
            </a:fld>
            <a:endParaRPr lang="de-CH" noProof="0" dirty="0"/>
          </a:p>
        </p:txBody>
      </p:sp>
      <p:pic>
        <p:nvPicPr>
          <p:cNvPr id="6" name="Picture Placeholder 7">
            <a:extLst>
              <a:ext uri="{FF2B5EF4-FFF2-40B4-BE49-F238E27FC236}">
                <a16:creationId xmlns:a16="http://schemas.microsoft.com/office/drawing/2014/main" id="{7C98FF75-1D64-17BC-164F-4DAFFE3080F1}"/>
              </a:ext>
            </a:extLst>
          </p:cNvPr>
          <p:cNvPicPr>
            <a:picLocks noChangeAspect="1"/>
          </p:cNvPicPr>
          <p:nvPr/>
        </p:nvPicPr>
        <p:blipFill>
          <a:blip r:embed="rId2">
            <a:extLst>
              <a:ext uri="{28A0092B-C50C-407E-A947-70E740481C1C}">
                <a14:useLocalDpi xmlns:a14="http://schemas.microsoft.com/office/drawing/2010/main" val="0"/>
              </a:ext>
            </a:extLst>
          </a:blip>
          <a:srcRect l="48890" t="730" r="28655" b="730"/>
          <a:stretch>
            <a:fillRect/>
          </a:stretch>
        </p:blipFill>
        <p:spPr>
          <a:xfrm>
            <a:off x="9305292" y="3321084"/>
            <a:ext cx="2336800" cy="3076575"/>
          </a:xfrm>
          <a:prstGeom prst="rect">
            <a:avLst/>
          </a:prstGeom>
        </p:spPr>
      </p:pic>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4100E7C-2211-6C86-2ECF-188F94E9892F}"/>
                  </a:ext>
                </a:extLst>
              </p:cNvPr>
              <p:cNvSpPr txBox="1">
                <a:spLocks/>
              </p:cNvSpPr>
              <p:nvPr/>
            </p:nvSpPr>
            <p:spPr>
              <a:xfrm>
                <a:off x="731837" y="1412875"/>
                <a:ext cx="5256000"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t>
                </a:r>
                <a:r>
                  <a:rPr lang="de-CH" sz="1600" i="1" dirty="0"/>
                  <a:t>C</a:t>
                </a:r>
                <a:r>
                  <a:rPr lang="de-CH" sz="1600" baseline="-25000" dirty="0"/>
                  <a:t>1</a:t>
                </a:r>
                <a:r>
                  <a:rPr lang="de-CH" sz="1600" i="1" baseline="-25000" dirty="0"/>
                  <a:t> </a:t>
                </a:r>
                <a:r>
                  <a:rPr lang="de-CH" sz="1600" dirty="0"/>
                  <a:t>und </a:t>
                </a:r>
                <a:r>
                  <a:rPr lang="de-CH" sz="1600" i="1" dirty="0"/>
                  <a:t>C</a:t>
                </a:r>
                <a:r>
                  <a:rPr lang="de-CH" sz="1600" baseline="-25000" dirty="0"/>
                  <a:t>2</a:t>
                </a:r>
                <a:r>
                  <a:rPr lang="de-CH" sz="1600" i="1" dirty="0"/>
                  <a:t>, </a:t>
                </a:r>
              </a:p>
              <a:p>
                <a:pPr marL="0" indent="0">
                  <a:buNone/>
                </a:pPr>
                <a:r>
                  <a:rPr lang="de-CH" sz="1600" dirty="0"/>
                  <a:t>Zeichnet das Kondensatornetzwerk und berechnet die Gesamtkapazität zwischen den Platten</a:t>
                </a:r>
              </a:p>
              <a:p>
                <a:endParaRPr lang="de-CH" sz="1600" dirty="0"/>
              </a:p>
              <a:p>
                <a:pPr marL="0" indent="0">
                  <a:buNone/>
                </a:pPr>
                <a14:m>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m:rPr>
                            <m:sty m:val="p"/>
                          </m:rPr>
                          <a:rPr lang="de-CH" sz="1600" i="1">
                            <a:latin typeface="Cambria Math" panose="02040503050406030204" pitchFamily="18" charset="0"/>
                          </a:rPr>
                          <m:t>ges</m:t>
                        </m:r>
                      </m:sub>
                    </m:sSub>
                    <m:r>
                      <a:rPr lang="de-CH" sz="1600" i="1">
                        <a:latin typeface="Cambria Math" panose="02040503050406030204" pitchFamily="18" charset="0"/>
                      </a:rPr>
                      <m:t>=</m:t>
                    </m:r>
                    <m:f>
                      <m:fPr>
                        <m:ctrlPr>
                          <a:rPr lang="de-CH" sz="1600" i="1">
                            <a:latin typeface="Cambria Math" panose="02040503050406030204" pitchFamily="18" charset="0"/>
                          </a:rPr>
                        </m:ctrlPr>
                      </m:fPr>
                      <m:num>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i="1">
                                <a:latin typeface="Cambria Math" panose="02040503050406030204" pitchFamily="18" charset="0"/>
                              </a:rPr>
                              <m:t>1</m:t>
                            </m:r>
                          </m:sub>
                        </m:sSub>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i="1">
                                <a:latin typeface="Cambria Math" panose="02040503050406030204" pitchFamily="18" charset="0"/>
                              </a:rPr>
                              <m:t>2</m:t>
                            </m:r>
                          </m:sub>
                        </m:sSub>
                      </m:num>
                      <m:den>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i="1">
                                <a:latin typeface="Cambria Math" panose="02040503050406030204" pitchFamily="18" charset="0"/>
                              </a:rPr>
                              <m:t>1</m:t>
                            </m:r>
                          </m:sub>
                        </m:sSub>
                        <m:r>
                          <a:rPr lang="de-CH" sz="1600" i="1">
                            <a:latin typeface="Cambria Math" panose="02040503050406030204" pitchFamily="18" charset="0"/>
                          </a:rPr>
                          <m:t>+</m:t>
                        </m:r>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C</m:t>
                            </m:r>
                          </m:e>
                          <m:sub>
                            <m:r>
                              <a:rPr lang="de-CH" sz="1600" i="1">
                                <a:latin typeface="Cambria Math" panose="02040503050406030204" pitchFamily="18" charset="0"/>
                              </a:rPr>
                              <m:t>2</m:t>
                            </m:r>
                          </m:sub>
                        </m:sSub>
                      </m:den>
                    </m:f>
                  </m:oMath>
                </a14:m>
                <a:r>
                  <a:rPr lang="de-CH" sz="1600" dirty="0"/>
                  <a:t> (in Serie geschaltete Kondensatoren)</a:t>
                </a:r>
              </a:p>
            </p:txBody>
          </p:sp>
        </mc:Choice>
        <mc:Fallback xmlns="">
          <p:sp>
            <p:nvSpPr>
              <p:cNvPr id="8" name="Content Placeholder 2">
                <a:extLst>
                  <a:ext uri="{FF2B5EF4-FFF2-40B4-BE49-F238E27FC236}">
                    <a16:creationId xmlns:a16="http://schemas.microsoft.com/office/drawing/2014/main" id="{74100E7C-2211-6C86-2ECF-188F94E9892F}"/>
                  </a:ext>
                </a:extLst>
              </p:cNvPr>
              <p:cNvSpPr txBox="1">
                <a:spLocks noRot="1" noChangeAspect="1" noMove="1" noResize="1" noEditPoints="1" noAdjustHandles="1" noChangeArrowheads="1" noChangeShapeType="1" noTextEdit="1"/>
              </p:cNvSpPr>
              <p:nvPr/>
            </p:nvSpPr>
            <p:spPr>
              <a:xfrm>
                <a:off x="731837" y="1412875"/>
                <a:ext cx="5256000" cy="4860000"/>
              </a:xfrm>
              <a:prstGeom prst="rect">
                <a:avLst/>
              </a:prstGeom>
              <a:blipFill>
                <a:blip r:embed="rId3"/>
                <a:stretch>
                  <a:fillRect l="-2320" t="-1380"/>
                </a:stretch>
              </a:blipFill>
            </p:spPr>
            <p:txBody>
              <a:bodyPr/>
              <a:lstStyle/>
              <a:p>
                <a:r>
                  <a:rPr lang="de-CH">
                    <a:noFill/>
                  </a:rPr>
                  <a:t> </a:t>
                </a:r>
              </a:p>
            </p:txBody>
          </p:sp>
        </mc:Fallback>
      </mc:AlternateContent>
      <p:pic>
        <p:nvPicPr>
          <p:cNvPr id="9" name="Picture 8">
            <a:extLst>
              <a:ext uri="{FF2B5EF4-FFF2-40B4-BE49-F238E27FC236}">
                <a16:creationId xmlns:a16="http://schemas.microsoft.com/office/drawing/2014/main" id="{1336456C-0A54-E0FC-3DDC-AA9B302FC9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3920" y="3572342"/>
            <a:ext cx="1801372" cy="2700533"/>
          </a:xfrm>
          <a:prstGeom prst="rect">
            <a:avLst/>
          </a:prstGeom>
        </p:spPr>
      </p:pic>
    </p:spTree>
    <p:extLst>
      <p:ext uri="{BB962C8B-B14F-4D97-AF65-F5344CB8AC3E}">
        <p14:creationId xmlns:p14="http://schemas.microsoft.com/office/powerpoint/2010/main" val="110506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C64FE-A596-5A70-3789-76DF03DA2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E1238-F0B8-7D29-E85F-86F23655772E}"/>
              </a:ext>
            </a:extLst>
          </p:cNvPr>
          <p:cNvSpPr>
            <a:spLocks noGrp="1"/>
          </p:cNvSpPr>
          <p:nvPr>
            <p:ph type="title"/>
          </p:nvPr>
        </p:nvSpPr>
        <p:spPr/>
        <p:txBody>
          <a:bodyPr/>
          <a:lstStyle/>
          <a:p>
            <a:r>
              <a:rPr lang="de-CH" dirty="0"/>
              <a:t>Beispiel 4 – Energieinhalt des elektrischen Feldes</a:t>
            </a:r>
            <a:endParaRPr lang="de-CH" noProof="0" dirty="0"/>
          </a:p>
        </p:txBody>
      </p:sp>
      <p:sp>
        <p:nvSpPr>
          <p:cNvPr id="3" name="Content Placeholder 2">
            <a:extLst>
              <a:ext uri="{FF2B5EF4-FFF2-40B4-BE49-F238E27FC236}">
                <a16:creationId xmlns:a16="http://schemas.microsoft.com/office/drawing/2014/main" id="{5A512DCB-12C6-B834-516E-8AF45B7F2666}"/>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Energieinhalt des elektrischen Feldes</a:t>
            </a:r>
          </a:p>
        </p:txBody>
      </p:sp>
      <p:sp>
        <p:nvSpPr>
          <p:cNvPr id="4" name="Date Placeholder 3">
            <a:extLst>
              <a:ext uri="{FF2B5EF4-FFF2-40B4-BE49-F238E27FC236}">
                <a16:creationId xmlns:a16="http://schemas.microsoft.com/office/drawing/2014/main" id="{DF334C11-DF76-53B6-B0ED-CDEC7BBD94DA}"/>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C830EFEB-7AF8-5C2C-E1B5-8D560BB20A69}"/>
              </a:ext>
            </a:extLst>
          </p:cNvPr>
          <p:cNvSpPr>
            <a:spLocks noGrp="1"/>
          </p:cNvSpPr>
          <p:nvPr>
            <p:ph type="sldNum" sz="quarter" idx="12"/>
          </p:nvPr>
        </p:nvSpPr>
        <p:spPr/>
        <p:txBody>
          <a:bodyPr/>
          <a:lstStyle/>
          <a:p>
            <a:fld id="{5ACA52AF-F19D-405C-AD5F-7D94B96A5CC3}" type="slidenum">
              <a:rPr lang="de-CH" noProof="0" smtClean="0"/>
              <a:t>17</a:t>
            </a:fld>
            <a:endParaRPr lang="de-CH" noProof="0" dirty="0"/>
          </a:p>
        </p:txBody>
      </p:sp>
      <p:pic>
        <p:nvPicPr>
          <p:cNvPr id="6" name="Picture Placeholder 7">
            <a:extLst>
              <a:ext uri="{FF2B5EF4-FFF2-40B4-BE49-F238E27FC236}">
                <a16:creationId xmlns:a16="http://schemas.microsoft.com/office/drawing/2014/main" id="{ED5CB53E-C8BF-74C1-D267-587EAD097C9A}"/>
              </a:ext>
            </a:extLst>
          </p:cNvPr>
          <p:cNvPicPr>
            <a:picLocks noChangeAspect="1"/>
          </p:cNvPicPr>
          <p:nvPr/>
        </p:nvPicPr>
        <p:blipFill>
          <a:blip r:embed="rId3">
            <a:extLst>
              <a:ext uri="{28A0092B-C50C-407E-A947-70E740481C1C}">
                <a14:useLocalDpi xmlns:a14="http://schemas.microsoft.com/office/drawing/2010/main" val="0"/>
              </a:ext>
            </a:extLst>
          </a:blip>
          <a:srcRect t="730" r="56338" b="730"/>
          <a:stretch>
            <a:fillRect/>
          </a:stretch>
        </p:blipFill>
        <p:spPr>
          <a:xfrm>
            <a:off x="6236145" y="3321084"/>
            <a:ext cx="4543547" cy="3076575"/>
          </a:xfrm>
          <a:prstGeom prst="rect">
            <a:avLst/>
          </a:prstGeom>
        </p:spPr>
      </p:pic>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5E28CEA2-4DDC-40FC-D6CD-F7B3F1DCD481}"/>
                  </a:ext>
                </a:extLst>
              </p:cNvPr>
              <p:cNvSpPr txBox="1">
                <a:spLocks/>
              </p:cNvSpPr>
              <p:nvPr/>
            </p:nvSpPr>
            <p:spPr>
              <a:xfrm>
                <a:off x="731836" y="1412875"/>
                <a:ext cx="5632749"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Abstand </a:t>
                </a:r>
                <a:r>
                  <a:rPr lang="de-CH" sz="1600" i="1" dirty="0"/>
                  <a:t>d,</a:t>
                </a:r>
                <a:r>
                  <a:rPr lang="de-CH" sz="1600" dirty="0"/>
                  <a:t> Flächen </a:t>
                </a:r>
                <a:r>
                  <a:rPr lang="de-CH" sz="1600" i="1" dirty="0"/>
                  <a:t>A</a:t>
                </a:r>
                <a:r>
                  <a:rPr lang="de-CH" sz="1600" baseline="-25000" dirty="0"/>
                  <a:t>1</a:t>
                </a:r>
                <a:r>
                  <a:rPr lang="de-CH" sz="1600" i="1" dirty="0"/>
                  <a:t>/A</a:t>
                </a:r>
                <a:r>
                  <a:rPr lang="de-CH" sz="1600" baseline="-25000" dirty="0"/>
                  <a:t>2</a:t>
                </a:r>
                <a:r>
                  <a:rPr lang="de-CH" sz="1600" i="1" dirty="0"/>
                  <a:t>, </a:t>
                </a:r>
                <a:r>
                  <a:rPr lang="de-CH" sz="1600" dirty="0"/>
                  <a:t>Spannung </a:t>
                </a:r>
                <a:r>
                  <a:rPr lang="de-CH" sz="1600" i="1" dirty="0"/>
                  <a:t>U:</a:t>
                </a:r>
              </a:p>
              <a:p>
                <a14:m>
                  <m:oMath xmlns:m="http://schemas.openxmlformats.org/officeDocument/2006/math">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1</m:t>
                        </m:r>
                      </m:sub>
                    </m:sSub>
                    <m:r>
                      <a:rPr lang="de-CH" sz="1600" b="0" i="1" dirty="0" smtClean="0">
                        <a:latin typeface="Cambria Math" panose="02040503050406030204" pitchFamily="18" charset="0"/>
                      </a:rPr>
                      <m:t>=</m:t>
                    </m:r>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2</m:t>
                        </m:r>
                      </m:sub>
                    </m:sSub>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i="1" dirty="0"/>
              </a:p>
              <a:p>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sSub>
                      <m:sSubPr>
                        <m:ctrlPr>
                          <a:rPr lang="de-CH" sz="1600" i="1" dirty="0" smtClean="0">
                            <a:latin typeface="Cambria Math" panose="02040503050406030204" pitchFamily="18" charset="0"/>
                            <a:ea typeface="Cambria Math" panose="02040503050406030204" pitchFamily="18" charset="0"/>
                          </a:rPr>
                        </m:ctrlPr>
                      </m:sSubPr>
                      <m:e>
                        <m:sSub>
                          <m:sSubPr>
                            <m:ctrlPr>
                              <a:rPr lang="de-CH" sz="1600" i="1" dirty="0" smtClean="0">
                                <a:latin typeface="Cambria Math" panose="02040503050406030204" pitchFamily="18" charset="0"/>
                                <a:ea typeface="Cambria Math" panose="02040503050406030204" pitchFamily="18" charset="0"/>
                              </a:rPr>
                            </m:ctrlPr>
                          </m:sSubPr>
                          <m:e>
                            <m:r>
                              <a:rPr lang="de-CH" sz="1600" i="1" dirty="0" smtClean="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i="1" dirty="0">
                            <a:latin typeface="Cambria Math" panose="02040503050406030204" pitchFamily="18" charset="0"/>
                          </a:rPr>
                          <m:t>E</m:t>
                        </m:r>
                      </m:e>
                      <m:sub>
                        <m:r>
                          <m:rPr>
                            <m:sty m:val="p"/>
                          </m:rPr>
                          <a:rPr lang="de-CH" sz="1600" b="0" i="1" dirty="0" smtClean="0">
                            <a:latin typeface="Cambria Math" panose="02040503050406030204" pitchFamily="18" charset="0"/>
                          </a:rPr>
                          <m:t>k</m:t>
                        </m:r>
                      </m:sub>
                    </m:sSub>
                    <m:r>
                      <a:rPr lang="de-CH" sz="1600" b="0" i="1" dirty="0"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b="0" i="1" dirty="0"/>
              </a:p>
              <a:p>
                <a:pPr marL="0" indent="0">
                  <a:buNone/>
                </a:pPr>
                <a:r>
                  <a:rPr lang="de-CH" sz="1600" dirty="0"/>
                  <a:t>Berechnet die Energiedichte und die Energie in den einzelnen Dielektrika:</a:t>
                </a:r>
                <a:endParaRPr lang="de-CH" sz="1600" b="0" dirty="0"/>
              </a:p>
              <a:p>
                <a:pPr marL="0" indent="0">
                  <a:buNone/>
                </a:pPr>
                <a:endParaRPr lang="de-CH" sz="1600" i="1" dirty="0"/>
              </a:p>
              <a:p>
                <a:pPr marL="0" indent="0">
                  <a:buNone/>
                </a:pPr>
                <a:endParaRPr lang="de-CH" sz="1600" b="0" dirty="0"/>
              </a:p>
            </p:txBody>
          </p:sp>
        </mc:Choice>
        <mc:Fallback xmlns="">
          <p:sp>
            <p:nvSpPr>
              <p:cNvPr id="8" name="Content Placeholder 2">
                <a:extLst>
                  <a:ext uri="{FF2B5EF4-FFF2-40B4-BE49-F238E27FC236}">
                    <a16:creationId xmlns:a16="http://schemas.microsoft.com/office/drawing/2014/main" id="{5E28CEA2-4DDC-40FC-D6CD-F7B3F1DCD481}"/>
                  </a:ext>
                </a:extLst>
              </p:cNvPr>
              <p:cNvSpPr txBox="1">
                <a:spLocks noRot="1" noChangeAspect="1" noMove="1" noResize="1" noEditPoints="1" noAdjustHandles="1" noChangeArrowheads="1" noChangeShapeType="1" noTextEdit="1"/>
              </p:cNvSpPr>
              <p:nvPr/>
            </p:nvSpPr>
            <p:spPr>
              <a:xfrm>
                <a:off x="731836" y="1412875"/>
                <a:ext cx="5632749" cy="4860000"/>
              </a:xfrm>
              <a:prstGeom prst="rect">
                <a:avLst/>
              </a:prstGeom>
              <a:blipFill>
                <a:blip r:embed="rId4"/>
                <a:stretch>
                  <a:fillRect l="-2165" t="-1380" r="-2056"/>
                </a:stretch>
              </a:blipFill>
            </p:spPr>
            <p:txBody>
              <a:bodyPr/>
              <a:lstStyle/>
              <a:p>
                <a:r>
                  <a:rPr lang="en-US">
                    <a:noFill/>
                  </a:rPr>
                  <a:t> </a:t>
                </a:r>
              </a:p>
            </p:txBody>
          </p:sp>
        </mc:Fallback>
      </mc:AlternateContent>
    </p:spTree>
    <p:extLst>
      <p:ext uri="{BB962C8B-B14F-4D97-AF65-F5344CB8AC3E}">
        <p14:creationId xmlns:p14="http://schemas.microsoft.com/office/powerpoint/2010/main" val="462521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E1091-B17F-7864-DD4C-15E75EB17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36C33-26F4-FE02-56FA-1AD24C955C47}"/>
              </a:ext>
            </a:extLst>
          </p:cNvPr>
          <p:cNvSpPr>
            <a:spLocks noGrp="1"/>
          </p:cNvSpPr>
          <p:nvPr>
            <p:ph type="title"/>
          </p:nvPr>
        </p:nvSpPr>
        <p:spPr/>
        <p:txBody>
          <a:bodyPr/>
          <a:lstStyle/>
          <a:p>
            <a:r>
              <a:rPr lang="de-CH" dirty="0"/>
              <a:t>Beispiel 4 – Energieinhalt des elektrischen Feldes – Lösung</a:t>
            </a:r>
            <a:endParaRPr lang="de-CH" noProof="0" dirty="0"/>
          </a:p>
        </p:txBody>
      </p:sp>
      <p:sp>
        <p:nvSpPr>
          <p:cNvPr id="3" name="Content Placeholder 2">
            <a:extLst>
              <a:ext uri="{FF2B5EF4-FFF2-40B4-BE49-F238E27FC236}">
                <a16:creationId xmlns:a16="http://schemas.microsoft.com/office/drawing/2014/main" id="{781F05E2-D293-BB20-9FDD-AD76E391FE3B}"/>
              </a:ext>
            </a:extLst>
          </p:cNvPr>
          <p:cNvSpPr>
            <a:spLocks noGrp="1"/>
          </p:cNvSpPr>
          <p:nvPr>
            <p:ph idx="1"/>
          </p:nvPr>
        </p:nvSpPr>
        <p:spPr>
          <a:xfrm>
            <a:off x="6846073" y="1412875"/>
            <a:ext cx="4614089" cy="4860000"/>
          </a:xfrm>
        </p:spPr>
        <p:txBody>
          <a:bodyPr/>
          <a:lstStyle/>
          <a:p>
            <a:pPr marL="0" indent="0">
              <a:buNone/>
            </a:pPr>
            <a:r>
              <a:rPr lang="de-CH" b="1" u="sng" noProof="0" dirty="0"/>
              <a:t>Schlüsselkonzepte</a:t>
            </a:r>
          </a:p>
          <a:p>
            <a:pPr marL="0" indent="0">
              <a:buNone/>
            </a:pPr>
            <a:r>
              <a:rPr lang="de-CH" dirty="0"/>
              <a:t>Energieinhalt des elektrischen Feldes</a:t>
            </a:r>
          </a:p>
        </p:txBody>
      </p:sp>
      <p:sp>
        <p:nvSpPr>
          <p:cNvPr id="4" name="Date Placeholder 3">
            <a:extLst>
              <a:ext uri="{FF2B5EF4-FFF2-40B4-BE49-F238E27FC236}">
                <a16:creationId xmlns:a16="http://schemas.microsoft.com/office/drawing/2014/main" id="{A184022C-9184-3A4E-BE13-C0DD98368101}"/>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142B79E6-DFFA-1093-080B-4E2CA021A9D2}"/>
              </a:ext>
            </a:extLst>
          </p:cNvPr>
          <p:cNvSpPr>
            <a:spLocks noGrp="1"/>
          </p:cNvSpPr>
          <p:nvPr>
            <p:ph type="sldNum" sz="quarter" idx="12"/>
          </p:nvPr>
        </p:nvSpPr>
        <p:spPr/>
        <p:txBody>
          <a:bodyPr/>
          <a:lstStyle/>
          <a:p>
            <a:fld id="{5ACA52AF-F19D-405C-AD5F-7D94B96A5CC3}" type="slidenum">
              <a:rPr lang="de-CH" noProof="0" smtClean="0"/>
              <a:t>18</a:t>
            </a:fld>
            <a:endParaRPr lang="de-CH" noProof="0" dirty="0"/>
          </a:p>
        </p:txBody>
      </p:sp>
      <p:pic>
        <p:nvPicPr>
          <p:cNvPr id="6" name="Picture Placeholder 7">
            <a:extLst>
              <a:ext uri="{FF2B5EF4-FFF2-40B4-BE49-F238E27FC236}">
                <a16:creationId xmlns:a16="http://schemas.microsoft.com/office/drawing/2014/main" id="{67AFB4EA-790B-CD05-739A-7266082320D4}"/>
              </a:ext>
            </a:extLst>
          </p:cNvPr>
          <p:cNvPicPr>
            <a:picLocks noChangeAspect="1"/>
          </p:cNvPicPr>
          <p:nvPr/>
        </p:nvPicPr>
        <p:blipFill>
          <a:blip r:embed="rId3">
            <a:extLst>
              <a:ext uri="{28A0092B-C50C-407E-A947-70E740481C1C}">
                <a14:useLocalDpi xmlns:a14="http://schemas.microsoft.com/office/drawing/2010/main" val="0"/>
              </a:ext>
            </a:extLst>
          </a:blip>
          <a:srcRect t="730" r="56338" b="730"/>
          <a:stretch>
            <a:fillRect/>
          </a:stretch>
        </p:blipFill>
        <p:spPr>
          <a:xfrm>
            <a:off x="6236145" y="3321084"/>
            <a:ext cx="4543547" cy="3076575"/>
          </a:xfrm>
          <a:prstGeom prst="rect">
            <a:avLst/>
          </a:prstGeom>
        </p:spPr>
      </p:pic>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0FE85BC-48E9-6449-53C1-7A76AD3BFDA6}"/>
                  </a:ext>
                </a:extLst>
              </p:cNvPr>
              <p:cNvSpPr txBox="1">
                <a:spLocks/>
              </p:cNvSpPr>
              <p:nvPr/>
            </p:nvSpPr>
            <p:spPr>
              <a:xfrm>
                <a:off x="731836" y="1412875"/>
                <a:ext cx="5632749" cy="486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CH" sz="1600" dirty="0"/>
                  <a:t>Gegeben: Abstand </a:t>
                </a:r>
                <a:r>
                  <a:rPr lang="de-CH" sz="1600" i="1" dirty="0"/>
                  <a:t>d,</a:t>
                </a:r>
                <a:r>
                  <a:rPr lang="de-CH" sz="1600" dirty="0"/>
                  <a:t> Flächen </a:t>
                </a:r>
                <a:r>
                  <a:rPr lang="de-CH" sz="1600" i="1" dirty="0"/>
                  <a:t>A</a:t>
                </a:r>
                <a:r>
                  <a:rPr lang="de-CH" sz="1600" baseline="-25000" dirty="0"/>
                  <a:t>1</a:t>
                </a:r>
                <a:r>
                  <a:rPr lang="de-CH" sz="1600" i="1" dirty="0"/>
                  <a:t>/A</a:t>
                </a:r>
                <a:r>
                  <a:rPr lang="de-CH" sz="1600" baseline="-25000" dirty="0"/>
                  <a:t>2</a:t>
                </a:r>
                <a:r>
                  <a:rPr lang="de-CH" sz="1600" i="1" dirty="0"/>
                  <a:t>, </a:t>
                </a:r>
                <a:r>
                  <a:rPr lang="de-CH" sz="1600" dirty="0"/>
                  <a:t>Spannung </a:t>
                </a:r>
                <a:r>
                  <a:rPr lang="de-CH" sz="1600" i="1" dirty="0"/>
                  <a:t>U:</a:t>
                </a:r>
              </a:p>
              <a:p>
                <a14:m>
                  <m:oMath xmlns:m="http://schemas.openxmlformats.org/officeDocument/2006/math">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1</m:t>
                        </m:r>
                      </m:sub>
                    </m:sSub>
                    <m:r>
                      <a:rPr lang="de-CH" sz="1600" b="0" i="1" dirty="0" smtClean="0">
                        <a:latin typeface="Cambria Math" panose="02040503050406030204" pitchFamily="18" charset="0"/>
                      </a:rPr>
                      <m:t>=</m:t>
                    </m:r>
                    <m:sSub>
                      <m:sSubPr>
                        <m:ctrlPr>
                          <a:rPr lang="de-CH" sz="1600" b="0" i="1" dirty="0" smtClean="0">
                            <a:latin typeface="Cambria Math" panose="02040503050406030204" pitchFamily="18" charset="0"/>
                          </a:rPr>
                        </m:ctrlPr>
                      </m:sSubPr>
                      <m:e>
                        <m:r>
                          <m:rPr>
                            <m:sty m:val="p"/>
                          </m:rPr>
                          <a:rPr lang="de-CH" sz="1600" b="0" i="1" dirty="0" smtClean="0">
                            <a:latin typeface="Cambria Math" panose="02040503050406030204" pitchFamily="18" charset="0"/>
                          </a:rPr>
                          <m:t>E</m:t>
                        </m:r>
                      </m:e>
                      <m:sub>
                        <m:r>
                          <a:rPr lang="de-CH" sz="1600" b="0" i="1" dirty="0" smtClean="0">
                            <a:latin typeface="Cambria Math" panose="02040503050406030204" pitchFamily="18" charset="0"/>
                          </a:rPr>
                          <m:t>2</m:t>
                        </m:r>
                      </m:sub>
                    </m:sSub>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i="1" dirty="0"/>
              </a:p>
              <a:p>
                <a14:m>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D</m:t>
                        </m:r>
                      </m:e>
                      <m:sub>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sSub>
                      <m:sSubPr>
                        <m:ctrlPr>
                          <a:rPr lang="de-CH" sz="1600" i="1" dirty="0" smtClean="0">
                            <a:latin typeface="Cambria Math" panose="02040503050406030204" pitchFamily="18" charset="0"/>
                            <a:ea typeface="Cambria Math" panose="02040503050406030204" pitchFamily="18" charset="0"/>
                          </a:rPr>
                        </m:ctrlPr>
                      </m:sSubPr>
                      <m:e>
                        <m:sSub>
                          <m:sSubPr>
                            <m:ctrlPr>
                              <a:rPr lang="de-CH" sz="1600" i="1" dirty="0" smtClean="0">
                                <a:latin typeface="Cambria Math" panose="02040503050406030204" pitchFamily="18" charset="0"/>
                                <a:ea typeface="Cambria Math" panose="02040503050406030204" pitchFamily="18" charset="0"/>
                              </a:rPr>
                            </m:ctrlPr>
                          </m:sSubPr>
                          <m:e>
                            <m:r>
                              <a:rPr lang="de-CH" sz="1600" i="1" dirty="0" smtClean="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i="1" dirty="0">
                            <a:latin typeface="Cambria Math" panose="02040503050406030204" pitchFamily="18" charset="0"/>
                          </a:rPr>
                          <m:t>E</m:t>
                        </m:r>
                      </m:e>
                      <m:sub>
                        <m:r>
                          <m:rPr>
                            <m:sty m:val="p"/>
                          </m:rPr>
                          <a:rPr lang="de-CH" sz="1600" b="0" i="1" dirty="0" smtClean="0">
                            <a:latin typeface="Cambria Math" panose="02040503050406030204" pitchFamily="18" charset="0"/>
                          </a:rPr>
                          <m:t>k</m:t>
                        </m:r>
                      </m:sub>
                    </m:sSub>
                    <m:r>
                      <a:rPr lang="de-CH" sz="1600" b="0" i="1" dirty="0" smtClean="0">
                        <a:latin typeface="Cambria Math" panose="02040503050406030204" pitchFamily="18" charset="0"/>
                      </a:rPr>
                      <m:t>=</m:t>
                    </m:r>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b="0" i="1" dirty="0" smtClean="0">
                            <a:latin typeface="Cambria Math" panose="02040503050406030204" pitchFamily="18" charset="0"/>
                          </a:rPr>
                          <m:t>k</m:t>
                        </m:r>
                      </m:sub>
                    </m:sSub>
                    <m:r>
                      <m:rPr>
                        <m:sty m:val="p"/>
                      </m:rPr>
                      <a:rPr lang="de-CH" sz="1600" b="0" i="1" dirty="0" smtClean="0">
                        <a:latin typeface="Cambria Math" panose="02040503050406030204" pitchFamily="18" charset="0"/>
                      </a:rPr>
                      <m:t>U</m:t>
                    </m:r>
                    <m:r>
                      <a:rPr lang="de-CH" sz="1600" b="0" i="1" dirty="0" smtClean="0">
                        <a:latin typeface="Cambria Math" panose="02040503050406030204" pitchFamily="18" charset="0"/>
                      </a:rPr>
                      <m:t>/</m:t>
                    </m:r>
                    <m:r>
                      <m:rPr>
                        <m:sty m:val="p"/>
                      </m:rPr>
                      <a:rPr lang="de-CH" sz="1600" b="0" i="1" dirty="0" smtClean="0">
                        <a:latin typeface="Cambria Math" panose="02040503050406030204" pitchFamily="18" charset="0"/>
                      </a:rPr>
                      <m:t>d</m:t>
                    </m:r>
                  </m:oMath>
                </a14:m>
                <a:endParaRPr lang="de-CH" sz="1600" b="0" i="1" dirty="0"/>
              </a:p>
              <a:p>
                <a:pPr marL="0" indent="0">
                  <a:buNone/>
                </a:pPr>
                <a:r>
                  <a:rPr lang="de-CH" sz="1600" dirty="0"/>
                  <a:t>Berechnet die Energiedichte und die Energie in den einzelnen Dielektrika:</a:t>
                </a:r>
                <a:endParaRPr lang="de-CH" sz="1600" b="0" dirty="0"/>
              </a:p>
              <a:p>
                <a:pPr marL="0" indent="0">
                  <a:buNone/>
                </a:pPr>
                <a14:m>
                  <m:oMathPara xmlns:m="http://schemas.openxmlformats.org/officeDocument/2006/math">
                    <m:oMathParaPr>
                      <m:jc m:val="centerGroup"/>
                    </m:oMathParaPr>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w</m:t>
                          </m:r>
                        </m:e>
                        <m:sub>
                          <m:r>
                            <m:rPr>
                              <m:sty m:val="p"/>
                            </m:rPr>
                            <a:rPr lang="de-CH" sz="1600" b="0" i="1" smtClean="0">
                              <a:latin typeface="Cambria Math" panose="02040503050406030204" pitchFamily="18" charset="0"/>
                            </a:rPr>
                            <m:t>e</m:t>
                          </m:r>
                          <m:r>
                            <a:rPr lang="de-CH" sz="1600" b="0" i="1" smtClean="0">
                              <a:latin typeface="Cambria Math" panose="02040503050406030204" pitchFamily="18" charset="0"/>
                            </a:rPr>
                            <m:t>,</m:t>
                          </m:r>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f>
                        <m:fPr>
                          <m:ctrlPr>
                            <a:rPr lang="de-CH" sz="1600" b="0" i="1" smtClean="0">
                              <a:latin typeface="Cambria Math" panose="02040503050406030204" pitchFamily="18" charset="0"/>
                            </a:rPr>
                          </m:ctrlPr>
                        </m:fPr>
                        <m:num>
                          <m:r>
                            <a:rPr lang="de-CH" sz="1600" b="0" i="1" smtClean="0">
                              <a:latin typeface="Cambria Math" panose="02040503050406030204" pitchFamily="18" charset="0"/>
                            </a:rPr>
                            <m:t>1</m:t>
                          </m:r>
                        </m:num>
                        <m:den>
                          <m:r>
                            <a:rPr lang="de-CH" sz="1600" b="0" i="1" smtClean="0">
                              <a:latin typeface="Cambria Math" panose="02040503050406030204" pitchFamily="18" charset="0"/>
                            </a:rPr>
                            <m:t>2</m:t>
                          </m:r>
                        </m:den>
                      </m:f>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D</m:t>
                          </m:r>
                        </m:e>
                        <m:sub>
                          <m:r>
                            <m:rPr>
                              <m:sty m:val="p"/>
                            </m:rPr>
                            <a:rPr lang="de-CH" sz="1600" i="1">
                              <a:latin typeface="Cambria Math" panose="02040503050406030204" pitchFamily="18" charset="0"/>
                            </a:rPr>
                            <m:t>k</m:t>
                          </m:r>
                        </m:sub>
                      </m:sSub>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E</m:t>
                          </m:r>
                        </m:e>
                        <m:sub>
                          <m:r>
                            <m:rPr>
                              <m:sty m:val="p"/>
                            </m:rPr>
                            <a:rPr lang="de-CH" sz="1600" i="1">
                              <a:latin typeface="Cambria Math" panose="02040503050406030204" pitchFamily="18" charset="0"/>
                            </a:rPr>
                            <m:t>k</m:t>
                          </m:r>
                        </m:sub>
                      </m:sSub>
                    </m:oMath>
                  </m:oMathPara>
                </a14:m>
                <a:endParaRPr lang="de-CH" sz="1600" dirty="0"/>
              </a:p>
              <a:p>
                <a:pPr marL="0" indent="0">
                  <a:buNone/>
                </a:pPr>
                <a14:m>
                  <m:oMathPara xmlns:m="http://schemas.openxmlformats.org/officeDocument/2006/math">
                    <m:oMathParaPr>
                      <m:jc m:val="centerGroup"/>
                    </m:oMathParaPr>
                    <m:oMath xmlns:m="http://schemas.openxmlformats.org/officeDocument/2006/math">
                      <m:sSub>
                        <m:sSubPr>
                          <m:ctrlPr>
                            <a:rPr lang="de-CH" sz="1600" b="0" i="1" smtClean="0">
                              <a:latin typeface="Cambria Math" panose="02040503050406030204" pitchFamily="18" charset="0"/>
                            </a:rPr>
                          </m:ctrlPr>
                        </m:sSubPr>
                        <m:e>
                          <m:r>
                            <m:rPr>
                              <m:sty m:val="p"/>
                            </m:rPr>
                            <a:rPr lang="de-CH" sz="1600" b="0" i="1" smtClean="0">
                              <a:latin typeface="Cambria Math" panose="02040503050406030204" pitchFamily="18" charset="0"/>
                            </a:rPr>
                            <m:t>W</m:t>
                          </m:r>
                        </m:e>
                        <m:sub>
                          <m:r>
                            <m:rPr>
                              <m:sty m:val="p"/>
                            </m:rPr>
                            <a:rPr lang="de-CH" sz="1600" b="0" i="1" smtClean="0">
                              <a:latin typeface="Cambria Math" panose="02040503050406030204" pitchFamily="18" charset="0"/>
                            </a:rPr>
                            <m:t>e</m:t>
                          </m:r>
                          <m:r>
                            <a:rPr lang="de-CH" sz="1600" b="0" i="1" smtClean="0">
                              <a:latin typeface="Cambria Math" panose="02040503050406030204" pitchFamily="18" charset="0"/>
                            </a:rPr>
                            <m:t>,</m:t>
                          </m:r>
                          <m:r>
                            <m:rPr>
                              <m:sty m:val="p"/>
                            </m:rPr>
                            <a:rPr lang="de-CH" sz="1600" b="0" i="1" smtClean="0">
                              <a:latin typeface="Cambria Math" panose="02040503050406030204" pitchFamily="18" charset="0"/>
                            </a:rPr>
                            <m:t>k</m:t>
                          </m:r>
                        </m:sub>
                      </m:sSub>
                      <m:r>
                        <a:rPr lang="de-CH" sz="1600" b="0" i="1" smtClean="0">
                          <a:latin typeface="Cambria Math" panose="02040503050406030204" pitchFamily="18" charset="0"/>
                        </a:rPr>
                        <m:t>=</m:t>
                      </m:r>
                      <m:nary>
                        <m:naryPr>
                          <m:chr m:val="∭"/>
                          <m:limLoc m:val="undOvr"/>
                          <m:subHide m:val="on"/>
                          <m:supHide m:val="on"/>
                          <m:ctrlPr>
                            <a:rPr lang="de-CH" sz="1600" b="0" i="1" smtClean="0">
                              <a:latin typeface="Cambria Math" panose="02040503050406030204" pitchFamily="18" charset="0"/>
                            </a:rPr>
                          </m:ctrlPr>
                        </m:naryPr>
                        <m:sub/>
                        <m:sup/>
                        <m:e>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w</m:t>
                              </m:r>
                            </m:e>
                            <m:sub>
                              <m:r>
                                <m:rPr>
                                  <m:sty m:val="p"/>
                                </m:rPr>
                                <a:rPr lang="de-CH" sz="1600" i="1">
                                  <a:latin typeface="Cambria Math" panose="02040503050406030204" pitchFamily="18" charset="0"/>
                                </a:rPr>
                                <m:t>e</m:t>
                              </m:r>
                              <m:r>
                                <a:rPr lang="de-CH" sz="1600" i="1">
                                  <a:latin typeface="Cambria Math" panose="02040503050406030204" pitchFamily="18" charset="0"/>
                                </a:rPr>
                                <m:t>,</m:t>
                              </m:r>
                              <m:r>
                                <m:rPr>
                                  <m:sty m:val="p"/>
                                </m:rPr>
                                <a:rPr lang="de-CH" sz="1600" i="1">
                                  <a:latin typeface="Cambria Math" panose="02040503050406030204" pitchFamily="18" charset="0"/>
                                </a:rPr>
                                <m:t>k</m:t>
                              </m:r>
                            </m:sub>
                          </m:sSub>
                          <m:r>
                            <m:rPr>
                              <m:sty m:val="p"/>
                            </m:rPr>
                            <a:rPr lang="de-CH" sz="1600" b="0" i="1" smtClean="0">
                              <a:latin typeface="Cambria Math" panose="02040503050406030204" pitchFamily="18" charset="0"/>
                            </a:rPr>
                            <m:t>dV</m:t>
                          </m:r>
                        </m:e>
                      </m:nary>
                      <m:r>
                        <a:rPr lang="de-CH" sz="1600" b="0" i="1" smtClean="0">
                          <a:latin typeface="Cambria Math" panose="02040503050406030204" pitchFamily="18" charset="0"/>
                        </a:rPr>
                        <m:t>=</m:t>
                      </m:r>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w</m:t>
                          </m:r>
                        </m:e>
                        <m:sub>
                          <m:r>
                            <m:rPr>
                              <m:sty m:val="p"/>
                            </m:rPr>
                            <a:rPr lang="de-CH" sz="1600" i="1">
                              <a:latin typeface="Cambria Math" panose="02040503050406030204" pitchFamily="18" charset="0"/>
                            </a:rPr>
                            <m:t>e</m:t>
                          </m:r>
                          <m:r>
                            <a:rPr lang="de-CH" sz="1600" i="1">
                              <a:latin typeface="Cambria Math" panose="02040503050406030204" pitchFamily="18" charset="0"/>
                            </a:rPr>
                            <m:t>,</m:t>
                          </m:r>
                          <m:r>
                            <m:rPr>
                              <m:sty m:val="p"/>
                            </m:rPr>
                            <a:rPr lang="de-CH" sz="1600" i="1">
                              <a:latin typeface="Cambria Math" panose="02040503050406030204" pitchFamily="18" charset="0"/>
                            </a:rPr>
                            <m:t>k</m:t>
                          </m:r>
                        </m:sub>
                      </m:sSub>
                      <m:r>
                        <a:rPr lang="de-CH" sz="1600" i="1">
                          <a:latin typeface="Cambria Math" panose="02040503050406030204" pitchFamily="18" charset="0"/>
                          <a:ea typeface="Cambria Math" panose="02040503050406030204" pitchFamily="18" charset="0"/>
                        </a:rPr>
                        <m:t>∙</m:t>
                      </m:r>
                      <m:r>
                        <m:rPr>
                          <m:sty m:val="p"/>
                        </m:rPr>
                        <a:rPr lang="de-CH" sz="1600" b="0" i="1" smtClean="0">
                          <a:latin typeface="Cambria Math" panose="02040503050406030204" pitchFamily="18" charset="0"/>
                          <a:ea typeface="Cambria Math" panose="02040503050406030204" pitchFamily="18" charset="0"/>
                        </a:rPr>
                        <m:t>d</m:t>
                      </m:r>
                      <m:r>
                        <a:rPr lang="de-CH" sz="1600" b="0" i="1" smtClean="0">
                          <a:latin typeface="Cambria Math" panose="02040503050406030204" pitchFamily="18" charset="0"/>
                          <a:ea typeface="Cambria Math" panose="02040503050406030204" pitchFamily="18" charset="0"/>
                        </a:rPr>
                        <m:t>∙</m:t>
                      </m:r>
                      <m:sSub>
                        <m:sSubPr>
                          <m:ctrlPr>
                            <a:rPr lang="de-CH" sz="1600" b="0" i="1" smtClean="0">
                              <a:latin typeface="Cambria Math" panose="02040503050406030204" pitchFamily="18" charset="0"/>
                              <a:ea typeface="Cambria Math" panose="02040503050406030204" pitchFamily="18" charset="0"/>
                            </a:rPr>
                          </m:ctrlPr>
                        </m:sSubPr>
                        <m:e>
                          <m:r>
                            <m:rPr>
                              <m:sty m:val="p"/>
                            </m:rPr>
                            <a:rPr lang="de-CH" sz="1600" b="0" i="1" smtClean="0">
                              <a:latin typeface="Cambria Math" panose="02040503050406030204" pitchFamily="18" charset="0"/>
                              <a:ea typeface="Cambria Math" panose="02040503050406030204" pitchFamily="18" charset="0"/>
                            </a:rPr>
                            <m:t>A</m:t>
                          </m:r>
                        </m:e>
                        <m:sub>
                          <m:r>
                            <m:rPr>
                              <m:sty m:val="p"/>
                            </m:rPr>
                            <a:rPr lang="de-CH" sz="1600" b="0" i="1" smtClean="0">
                              <a:latin typeface="Cambria Math" panose="02040503050406030204" pitchFamily="18" charset="0"/>
                              <a:ea typeface="Cambria Math" panose="02040503050406030204" pitchFamily="18" charset="0"/>
                            </a:rPr>
                            <m:t>k</m:t>
                          </m:r>
                        </m:sub>
                      </m:sSub>
                    </m:oMath>
                  </m:oMathPara>
                </a14:m>
                <a:endParaRPr lang="de-CH" sz="1600" b="0" dirty="0"/>
              </a:p>
              <a:p>
                <a:pPr marL="0" indent="0">
                  <a:buNone/>
                </a:pPr>
                <a14:m>
                  <m:oMathPara xmlns:m="http://schemas.openxmlformats.org/officeDocument/2006/math">
                    <m:oMathParaPr>
                      <m:jc m:val="centerGroup"/>
                    </m:oMathParaPr>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W</m:t>
                          </m:r>
                        </m:e>
                        <m:sub>
                          <m:r>
                            <m:rPr>
                              <m:sty m:val="p"/>
                            </m:rPr>
                            <a:rPr lang="de-CH" sz="1600" i="1">
                              <a:latin typeface="Cambria Math" panose="02040503050406030204" pitchFamily="18" charset="0"/>
                            </a:rPr>
                            <m:t>e</m:t>
                          </m:r>
                          <m:r>
                            <a:rPr lang="de-CH" sz="1600" i="1">
                              <a:latin typeface="Cambria Math" panose="02040503050406030204" pitchFamily="18" charset="0"/>
                            </a:rPr>
                            <m:t>,</m:t>
                          </m:r>
                          <m:r>
                            <m:rPr>
                              <m:sty m:val="p"/>
                            </m:rPr>
                            <a:rPr lang="de-CH" sz="1600" i="1">
                              <a:latin typeface="Cambria Math" panose="02040503050406030204" pitchFamily="18" charset="0"/>
                            </a:rPr>
                            <m:t>k</m:t>
                          </m:r>
                        </m:sub>
                      </m:sSub>
                      <m:r>
                        <a:rPr lang="de-CH" sz="1600" i="1">
                          <a:latin typeface="Cambria Math" panose="02040503050406030204" pitchFamily="18" charset="0"/>
                        </a:rPr>
                        <m:t>=</m:t>
                      </m:r>
                      <m:f>
                        <m:fPr>
                          <m:ctrlPr>
                            <a:rPr lang="de-CH" sz="1600" i="1">
                              <a:latin typeface="Cambria Math" panose="02040503050406030204" pitchFamily="18" charset="0"/>
                            </a:rPr>
                          </m:ctrlPr>
                        </m:fPr>
                        <m:num>
                          <m:r>
                            <a:rPr lang="de-CH" sz="1600" i="1">
                              <a:latin typeface="Cambria Math" panose="02040503050406030204" pitchFamily="18" charset="0"/>
                            </a:rPr>
                            <m:t>1</m:t>
                          </m:r>
                        </m:num>
                        <m:den>
                          <m:r>
                            <a:rPr lang="de-CH" sz="1600" i="1">
                              <a:latin typeface="Cambria Math" panose="02040503050406030204" pitchFamily="18" charset="0"/>
                            </a:rPr>
                            <m:t>2</m:t>
                          </m:r>
                        </m:den>
                      </m:f>
                      <m:r>
                        <a:rPr lang="de-CH" sz="1600" i="1">
                          <a:latin typeface="Cambria Math" panose="02040503050406030204" pitchFamily="18" charset="0"/>
                          <a:ea typeface="Cambria Math" panose="02040503050406030204" pitchFamily="18" charset="0"/>
                        </a:rPr>
                        <m:t>∙</m:t>
                      </m:r>
                      <m:f>
                        <m:fPr>
                          <m:ctrlPr>
                            <a:rPr lang="de-CH" sz="1600" i="1" dirty="0">
                              <a:latin typeface="Cambria Math" panose="02040503050406030204" pitchFamily="18" charset="0"/>
                              <a:ea typeface="Cambria Math" panose="02040503050406030204" pitchFamily="18" charset="0"/>
                            </a:rPr>
                          </m:ctrlPr>
                        </m:fPr>
                        <m:num>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k</m:t>
                              </m:r>
                            </m:sub>
                          </m:sSub>
                          <m:r>
                            <m:rPr>
                              <m:sty m:val="p"/>
                            </m:rPr>
                            <a:rPr lang="de-CH" sz="1600" b="0" i="1" dirty="0" smtClean="0">
                              <a:latin typeface="Cambria Math" panose="02040503050406030204" pitchFamily="18" charset="0"/>
                            </a:rPr>
                            <m:t>U</m:t>
                          </m:r>
                        </m:num>
                        <m:den>
                          <m:r>
                            <m:rPr>
                              <m:sty m:val="p"/>
                            </m:rPr>
                            <a:rPr lang="de-CH" sz="1600" b="0" i="1" smtClean="0">
                              <a:latin typeface="Cambria Math" panose="02040503050406030204" pitchFamily="18" charset="0"/>
                            </a:rPr>
                            <m:t>d</m:t>
                          </m:r>
                        </m:den>
                      </m:f>
                      <m:r>
                        <a:rPr lang="de-CH" sz="1600" i="1">
                          <a:latin typeface="Cambria Math" panose="02040503050406030204" pitchFamily="18" charset="0"/>
                          <a:ea typeface="Cambria Math" panose="02040503050406030204" pitchFamily="18" charset="0"/>
                        </a:rPr>
                        <m:t>∙</m:t>
                      </m:r>
                      <m:f>
                        <m:fPr>
                          <m:ctrlPr>
                            <a:rPr lang="de-CH" sz="1600" i="1" dirty="0">
                              <a:latin typeface="Cambria Math" panose="02040503050406030204" pitchFamily="18" charset="0"/>
                            </a:rPr>
                          </m:ctrlPr>
                        </m:fPr>
                        <m:num>
                          <m:r>
                            <m:rPr>
                              <m:sty m:val="p"/>
                            </m:rPr>
                            <a:rPr lang="de-CH" sz="1600" i="1" dirty="0">
                              <a:latin typeface="Cambria Math" panose="02040503050406030204" pitchFamily="18" charset="0"/>
                            </a:rPr>
                            <m:t>U</m:t>
                          </m:r>
                        </m:num>
                        <m:den>
                          <m:r>
                            <m:rPr>
                              <m:sty m:val="p"/>
                            </m:rPr>
                            <a:rPr lang="de-CH" sz="1600" i="1">
                              <a:latin typeface="Cambria Math" panose="02040503050406030204" pitchFamily="18" charset="0"/>
                            </a:rPr>
                            <m:t>d</m:t>
                          </m:r>
                        </m:den>
                      </m:f>
                      <m:r>
                        <a:rPr lang="de-CH" sz="1600" i="1">
                          <a:latin typeface="Cambria Math" panose="02040503050406030204" pitchFamily="18" charset="0"/>
                          <a:ea typeface="Cambria Math" panose="02040503050406030204" pitchFamily="18" charset="0"/>
                        </a:rPr>
                        <m:t>∙</m:t>
                      </m:r>
                      <m:r>
                        <m:rPr>
                          <m:sty m:val="p"/>
                        </m:rPr>
                        <a:rPr lang="de-CH" sz="1600" i="1">
                          <a:latin typeface="Cambria Math" panose="02040503050406030204" pitchFamily="18" charset="0"/>
                          <a:ea typeface="Cambria Math" panose="02040503050406030204" pitchFamily="18" charset="0"/>
                        </a:rPr>
                        <m:t>d</m:t>
                      </m:r>
                      <m:r>
                        <a:rPr lang="de-CH" sz="1600" i="1">
                          <a:latin typeface="Cambria Math" panose="02040503050406030204" pitchFamily="18" charset="0"/>
                          <a:ea typeface="Cambria Math" panose="02040503050406030204" pitchFamily="18" charset="0"/>
                        </a:rPr>
                        <m:t>∙</m:t>
                      </m:r>
                      <m:sSub>
                        <m:sSubPr>
                          <m:ctrlPr>
                            <a:rPr lang="de-CH" sz="1600" i="1">
                              <a:latin typeface="Cambria Math" panose="02040503050406030204" pitchFamily="18" charset="0"/>
                              <a:ea typeface="Cambria Math" panose="02040503050406030204" pitchFamily="18" charset="0"/>
                            </a:rPr>
                          </m:ctrlPr>
                        </m:sSubPr>
                        <m:e>
                          <m:r>
                            <m:rPr>
                              <m:sty m:val="p"/>
                            </m:rPr>
                            <a:rPr lang="de-CH" sz="1600" i="1">
                              <a:latin typeface="Cambria Math" panose="02040503050406030204" pitchFamily="18" charset="0"/>
                              <a:ea typeface="Cambria Math" panose="02040503050406030204" pitchFamily="18" charset="0"/>
                            </a:rPr>
                            <m:t>A</m:t>
                          </m:r>
                        </m:e>
                        <m:sub>
                          <m:r>
                            <m:rPr>
                              <m:sty m:val="p"/>
                            </m:rPr>
                            <a:rPr lang="de-CH" sz="1600" i="1">
                              <a:latin typeface="Cambria Math" panose="02040503050406030204" pitchFamily="18" charset="0"/>
                              <a:ea typeface="Cambria Math" panose="02040503050406030204" pitchFamily="18" charset="0"/>
                            </a:rPr>
                            <m:t>k</m:t>
                          </m:r>
                        </m:sub>
                      </m:sSub>
                      <m:r>
                        <a:rPr lang="de-CH" sz="1600" b="0" i="1" smtClean="0">
                          <a:latin typeface="Cambria Math" panose="02040503050406030204" pitchFamily="18" charset="0"/>
                          <a:ea typeface="Cambria Math" panose="02040503050406030204" pitchFamily="18" charset="0"/>
                        </a:rPr>
                        <m:t>=</m:t>
                      </m:r>
                      <m:f>
                        <m:fPr>
                          <m:ctrlPr>
                            <a:rPr lang="de-CH" sz="1600" i="1">
                              <a:latin typeface="Cambria Math" panose="02040503050406030204" pitchFamily="18" charset="0"/>
                            </a:rPr>
                          </m:ctrlPr>
                        </m:fPr>
                        <m:num>
                          <m:r>
                            <a:rPr lang="de-CH" sz="1600" i="1">
                              <a:latin typeface="Cambria Math" panose="02040503050406030204" pitchFamily="18" charset="0"/>
                            </a:rPr>
                            <m:t>1</m:t>
                          </m:r>
                        </m:num>
                        <m:den>
                          <m:r>
                            <a:rPr lang="de-CH" sz="1600" i="1">
                              <a:latin typeface="Cambria Math" panose="02040503050406030204" pitchFamily="18" charset="0"/>
                            </a:rPr>
                            <m:t>2</m:t>
                          </m:r>
                        </m:den>
                      </m:f>
                      <m:r>
                        <a:rPr lang="de-CH" sz="1600" i="1">
                          <a:latin typeface="Cambria Math" panose="02040503050406030204" pitchFamily="18" charset="0"/>
                          <a:ea typeface="Cambria Math" panose="02040503050406030204" pitchFamily="18" charset="0"/>
                        </a:rPr>
                        <m:t>∙</m:t>
                      </m:r>
                      <m:f>
                        <m:fPr>
                          <m:ctrlPr>
                            <a:rPr lang="de-CH" sz="1600" i="1" dirty="0">
                              <a:latin typeface="Cambria Math" panose="02040503050406030204" pitchFamily="18" charset="0"/>
                              <a:ea typeface="Cambria Math" panose="02040503050406030204" pitchFamily="18" charset="0"/>
                            </a:rPr>
                          </m:ctrlPr>
                        </m:fPr>
                        <m:num>
                          <m:sSub>
                            <m:sSubPr>
                              <m:ctrlPr>
                                <a:rPr lang="de-CH" sz="1600" i="1" dirty="0">
                                  <a:latin typeface="Cambria Math" panose="02040503050406030204" pitchFamily="18" charset="0"/>
                                  <a:ea typeface="Cambria Math" panose="02040503050406030204" pitchFamily="18" charset="0"/>
                                </a:rPr>
                              </m:ctrlPr>
                            </m:sSubPr>
                            <m:e>
                              <m:r>
                                <a:rPr lang="de-CH" sz="1600" i="1" dirty="0">
                                  <a:latin typeface="Cambria Math" panose="02040503050406030204" pitchFamily="18" charset="0"/>
                                  <a:ea typeface="Cambria Math" panose="02040503050406030204" pitchFamily="18" charset="0"/>
                                </a:rPr>
                                <m:t>𝜀</m:t>
                              </m:r>
                            </m:e>
                            <m:sub>
                              <m:r>
                                <m:rPr>
                                  <m:sty m:val="p"/>
                                </m:rPr>
                                <a:rPr lang="de-CH" sz="1600" i="1" dirty="0">
                                  <a:latin typeface="Cambria Math" panose="02040503050406030204" pitchFamily="18" charset="0"/>
                                </a:rPr>
                                <m:t>k</m:t>
                              </m:r>
                            </m:sub>
                          </m:sSub>
                          <m:sSub>
                            <m:sSubPr>
                              <m:ctrlPr>
                                <a:rPr lang="de-CH" sz="1600" i="1">
                                  <a:latin typeface="Cambria Math" panose="02040503050406030204" pitchFamily="18" charset="0"/>
                                  <a:ea typeface="Cambria Math" panose="02040503050406030204" pitchFamily="18" charset="0"/>
                                </a:rPr>
                              </m:ctrlPr>
                            </m:sSubPr>
                            <m:e>
                              <m:r>
                                <m:rPr>
                                  <m:sty m:val="p"/>
                                </m:rPr>
                                <a:rPr lang="de-CH" sz="1600" i="1">
                                  <a:latin typeface="Cambria Math" panose="02040503050406030204" pitchFamily="18" charset="0"/>
                                  <a:ea typeface="Cambria Math" panose="02040503050406030204" pitchFamily="18" charset="0"/>
                                </a:rPr>
                                <m:t>A</m:t>
                              </m:r>
                            </m:e>
                            <m:sub>
                              <m:r>
                                <m:rPr>
                                  <m:sty m:val="p"/>
                                </m:rPr>
                                <a:rPr lang="de-CH" sz="1600" i="1">
                                  <a:latin typeface="Cambria Math" panose="02040503050406030204" pitchFamily="18" charset="0"/>
                                  <a:ea typeface="Cambria Math" panose="02040503050406030204" pitchFamily="18" charset="0"/>
                                </a:rPr>
                                <m:t>k</m:t>
                              </m:r>
                            </m:sub>
                          </m:sSub>
                        </m:num>
                        <m:den>
                          <m:r>
                            <m:rPr>
                              <m:sty m:val="p"/>
                            </m:rPr>
                            <a:rPr lang="de-CH" sz="1600" b="0" i="1" smtClean="0">
                              <a:latin typeface="Cambria Math" panose="02040503050406030204" pitchFamily="18" charset="0"/>
                            </a:rPr>
                            <m:t>d</m:t>
                          </m:r>
                        </m:den>
                      </m:f>
                      <m:sSup>
                        <m:sSupPr>
                          <m:ctrlPr>
                            <a:rPr lang="de-CH" sz="1600" i="1">
                              <a:latin typeface="Cambria Math" panose="02040503050406030204" pitchFamily="18" charset="0"/>
                            </a:rPr>
                          </m:ctrlPr>
                        </m:sSupPr>
                        <m:e>
                          <m:r>
                            <m:rPr>
                              <m:sty m:val="p"/>
                            </m:rPr>
                            <a:rPr lang="de-CH" sz="1600" i="1">
                              <a:latin typeface="Cambria Math" panose="02040503050406030204" pitchFamily="18" charset="0"/>
                            </a:rPr>
                            <m:t>U</m:t>
                          </m:r>
                        </m:e>
                        <m:sup>
                          <m:r>
                            <a:rPr lang="de-CH" sz="1600" i="1">
                              <a:latin typeface="Cambria Math" panose="02040503050406030204" pitchFamily="18" charset="0"/>
                            </a:rPr>
                            <m:t>2</m:t>
                          </m:r>
                        </m:sup>
                      </m:sSup>
                    </m:oMath>
                  </m:oMathPara>
                </a14:m>
                <a:endParaRPr lang="de-CH" sz="1600" b="0" dirty="0"/>
              </a:p>
              <a:p>
                <a:pPr marL="0" indent="0">
                  <a:buNone/>
                </a:pPr>
                <a:r>
                  <a:rPr lang="de-CH" sz="1600" b="0" dirty="0"/>
                  <a:t>Fällt euch etwas auf an der Lösung?</a:t>
                </a:r>
              </a:p>
              <a:p>
                <a:pPr marL="0" indent="0">
                  <a:buNone/>
                </a:pPr>
                <a14:m>
                  <m:oMathPara xmlns:m="http://schemas.openxmlformats.org/officeDocument/2006/math">
                    <m:oMathParaPr>
                      <m:jc m:val="centerGroup"/>
                    </m:oMathParaPr>
                    <m:oMath xmlns:m="http://schemas.openxmlformats.org/officeDocument/2006/math">
                      <m:sSub>
                        <m:sSubPr>
                          <m:ctrlPr>
                            <a:rPr lang="de-CH" sz="1600" i="1">
                              <a:latin typeface="Cambria Math" panose="02040503050406030204" pitchFamily="18" charset="0"/>
                            </a:rPr>
                          </m:ctrlPr>
                        </m:sSubPr>
                        <m:e>
                          <m:r>
                            <m:rPr>
                              <m:sty m:val="p"/>
                            </m:rPr>
                            <a:rPr lang="de-CH" sz="1600" i="1">
                              <a:latin typeface="Cambria Math" panose="02040503050406030204" pitchFamily="18" charset="0"/>
                            </a:rPr>
                            <m:t>W</m:t>
                          </m:r>
                        </m:e>
                        <m:sub>
                          <m:r>
                            <m:rPr>
                              <m:sty m:val="p"/>
                            </m:rPr>
                            <a:rPr lang="de-CH" sz="1600" i="1">
                              <a:latin typeface="Cambria Math" panose="02040503050406030204" pitchFamily="18" charset="0"/>
                            </a:rPr>
                            <m:t>e</m:t>
                          </m:r>
                          <m:r>
                            <a:rPr lang="de-CH" sz="1600" i="1">
                              <a:latin typeface="Cambria Math" panose="02040503050406030204" pitchFamily="18" charset="0"/>
                            </a:rPr>
                            <m:t>,</m:t>
                          </m:r>
                          <m:r>
                            <m:rPr>
                              <m:sty m:val="p"/>
                            </m:rPr>
                            <a:rPr lang="de-CH" sz="1600" i="1">
                              <a:latin typeface="Cambria Math" panose="02040503050406030204" pitchFamily="18" charset="0"/>
                            </a:rPr>
                            <m:t>k</m:t>
                          </m:r>
                        </m:sub>
                      </m:sSub>
                      <m:r>
                        <a:rPr lang="de-CH" sz="1600" i="1">
                          <a:latin typeface="Cambria Math" panose="02040503050406030204" pitchFamily="18" charset="0"/>
                        </a:rPr>
                        <m:t>=</m:t>
                      </m:r>
                      <m:r>
                        <a:rPr lang="de-CH" sz="1600" b="0" i="1" smtClean="0">
                          <a:latin typeface="Cambria Math" panose="02040503050406030204" pitchFamily="18" charset="0"/>
                        </a:rPr>
                        <m:t> </m:t>
                      </m:r>
                      <m:f>
                        <m:fPr>
                          <m:ctrlPr>
                            <a:rPr lang="de-CH" sz="1600" i="1">
                              <a:latin typeface="Cambria Math" panose="02040503050406030204" pitchFamily="18" charset="0"/>
                            </a:rPr>
                          </m:ctrlPr>
                        </m:fPr>
                        <m:num>
                          <m:r>
                            <a:rPr lang="de-CH" sz="1600" i="1">
                              <a:latin typeface="Cambria Math" panose="02040503050406030204" pitchFamily="18" charset="0"/>
                            </a:rPr>
                            <m:t>1</m:t>
                          </m:r>
                        </m:num>
                        <m:den>
                          <m:r>
                            <a:rPr lang="de-CH" sz="1600" i="1">
                              <a:latin typeface="Cambria Math" panose="02040503050406030204" pitchFamily="18" charset="0"/>
                            </a:rPr>
                            <m:t>2</m:t>
                          </m:r>
                        </m:den>
                      </m:f>
                      <m:sSub>
                        <m:sSubPr>
                          <m:ctrlPr>
                            <a:rPr lang="de-CH" sz="1600" b="1" i="1" smtClean="0">
                              <a:latin typeface="Cambria Math" panose="02040503050406030204" pitchFamily="18" charset="0"/>
                            </a:rPr>
                          </m:ctrlPr>
                        </m:sSubPr>
                        <m:e>
                          <m:r>
                            <a:rPr lang="de-CH" sz="1600" b="1" i="1" smtClean="0">
                              <a:latin typeface="Cambria Math" panose="02040503050406030204" pitchFamily="18" charset="0"/>
                            </a:rPr>
                            <m:t>𝑪</m:t>
                          </m:r>
                        </m:e>
                        <m:sub>
                          <m:r>
                            <a:rPr lang="de-CH" sz="1600" b="1" i="1" smtClean="0">
                              <a:latin typeface="Cambria Math" panose="02040503050406030204" pitchFamily="18" charset="0"/>
                            </a:rPr>
                            <m:t>𝒌</m:t>
                          </m:r>
                        </m:sub>
                      </m:sSub>
                      <m:sSup>
                        <m:sSupPr>
                          <m:ctrlPr>
                            <a:rPr lang="de-CH" sz="1600" b="0" i="1" smtClean="0">
                              <a:latin typeface="Cambria Math" panose="02040503050406030204" pitchFamily="18" charset="0"/>
                            </a:rPr>
                          </m:ctrlPr>
                        </m:sSupPr>
                        <m:e>
                          <m:r>
                            <m:rPr>
                              <m:sty m:val="p"/>
                            </m:rPr>
                            <a:rPr lang="de-CH" sz="1600" b="0" i="1" smtClean="0">
                              <a:latin typeface="Cambria Math" panose="02040503050406030204" pitchFamily="18" charset="0"/>
                            </a:rPr>
                            <m:t>U</m:t>
                          </m:r>
                        </m:e>
                        <m:sup>
                          <m:r>
                            <a:rPr lang="de-CH" sz="1600" b="0" i="1" smtClean="0">
                              <a:latin typeface="Cambria Math" panose="02040503050406030204" pitchFamily="18" charset="0"/>
                            </a:rPr>
                            <m:t>2</m:t>
                          </m:r>
                        </m:sup>
                      </m:sSup>
                      <m:r>
                        <a:rPr lang="de-CH" sz="1600" b="0" i="1" smtClean="0">
                          <a:latin typeface="Cambria Math" panose="02040503050406030204" pitchFamily="18" charset="0"/>
                        </a:rPr>
                        <m:t>=</m:t>
                      </m:r>
                      <m:f>
                        <m:fPr>
                          <m:ctrlPr>
                            <a:rPr lang="de-CH" sz="1600" i="1">
                              <a:latin typeface="Cambria Math" panose="02040503050406030204" pitchFamily="18" charset="0"/>
                            </a:rPr>
                          </m:ctrlPr>
                        </m:fPr>
                        <m:num>
                          <m:r>
                            <a:rPr lang="de-CH" sz="1600" i="1">
                              <a:latin typeface="Cambria Math" panose="02040503050406030204" pitchFamily="18" charset="0"/>
                            </a:rPr>
                            <m:t>1</m:t>
                          </m:r>
                        </m:num>
                        <m:den>
                          <m:r>
                            <a:rPr lang="de-CH" sz="1600" i="1">
                              <a:latin typeface="Cambria Math" panose="02040503050406030204" pitchFamily="18" charset="0"/>
                            </a:rPr>
                            <m:t>2</m:t>
                          </m:r>
                        </m:den>
                      </m:f>
                      <m:r>
                        <a:rPr lang="de-CH" sz="1600" i="1">
                          <a:latin typeface="Cambria Math" panose="02040503050406030204" pitchFamily="18" charset="0"/>
                          <a:ea typeface="Cambria Math" panose="02040503050406030204" pitchFamily="18" charset="0"/>
                        </a:rPr>
                        <m:t>∙</m:t>
                      </m:r>
                      <m:f>
                        <m:fPr>
                          <m:ctrlPr>
                            <a:rPr lang="de-CH" sz="1600" b="1" i="1" dirty="0">
                              <a:latin typeface="Cambria Math" panose="02040503050406030204" pitchFamily="18" charset="0"/>
                              <a:ea typeface="Cambria Math" panose="02040503050406030204" pitchFamily="18" charset="0"/>
                            </a:rPr>
                          </m:ctrlPr>
                        </m:fPr>
                        <m:num>
                          <m:sSub>
                            <m:sSubPr>
                              <m:ctrlPr>
                                <a:rPr lang="de-CH" sz="1600" b="1" i="1" dirty="0">
                                  <a:latin typeface="Cambria Math" panose="02040503050406030204" pitchFamily="18" charset="0"/>
                                  <a:ea typeface="Cambria Math" panose="02040503050406030204" pitchFamily="18" charset="0"/>
                                </a:rPr>
                              </m:ctrlPr>
                            </m:sSubPr>
                            <m:e>
                              <m:r>
                                <a:rPr lang="de-CH" sz="1600" b="1" i="1" dirty="0">
                                  <a:latin typeface="Cambria Math" panose="02040503050406030204" pitchFamily="18" charset="0"/>
                                  <a:ea typeface="Cambria Math" panose="02040503050406030204" pitchFamily="18" charset="0"/>
                                </a:rPr>
                                <m:t>𝜺</m:t>
                              </m:r>
                            </m:e>
                            <m:sub>
                              <m:r>
                                <a:rPr lang="de-CH" sz="1600" b="1" i="1" dirty="0">
                                  <a:latin typeface="Cambria Math" panose="02040503050406030204" pitchFamily="18" charset="0"/>
                                </a:rPr>
                                <m:t>𝒌</m:t>
                              </m:r>
                            </m:sub>
                          </m:sSub>
                          <m:sSub>
                            <m:sSubPr>
                              <m:ctrlPr>
                                <a:rPr lang="de-CH" sz="1600" b="1" i="1">
                                  <a:latin typeface="Cambria Math" panose="02040503050406030204" pitchFamily="18" charset="0"/>
                                  <a:ea typeface="Cambria Math" panose="02040503050406030204" pitchFamily="18" charset="0"/>
                                </a:rPr>
                              </m:ctrlPr>
                            </m:sSubPr>
                            <m:e>
                              <m:r>
                                <a:rPr lang="de-CH" sz="1600" b="1" i="1">
                                  <a:latin typeface="Cambria Math" panose="02040503050406030204" pitchFamily="18" charset="0"/>
                                  <a:ea typeface="Cambria Math" panose="02040503050406030204" pitchFamily="18" charset="0"/>
                                </a:rPr>
                                <m:t>𝑨</m:t>
                              </m:r>
                            </m:e>
                            <m:sub>
                              <m:r>
                                <a:rPr lang="de-CH" sz="1600" b="1" i="1">
                                  <a:latin typeface="Cambria Math" panose="02040503050406030204" pitchFamily="18" charset="0"/>
                                  <a:ea typeface="Cambria Math" panose="02040503050406030204" pitchFamily="18" charset="0"/>
                                </a:rPr>
                                <m:t>𝒌</m:t>
                              </m:r>
                            </m:sub>
                          </m:sSub>
                        </m:num>
                        <m:den>
                          <m:r>
                            <a:rPr lang="de-CH" sz="1600" b="1" i="1">
                              <a:latin typeface="Cambria Math" panose="02040503050406030204" pitchFamily="18" charset="0"/>
                            </a:rPr>
                            <m:t>𝒅</m:t>
                          </m:r>
                        </m:den>
                      </m:f>
                      <m:sSup>
                        <m:sSupPr>
                          <m:ctrlPr>
                            <a:rPr lang="de-CH" sz="1600" i="1">
                              <a:latin typeface="Cambria Math" panose="02040503050406030204" pitchFamily="18" charset="0"/>
                            </a:rPr>
                          </m:ctrlPr>
                        </m:sSupPr>
                        <m:e>
                          <m:r>
                            <m:rPr>
                              <m:sty m:val="p"/>
                            </m:rPr>
                            <a:rPr lang="de-CH" sz="1600" i="1">
                              <a:latin typeface="Cambria Math" panose="02040503050406030204" pitchFamily="18" charset="0"/>
                            </a:rPr>
                            <m:t>U</m:t>
                          </m:r>
                        </m:e>
                        <m:sup>
                          <m:r>
                            <a:rPr lang="de-CH" sz="1600" i="1">
                              <a:latin typeface="Cambria Math" panose="02040503050406030204" pitchFamily="18" charset="0"/>
                            </a:rPr>
                            <m:t>2</m:t>
                          </m:r>
                        </m:sup>
                      </m:sSup>
                    </m:oMath>
                  </m:oMathPara>
                </a14:m>
                <a:endParaRPr lang="de-CH" sz="1600" b="0" dirty="0"/>
              </a:p>
              <a:p>
                <a:pPr marL="0" indent="0">
                  <a:buNone/>
                </a:pPr>
                <a:r>
                  <a:rPr lang="de-CH" sz="1600" dirty="0"/>
                  <a:t>Die Kapazität kann auch aus der Energie berechnet werden!</a:t>
                </a:r>
                <a:endParaRPr lang="de-CH" sz="1600" b="0" dirty="0"/>
              </a:p>
              <a:p>
                <a:pPr marL="0" indent="0">
                  <a:buNone/>
                </a:pPr>
                <a:endParaRPr lang="de-CH" sz="1600" b="0" dirty="0"/>
              </a:p>
            </p:txBody>
          </p:sp>
        </mc:Choice>
        <mc:Fallback xmlns="">
          <p:sp>
            <p:nvSpPr>
              <p:cNvPr id="8" name="Content Placeholder 2">
                <a:extLst>
                  <a:ext uri="{FF2B5EF4-FFF2-40B4-BE49-F238E27FC236}">
                    <a16:creationId xmlns:a16="http://schemas.microsoft.com/office/drawing/2014/main" id="{B0FE85BC-48E9-6449-53C1-7A76AD3BFDA6}"/>
                  </a:ext>
                </a:extLst>
              </p:cNvPr>
              <p:cNvSpPr txBox="1">
                <a:spLocks noRot="1" noChangeAspect="1" noMove="1" noResize="1" noEditPoints="1" noAdjustHandles="1" noChangeArrowheads="1" noChangeShapeType="1" noTextEdit="1"/>
              </p:cNvSpPr>
              <p:nvPr/>
            </p:nvSpPr>
            <p:spPr>
              <a:xfrm>
                <a:off x="731836" y="1412875"/>
                <a:ext cx="5632749" cy="4860000"/>
              </a:xfrm>
              <a:prstGeom prst="rect">
                <a:avLst/>
              </a:prstGeom>
              <a:blipFill>
                <a:blip r:embed="rId4"/>
                <a:stretch>
                  <a:fillRect l="-2165" t="-1380" r="-2056"/>
                </a:stretch>
              </a:blipFill>
            </p:spPr>
            <p:txBody>
              <a:bodyPr/>
              <a:lstStyle/>
              <a:p>
                <a:r>
                  <a:rPr lang="en-US">
                    <a:noFill/>
                  </a:rPr>
                  <a:t> </a:t>
                </a:r>
              </a:p>
            </p:txBody>
          </p:sp>
        </mc:Fallback>
      </mc:AlternateContent>
    </p:spTree>
    <p:extLst>
      <p:ext uri="{BB962C8B-B14F-4D97-AF65-F5344CB8AC3E}">
        <p14:creationId xmlns:p14="http://schemas.microsoft.com/office/powerpoint/2010/main" val="392909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2022A-A3F6-9E94-A57F-236585B56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B3539-865F-72B5-6D48-9D7A9EB1D494}"/>
              </a:ext>
            </a:extLst>
          </p:cNvPr>
          <p:cNvSpPr>
            <a:spLocks noGrp="1"/>
          </p:cNvSpPr>
          <p:nvPr>
            <p:ph type="title"/>
          </p:nvPr>
        </p:nvSpPr>
        <p:spPr/>
        <p:txBody>
          <a:bodyPr/>
          <a:lstStyle/>
          <a:p>
            <a:r>
              <a:rPr lang="de-CH" noProof="0" dirty="0"/>
              <a:t>Übungsaufgabe Moodle</a:t>
            </a:r>
          </a:p>
        </p:txBody>
      </p:sp>
      <p:sp>
        <p:nvSpPr>
          <p:cNvPr id="3" name="Date Placeholder 2">
            <a:extLst>
              <a:ext uri="{FF2B5EF4-FFF2-40B4-BE49-F238E27FC236}">
                <a16:creationId xmlns:a16="http://schemas.microsoft.com/office/drawing/2014/main" id="{03B6572F-1DDF-105D-AACE-3FCE3778FF30}"/>
              </a:ext>
            </a:extLst>
          </p:cNvPr>
          <p:cNvSpPr>
            <a:spLocks noGrp="1"/>
          </p:cNvSpPr>
          <p:nvPr>
            <p:ph type="dt" sz="half" idx="10"/>
          </p:nvPr>
        </p:nvSpPr>
        <p:spPr/>
        <p:txBody>
          <a:bodyPr/>
          <a:lstStyle/>
          <a:p>
            <a:fld id="{6C4EAFE7-317E-4912-B75C-DD6945F82242}" type="datetime1">
              <a:rPr lang="de-CH" noProof="0" smtClean="0"/>
              <a:t>27.09.2026</a:t>
            </a:fld>
            <a:endParaRPr lang="de-CH" noProof="0" dirty="0"/>
          </a:p>
        </p:txBody>
      </p:sp>
      <p:sp>
        <p:nvSpPr>
          <p:cNvPr id="4" name="Slide Number Placeholder 3">
            <a:extLst>
              <a:ext uri="{FF2B5EF4-FFF2-40B4-BE49-F238E27FC236}">
                <a16:creationId xmlns:a16="http://schemas.microsoft.com/office/drawing/2014/main" id="{9100B3FE-54AF-915C-4C3C-762E83BBD81C}"/>
              </a:ext>
            </a:extLst>
          </p:cNvPr>
          <p:cNvSpPr>
            <a:spLocks noGrp="1"/>
          </p:cNvSpPr>
          <p:nvPr>
            <p:ph type="sldNum" sz="quarter" idx="12"/>
          </p:nvPr>
        </p:nvSpPr>
        <p:spPr/>
        <p:txBody>
          <a:bodyPr/>
          <a:lstStyle/>
          <a:p>
            <a:fld id="{5ACA52AF-F19D-405C-AD5F-7D94B96A5CC3}" type="slidenum">
              <a:rPr lang="de-CH" noProof="0" smtClean="0"/>
              <a:pPr/>
              <a:t>19</a:t>
            </a:fld>
            <a:endParaRPr lang="de-CH" noProof="0" dirty="0"/>
          </a:p>
        </p:txBody>
      </p:sp>
    </p:spTree>
    <p:extLst>
      <p:ext uri="{BB962C8B-B14F-4D97-AF65-F5344CB8AC3E}">
        <p14:creationId xmlns:p14="http://schemas.microsoft.com/office/powerpoint/2010/main" val="1642284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492A6-86D5-D104-8A97-0C90451E6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CE195-4C43-D3F4-78EE-82B9B49BC999}"/>
              </a:ext>
            </a:extLst>
          </p:cNvPr>
          <p:cNvSpPr>
            <a:spLocks noGrp="1"/>
          </p:cNvSpPr>
          <p:nvPr>
            <p:ph type="title"/>
          </p:nvPr>
        </p:nvSpPr>
        <p:spPr/>
        <p:txBody>
          <a:bodyPr/>
          <a:lstStyle/>
          <a:p>
            <a:r>
              <a:rPr lang="de-CH" noProof="0" dirty="0"/>
              <a:t>Moodle Übungsstunde Woche 3 – Frage 1</a:t>
            </a:r>
          </a:p>
        </p:txBody>
      </p:sp>
      <p:sp>
        <p:nvSpPr>
          <p:cNvPr id="4" name="Date Placeholder 3">
            <a:extLst>
              <a:ext uri="{FF2B5EF4-FFF2-40B4-BE49-F238E27FC236}">
                <a16:creationId xmlns:a16="http://schemas.microsoft.com/office/drawing/2014/main" id="{159DB098-FB52-CFBA-AA1A-C5CCA7538323}"/>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45F5C438-9C08-4D55-E544-39D9178D1367}"/>
              </a:ext>
            </a:extLst>
          </p:cNvPr>
          <p:cNvSpPr>
            <a:spLocks noGrp="1"/>
          </p:cNvSpPr>
          <p:nvPr>
            <p:ph type="sldNum" sz="quarter" idx="12"/>
          </p:nvPr>
        </p:nvSpPr>
        <p:spPr/>
        <p:txBody>
          <a:bodyPr/>
          <a:lstStyle/>
          <a:p>
            <a:fld id="{5ACA52AF-F19D-405C-AD5F-7D94B96A5CC3}" type="slidenum">
              <a:rPr lang="de-CH" noProof="0" smtClean="0"/>
              <a:t>20</a:t>
            </a:fld>
            <a:endParaRPr lang="de-CH" noProof="0" dirty="0"/>
          </a:p>
        </p:txBody>
      </p:sp>
      <p:pic>
        <p:nvPicPr>
          <p:cNvPr id="10" name="Picture Placeholder 9">
            <a:extLst>
              <a:ext uri="{FF2B5EF4-FFF2-40B4-BE49-F238E27FC236}">
                <a16:creationId xmlns:a16="http://schemas.microsoft.com/office/drawing/2014/main" id="{4D0F0C62-43E7-C2C8-B8D8-63EE9B8993F0}"/>
              </a:ext>
            </a:extLst>
          </p:cNvPr>
          <p:cNvPicPr>
            <a:picLocks noGrp="1" noChangeAspect="1"/>
          </p:cNvPicPr>
          <p:nvPr>
            <p:ph type="pic" sz="quarter" idx="13"/>
          </p:nvPr>
        </p:nvPicPr>
        <p:blipFill>
          <a:blip r:embed="rId2"/>
          <a:srcRect t="2815" b="17168"/>
          <a:stretch>
            <a:fillRect/>
          </a:stretch>
        </p:blipFill>
        <p:spPr>
          <a:xfrm>
            <a:off x="272028" y="1853311"/>
            <a:ext cx="11270021" cy="2881710"/>
          </a:xfrm>
          <a:prstGeom prst="rect">
            <a:avLst/>
          </a:prstGeom>
        </p:spPr>
      </p:pic>
    </p:spTree>
    <p:extLst>
      <p:ext uri="{BB962C8B-B14F-4D97-AF65-F5344CB8AC3E}">
        <p14:creationId xmlns:p14="http://schemas.microsoft.com/office/powerpoint/2010/main" val="4003926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4FC4-D95D-B286-7F6F-13F53F4E1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B6A51-3352-90EB-56FA-55CFFBCDBA68}"/>
              </a:ext>
            </a:extLst>
          </p:cNvPr>
          <p:cNvSpPr>
            <a:spLocks noGrp="1"/>
          </p:cNvSpPr>
          <p:nvPr>
            <p:ph type="title"/>
          </p:nvPr>
        </p:nvSpPr>
        <p:spPr/>
        <p:txBody>
          <a:bodyPr/>
          <a:lstStyle/>
          <a:p>
            <a:r>
              <a:rPr lang="de-CH" noProof="0" dirty="0"/>
              <a:t>Moodle Übungsstunde Woche 3 – Frage 2</a:t>
            </a:r>
          </a:p>
        </p:txBody>
      </p:sp>
      <p:sp>
        <p:nvSpPr>
          <p:cNvPr id="4" name="Date Placeholder 3">
            <a:extLst>
              <a:ext uri="{FF2B5EF4-FFF2-40B4-BE49-F238E27FC236}">
                <a16:creationId xmlns:a16="http://schemas.microsoft.com/office/drawing/2014/main" id="{D4FE2D2F-0E06-3A74-762E-4659354314D7}"/>
              </a:ext>
            </a:extLst>
          </p:cNvPr>
          <p:cNvSpPr>
            <a:spLocks noGrp="1"/>
          </p:cNvSpPr>
          <p:nvPr>
            <p:ph type="dt" sz="half" idx="10"/>
          </p:nvPr>
        </p:nvSpPr>
        <p:spPr/>
        <p:txBody>
          <a:bodyPr/>
          <a:lstStyle/>
          <a:p>
            <a:fld id="{68EF82BE-DF56-4719-B180-C3B0D509F71F}" type="datetime1">
              <a:rPr lang="de-CH" noProof="0" smtClean="0"/>
              <a:t>27.09.2026</a:t>
            </a:fld>
            <a:endParaRPr lang="de-CH" noProof="0" dirty="0"/>
          </a:p>
        </p:txBody>
      </p:sp>
      <p:sp>
        <p:nvSpPr>
          <p:cNvPr id="5" name="Slide Number Placeholder 4">
            <a:extLst>
              <a:ext uri="{FF2B5EF4-FFF2-40B4-BE49-F238E27FC236}">
                <a16:creationId xmlns:a16="http://schemas.microsoft.com/office/drawing/2014/main" id="{E7954FF1-5E7E-DBA0-48C4-9197F9C7F332}"/>
              </a:ext>
            </a:extLst>
          </p:cNvPr>
          <p:cNvSpPr>
            <a:spLocks noGrp="1"/>
          </p:cNvSpPr>
          <p:nvPr>
            <p:ph type="sldNum" sz="quarter" idx="12"/>
          </p:nvPr>
        </p:nvSpPr>
        <p:spPr/>
        <p:txBody>
          <a:bodyPr/>
          <a:lstStyle/>
          <a:p>
            <a:fld id="{5ACA52AF-F19D-405C-AD5F-7D94B96A5CC3}" type="slidenum">
              <a:rPr lang="de-CH" noProof="0" smtClean="0"/>
              <a:t>21</a:t>
            </a:fld>
            <a:endParaRPr lang="de-CH" noProof="0" dirty="0"/>
          </a:p>
        </p:txBody>
      </p:sp>
      <p:pic>
        <p:nvPicPr>
          <p:cNvPr id="6" name="Picture 5">
            <a:extLst>
              <a:ext uri="{FF2B5EF4-FFF2-40B4-BE49-F238E27FC236}">
                <a16:creationId xmlns:a16="http://schemas.microsoft.com/office/drawing/2014/main" id="{0044F4BE-C896-4CD0-9AF3-553A551D1643}"/>
              </a:ext>
            </a:extLst>
          </p:cNvPr>
          <p:cNvPicPr>
            <a:picLocks noChangeAspect="1"/>
          </p:cNvPicPr>
          <p:nvPr/>
        </p:nvPicPr>
        <p:blipFill>
          <a:blip r:embed="rId2"/>
          <a:stretch>
            <a:fillRect/>
          </a:stretch>
        </p:blipFill>
        <p:spPr>
          <a:xfrm>
            <a:off x="608834" y="1190312"/>
            <a:ext cx="10974332" cy="4477375"/>
          </a:xfrm>
          <a:prstGeom prst="rect">
            <a:avLst/>
          </a:prstGeom>
        </p:spPr>
      </p:pic>
    </p:spTree>
    <p:extLst>
      <p:ext uri="{BB962C8B-B14F-4D97-AF65-F5344CB8AC3E}">
        <p14:creationId xmlns:p14="http://schemas.microsoft.com/office/powerpoint/2010/main" val="3347692545"/>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U_Template.potx" id="{11673716-FB81-4392-B2DC-68DDA437F931}" vid="{03D18D2F-5578-46DC-A982-D3FF1019311F}"/>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04"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1CDB65-C669-48AA-B1F2-28A8AB9D203C}">
  <we:reference id="wa200010001" version="1.0.0.1" store="en-US" storeType="OMEX"/>
  <we:alternateReferences>
    <we:reference id="WA200010001" version="1.0.0.1" store="WA200010001" storeType="OMEX"/>
  </we:alternateReferences>
  <we:properties>
    <we:property name="claude.fileId" value="&quot;7c0654f5-f9e3-42f2-9a07-364fa37fa38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1173</Words>
  <Application>Microsoft Office PowerPoint</Application>
  <PresentationFormat>Widescreen</PresentationFormat>
  <Paragraphs>204</Paragraphs>
  <Slides>21</Slides>
  <Notes>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ETH Zürich</vt:lpstr>
      <vt:lpstr>Netzwerke und Schaltungen Übungsstunde Woche 3</vt:lpstr>
      <vt:lpstr>Offene Fragen von letzter Woche?</vt:lpstr>
      <vt:lpstr>Theoriebeispiele zu Schlüsselkonzepten</vt:lpstr>
      <vt:lpstr>Beispiel 1 – Die dielektrische Polarisation – Einführung</vt:lpstr>
      <vt:lpstr>Beispiel 1 – Die dielektrische Polarisation</vt:lpstr>
      <vt:lpstr>Beispiel 1 – Die dielektrische Polarisation – Lösung</vt:lpstr>
      <vt:lpstr>Beispiel 1 – Die dielektrische Polarisation – Lösung Fortsetzung</vt:lpstr>
      <vt:lpstr>Beispiel 1b – Die dielektrische Polarisation berechnen</vt:lpstr>
      <vt:lpstr>Beispiel 1b – Die dielektrische Polarisation berechnen – Lösung</vt:lpstr>
      <vt:lpstr>Beispiel 2 – Sprungstellen der Dielektrizitätskonstanten</vt:lpstr>
      <vt:lpstr>Beispiel 2 – Sprungstellen der Dielektrizitätskonstanten – Lösung 1</vt:lpstr>
      <vt:lpstr>Beispiel 2 – Sprungstellen der Dielektrizitätskonstanten – Lösung 2</vt:lpstr>
      <vt:lpstr>Beispiel 3 – Kapazität und Kondensatornetzwerke</vt:lpstr>
      <vt:lpstr>Beispiel 3 – Kapazität und Kondensatornetzwerke – Lösung</vt:lpstr>
      <vt:lpstr>Beispiel 3b – Kapazität und Kondensatornetzwerke</vt:lpstr>
      <vt:lpstr>Beispiel 3b – Kapazität und Kondensatornetzwerke – Lösung</vt:lpstr>
      <vt:lpstr>Beispiel 4 – Energieinhalt des elektrischen Feldes</vt:lpstr>
      <vt:lpstr>Beispiel 4 – Energieinhalt des elektrischen Feldes – Lösung</vt:lpstr>
      <vt:lpstr>Übungsaufgabe Moodle</vt:lpstr>
      <vt:lpstr>Moodle Übungsstunde Woche 3 – Frage 1</vt:lpstr>
      <vt:lpstr>Moodle Übungsstunde Woche 3 – Frage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Gfrörer  Tino</dc:creator>
  <cp:lastModifiedBy>Bechtold  Pit</cp:lastModifiedBy>
  <cp:revision>126</cp:revision>
  <dcterms:created xsi:type="dcterms:W3CDTF">2026-09-04T10:51:08Z</dcterms:created>
  <dcterms:modified xsi:type="dcterms:W3CDTF">2026-09-27T10:14:10Z</dcterms:modified>
</cp:coreProperties>
</file>