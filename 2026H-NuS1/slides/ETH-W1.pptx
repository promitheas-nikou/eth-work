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77" r:id="rId3"/>
    <p:sldId id="297" r:id="rId4"/>
    <p:sldId id="278" r:id="rId5"/>
    <p:sldId id="298" r:id="rId6"/>
    <p:sldId id="299" r:id="rId7"/>
    <p:sldId id="279" r:id="rId8"/>
    <p:sldId id="280" r:id="rId9"/>
    <p:sldId id="286" r:id="rId10"/>
    <p:sldId id="281" r:id="rId11"/>
    <p:sldId id="287" r:id="rId12"/>
    <p:sldId id="282" r:id="rId13"/>
    <p:sldId id="283" r:id="rId14"/>
    <p:sldId id="284" r:id="rId15"/>
    <p:sldId id="289" r:id="rId16"/>
    <p:sldId id="285" r:id="rId17"/>
    <p:sldId id="290" r:id="rId18"/>
    <p:sldId id="294" r:id="rId19"/>
    <p:sldId id="291" r:id="rId20"/>
    <p:sldId id="292" r:id="rId21"/>
    <p:sldId id="293" r:id="rId22"/>
    <p:sldId id="295" r:id="rId23"/>
    <p:sldId id="296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B140A5C-BDD6-46B0-8A66-45FAD0FBC285}">
          <p14:sldIdLst>
            <p14:sldId id="256"/>
            <p14:sldId id="277"/>
            <p14:sldId id="297"/>
            <p14:sldId id="278"/>
            <p14:sldId id="298"/>
            <p14:sldId id="299"/>
          </p14:sldIdLst>
        </p14:section>
        <p14:section name="Theoriebeispiele" id="{960AB6CA-67DE-4FDE-ADC2-51C8BFC50F2F}">
          <p14:sldIdLst>
            <p14:sldId id="279"/>
            <p14:sldId id="280"/>
            <p14:sldId id="286"/>
            <p14:sldId id="281"/>
            <p14:sldId id="287"/>
            <p14:sldId id="282"/>
            <p14:sldId id="283"/>
            <p14:sldId id="284"/>
            <p14:sldId id="289"/>
            <p14:sldId id="285"/>
            <p14:sldId id="290"/>
            <p14:sldId id="294"/>
            <p14:sldId id="291"/>
            <p14:sldId id="292"/>
            <p14:sldId id="293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0BF14F-2F2E-4820-8181-A2142DB8E285}" v="45" dt="2026-09-16T17:33:46.5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12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16.09.2026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16.09.2026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Antwort a ist richtig, da der Vektor in dieselbe Richtung zeigen muss (r ist positiv), und länger sein muss (Betrag r &gt; 1).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62630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F984B-E814-7BD8-2002-8E98F49AE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2161B-E54D-3FF3-14BC-11F3D9C19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70E56-B02D-6CBA-32D8-CD91DA9D9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Antwort a ist richtig, da der Vektor in dieselbe Richtung zeigen muss (r ist positiv), und länger sein muss (Betrag r &gt; 1).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F0D23-BF7B-B76B-8A55-8213E86B9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4732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 ist richtig. R ist negativ, da die Richtung umgekehrt ist. Der Betrag von r ist kleiner 1, da w kürzer ist als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4958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D959-2FE5-970C-4412-324DDDC0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EE0EC-79D1-537E-ACF5-8C8624449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D5BDD-7FB6-E357-F0ED-2FBF6B5DD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 ist richtig. R ist negativ, da die Richtung umgekehrt ist. Der Betrag von r ist kleiner 1, da w kürzer ist als v.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A97D5-FB94-667E-7528-45C30070A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7500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7668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4F839-DBC4-1142-0603-6A7CB07D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5E575-0457-A3F7-E8E7-7A9146AF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AA9BB-5D34-EE71-DE02-DA6DB28EE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B237F-1F1D-EF6F-E041-50ABF918B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5000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DF7DE-6782-04B9-4DCE-01F24AC8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08977-08FB-9118-F6E4-621885C3E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F5B9B-7BF0-40C5-03BE-C527B63AA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40386-2010-9C25-CFE3-98416534A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29057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20EDA-EAAD-25F2-145B-37E9C88E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1EB93-09D3-D6DF-C996-16D53E37D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24382-7109-6E9D-53CD-A764C61C3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2B45A-1552-EF79-9F42-6DA09AF17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805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A227B-A42F-E44D-6EA3-1F8D3E938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304E3-AB05-CFBD-D078-652AECB66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8A13EF-35C0-E9D3-DEA8-88A3F5017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3AA28-D120-E556-2741-28FC77E43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396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44C9-729F-5BC1-619A-F667207A4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B5504-73A1-6662-F1EB-BA037CA4C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BA492-42E3-842F-D516-34B7308EF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73BFC-77CF-DCA4-BF34-B35E68F85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60212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07992-9AEE-73AF-6FE8-E955C0C6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15ED9-6EBC-D29A-56FF-755A66BD2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EE9DB-DEE6-964E-6763-CD5AB1F85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F45B4-ACF8-FF32-776E-5D0BD1844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6946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D6439-EBF4-FBB8-AC5A-0F2CA7F40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43E75-4D5F-2B52-2BBA-B540CA370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7217C-B13B-17FA-4F2B-80919FAC3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DADB6-1E65-5DBE-82D5-19B96559D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9857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D2D6-CBE1-11E7-68BA-2576EA32B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37DD4-C722-34EF-4BE3-6B3947464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E336F-F14B-FA4E-9A09-E10F34359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6598F-CBA0-E6B8-6604-62458E73B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3775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2D6CC-97FA-214B-357A-63F30D63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45A0B-B545-6860-86FC-378F1EE72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9A899-D466-D30E-308A-7F88106F0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63903-706C-6201-A9A5-DD22C42AB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9255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AB942-80EA-A2F0-B65F-F8377E37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07403-3493-4A00-77BD-AD958FA25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7749F-5DFC-C103-997F-448BB8F7C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8A3C3-A221-3EED-12E7-41BB20A9E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66837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A884FE03-D03B-D605-7538-2F13D538DA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D2AF4BE6-5505-84B0-84F1-FE02019E7C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4" name="Picture Placeholder 14">
            <a:extLst>
              <a:ext uri="{FF2B5EF4-FFF2-40B4-BE49-F238E27FC236}">
                <a16:creationId xmlns:a16="http://schemas.microsoft.com/office/drawing/2014/main" id="{D6CEF0F1-CE6F-BE8A-3844-BFD085AAC5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579C612-10BE-1EBE-D018-B0D032C144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BF4C2FB-6615-B78A-B02E-8E60B52D6F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E799E1B2-701E-9FC5-2CDC-43C2939091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42242C32-D53C-B3C3-E0EA-9C0F765195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D8DE6C5E-4745-1EF1-FA49-6358EFD11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  <p:pic>
        <p:nvPicPr>
          <p:cNvPr id="7" name="Picture Placeholder 14">
            <a:extLst>
              <a:ext uri="{FF2B5EF4-FFF2-40B4-BE49-F238E27FC236}">
                <a16:creationId xmlns:a16="http://schemas.microsoft.com/office/drawing/2014/main" id="{3C0CA6CE-880C-7C54-9870-FFDA70F25E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" r="3523" b="5612"/>
          <a:stretch>
            <a:fillRect/>
          </a:stretch>
        </p:blipFill>
        <p:spPr>
          <a:xfrm>
            <a:off x="2300288" y="6452473"/>
            <a:ext cx="820032" cy="2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8" name="Picture Placeholder 14">
            <a:extLst>
              <a:ext uri="{FF2B5EF4-FFF2-40B4-BE49-F238E27FC236}">
                <a16:creationId xmlns:a16="http://schemas.microsoft.com/office/drawing/2014/main" id="{A4054932-D157-98C3-08CB-8B67A37646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53EBC0E6-6124-869C-FA2E-CD9D3D683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72073686-C6D1-0392-7EA6-5B450A9CDC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219A749E-EB56-70C9-92DA-5973901D7B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11327ECB-0323-0F7E-02D3-F29F465F5D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8B34EBAD-E89E-4FE4-BCDC-4A3E84B14D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6D1E3B3E-73DE-8C34-2C96-4FE6A8E57D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pnikou@student.ethz.ch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pontifex.ethz.ch/site1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NlGysPeUliY" TargetMode="External"/><Relationship Id="rId4" Type="http://schemas.openxmlformats.org/officeDocument/2006/relationships/hyperlink" Target="https://www.youtube.com/watch?v=A76JpF7ktCI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0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800" dirty="0"/>
              <a:t>Netzwerke und Schaltungen Übungsstunde Woche 1</a:t>
            </a:r>
            <a:endParaRPr lang="de-CH" sz="28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 b="1"/>
              <a:t>Promitheas Nikou</a:t>
            </a:r>
            <a:endParaRPr lang="en-US"/>
          </a:p>
          <a:p>
            <a:r>
              <a:rPr lang="de-DE"/>
              <a:t>pnikou@student.ethz.ch</a:t>
            </a:r>
            <a:endParaRPr lang="de-DE">
              <a:cs typeface="Arial"/>
            </a:endParaRPr>
          </a:p>
          <a:p>
            <a:r>
              <a:rPr lang="de-DE" dirty="0"/>
              <a:t>17. September 2026</a:t>
            </a:r>
            <a:endParaRPr lang="de-CH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A89567B-A643-B2E1-8CD0-816E3D9E98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2970-55DF-F74B-035D-02C79B2BB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Wilkommen!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1A8B3-61D1-57AA-1D59-017A6A1CE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9875" indent="-269875"/>
            <a:r>
              <a:rPr lang="de-CH" dirty="0">
                <a:cs typeface="Arial"/>
              </a:rPr>
              <a:t>Hallo </a:t>
            </a:r>
            <a:r>
              <a:rPr lang="de-CH" dirty="0">
                <a:ea typeface="+mn-lt"/>
                <a:cs typeface="+mn-lt"/>
              </a:rPr>
              <a:t>👋</a:t>
            </a:r>
            <a:br>
              <a:rPr lang="de-CH" dirty="0">
                <a:ea typeface="+mn-lt"/>
                <a:cs typeface="+mn-lt"/>
              </a:rPr>
            </a:br>
            <a:r>
              <a:rPr lang="de-CH" dirty="0">
                <a:ea typeface="+mn-lt"/>
                <a:cs typeface="+mn-lt"/>
              </a:rPr>
              <a:t>Ich bin </a:t>
            </a:r>
            <a:r>
              <a:rPr lang="de-CH" dirty="0" err="1">
                <a:ea typeface="+mn-lt"/>
                <a:cs typeface="+mn-lt"/>
              </a:rPr>
              <a:t>Promitheas</a:t>
            </a:r>
            <a:br>
              <a:rPr lang="en-US" dirty="0"/>
            </a:br>
            <a:r>
              <a:rPr lang="de-CH" dirty="0">
                <a:ea typeface="+mn-lt"/>
                <a:cs typeface="+mn-lt"/>
              </a:rPr>
              <a:t>Ich bin im 3em Semester Bachelor Elektrotechnik</a:t>
            </a:r>
          </a:p>
          <a:p>
            <a:pPr marL="269875" indent="-269875"/>
            <a:endParaRPr lang="de-CH" dirty="0">
              <a:cs typeface="Arial"/>
            </a:endParaRPr>
          </a:p>
          <a:p>
            <a:pPr marL="269875" indent="-269875"/>
            <a:endParaRPr lang="de-CH" dirty="0">
              <a:cs typeface="Arial"/>
            </a:endParaRPr>
          </a:p>
          <a:p>
            <a:pPr marL="269875" indent="-269875"/>
            <a:endParaRPr lang="de-CH" dirty="0">
              <a:cs typeface="Arial"/>
            </a:endParaRPr>
          </a:p>
          <a:p>
            <a:pPr marL="269875" indent="-269875"/>
            <a:r>
              <a:rPr lang="de-CH" dirty="0">
                <a:ea typeface="+mn-lt"/>
                <a:cs typeface="+mn-lt"/>
              </a:rPr>
              <a:t>Bei Frage immer melden: </a:t>
            </a:r>
            <a:r>
              <a:rPr lang="de-CH" dirty="0" err="1">
                <a:ea typeface="+mn-lt"/>
                <a:cs typeface="+mn-lt"/>
              </a:rPr>
              <a:t>Moodle</a:t>
            </a:r>
            <a:r>
              <a:rPr lang="de-CH" dirty="0">
                <a:ea typeface="+mn-lt"/>
                <a:cs typeface="+mn-lt"/>
              </a:rPr>
              <a:t> Gruppe oder </a:t>
            </a:r>
            <a:r>
              <a:rPr lang="de-CH" dirty="0">
                <a:ea typeface="+mn-lt"/>
                <a:cs typeface="+mn-lt"/>
                <a:hlinkClick r:id="rId2"/>
              </a:rPr>
              <a:t>pnikou@student.ethz.ch</a:t>
            </a:r>
            <a:br>
              <a:rPr lang="de-CH" dirty="0">
                <a:ea typeface="+mn-lt"/>
                <a:cs typeface="+mn-lt"/>
              </a:rPr>
            </a:br>
            <a:r>
              <a:rPr lang="de-CH" dirty="0">
                <a:ea typeface="+mn-lt"/>
                <a:cs typeface="+mn-lt"/>
              </a:rPr>
              <a:t>(Auch für Tipps, Hilfe mit Übungen, oder Theoriefragen) </a:t>
            </a:r>
            <a:endParaRPr lang="de-CH" dirty="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9C9D3-CF83-5EFA-A386-9FE98430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C8C96-F9C9-4896-D9F0-20FE8ECF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550967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9358-EDFE-73CC-3407-1C73FBC4C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Aufbau der Übungsstunde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FF334-E271-EB84-1335-E3E2490D0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Offene Fragen von letzter Woche (heute: organisatorisches)</a:t>
            </a:r>
          </a:p>
          <a:p>
            <a:r>
              <a:rPr lang="de-CH" dirty="0"/>
              <a:t>Theoriebeispiele zum gemeinsamen Lösen</a:t>
            </a:r>
          </a:p>
          <a:p>
            <a:r>
              <a:rPr lang="de-CH" dirty="0"/>
              <a:t>Eigenes Rechnen einiger repräsentativer Aufgaben mit meiner Hilfe (moodle Übungsaufgabe, heute Brückenkurs Mathematik)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B8BA8-FCFD-9B77-40FB-A8BC5033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2CDCD-F732-6D34-E4FE-0DD854D1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403288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A668-BF38-2CE8-4E49-DBA62E60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Notenbonus (Lesekontrollfragen und Bonusaufgaben)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BD5D7-E82E-FB1E-72C2-540BBBC66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Es ist möglich einen </a:t>
            </a:r>
            <a:r>
              <a:rPr lang="de-CH" b="1" dirty="0"/>
              <a:t>Notenbonus von bis zu 0.25 </a:t>
            </a:r>
            <a:r>
              <a:rPr lang="de-CH" dirty="0"/>
              <a:t>auf die Endnote der Prüfung zu bekommen:</a:t>
            </a:r>
          </a:p>
          <a:p>
            <a:r>
              <a:rPr lang="de-CH" dirty="0"/>
              <a:t>Lesekontrollfragen bis Sonntag 18:00 vor der Vorlesung beantworten</a:t>
            </a:r>
          </a:p>
          <a:p>
            <a:pPr lvl="1"/>
            <a:r>
              <a:rPr lang="de-CH" dirty="0"/>
              <a:t>So viele Versuche wie gewollt, bester Versuch wird bewertet</a:t>
            </a:r>
          </a:p>
          <a:p>
            <a:r>
              <a:rPr lang="de-CH" dirty="0"/>
              <a:t>Bonusaufgaben bis Sonntag 18:00 vor der Vorlesung lösen</a:t>
            </a:r>
          </a:p>
          <a:p>
            <a:pPr lvl="1"/>
            <a:r>
              <a:rPr lang="de-CH" dirty="0"/>
              <a:t>So viele Versuche wie gewollt, bester Versuch wird bewertet</a:t>
            </a:r>
          </a:p>
          <a:p>
            <a:r>
              <a:rPr lang="de-CH" dirty="0"/>
              <a:t>300 Pkt. während des Semesters erreichbar.</a:t>
            </a:r>
          </a:p>
          <a:p>
            <a:r>
              <a:rPr lang="de-CH" dirty="0"/>
              <a:t>Ende des Semesters gibt es ein paar Extraaufgaben, falls mal eine Woche die Aufgaben nicht beantwortet werden können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F3F11-CF2F-6038-F132-9E2EB98FD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4D22EF-FE01-DD88-5FAC-DDB2B226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14CE50-A2FD-A6B7-5B3D-DE2AE8D0A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39710"/>
              </p:ext>
            </p:extLst>
          </p:nvPr>
        </p:nvGraphicFramePr>
        <p:xfrm>
          <a:off x="7121298" y="4500604"/>
          <a:ext cx="3658394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2451">
                  <a:extLst>
                    <a:ext uri="{9D8B030D-6E8A-4147-A177-3AD203B41FA5}">
                      <a16:colId xmlns:a16="http://schemas.microsoft.com/office/drawing/2014/main" val="2400141419"/>
                    </a:ext>
                  </a:extLst>
                </a:gridCol>
                <a:gridCol w="1465943">
                  <a:extLst>
                    <a:ext uri="{9D8B030D-6E8A-4147-A177-3AD203B41FA5}">
                      <a16:colId xmlns:a16="http://schemas.microsoft.com/office/drawing/2014/main" val="104252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erreichte Punkte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Notenbonus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754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dirty="0"/>
                        <a:t>&lt;</a:t>
                      </a:r>
                      <a:r>
                        <a:rPr lang="de-CH" baseline="0" dirty="0"/>
                        <a:t> </a:t>
                      </a:r>
                      <a:r>
                        <a:rPr lang="de-CH" dirty="0"/>
                        <a:t>140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972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140 - 280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linear interpoliert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526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≥ 280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50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55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303C-E8C0-3364-5AB8-A8BC47D7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Study Center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7CD0B-A102-BA14-7736-8D9CB5A55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Alle Study Center </a:t>
            </a:r>
            <a:r>
              <a:rPr lang="de-CH" b="1" dirty="0"/>
              <a:t>mittwochs von 12:00 bis 14:00 </a:t>
            </a:r>
            <a:r>
              <a:rPr lang="de-CH" dirty="0"/>
              <a:t>ab der zweiten Woche</a:t>
            </a:r>
          </a:p>
          <a:p>
            <a:pPr lvl="1"/>
            <a:r>
              <a:rPr lang="de-CH" b="1" dirty="0"/>
              <a:t>Netzwerke und Schaltungen: GLC E 29.2</a:t>
            </a:r>
          </a:p>
          <a:p>
            <a:pPr lvl="1"/>
            <a:r>
              <a:rPr lang="de-CH" dirty="0"/>
              <a:t>Technische Mechanik: GLC E 24</a:t>
            </a:r>
          </a:p>
          <a:p>
            <a:pPr lvl="1"/>
            <a:r>
              <a:rPr lang="de-CH" dirty="0"/>
              <a:t>Digitaltechnik: GLC E 29.1</a:t>
            </a:r>
          </a:p>
          <a:p>
            <a:pPr lvl="1"/>
            <a:r>
              <a:rPr lang="de-CH" dirty="0"/>
              <a:t>Lineare Algebra: GLC E 34.1</a:t>
            </a:r>
          </a:p>
          <a:p>
            <a:pPr lvl="1"/>
            <a:r>
              <a:rPr lang="de-CH" dirty="0"/>
              <a:t>Analysis I: GLC E 34.2</a:t>
            </a:r>
          </a:p>
          <a:p>
            <a:pPr lvl="1"/>
            <a:endParaRPr lang="de-CH" dirty="0"/>
          </a:p>
          <a:p>
            <a:r>
              <a:rPr lang="de-CH" dirty="0"/>
              <a:t>Zusammen lernen</a:t>
            </a:r>
          </a:p>
          <a:p>
            <a:r>
              <a:rPr lang="de-CH" dirty="0"/>
              <a:t>TAs sind vor Ort und beantworten Fragen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36A9-2EB2-42B0-5D7F-060A023F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9CF6-BEA1-6A90-864C-7E13A8F7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36282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B446-AEDA-DF8E-214B-1010DF9C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Weitere Unterlagen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9C320-A349-3238-7FCE-3569C9D2A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412875"/>
            <a:ext cx="6257438" cy="4680000"/>
          </a:xfrm>
        </p:spPr>
        <p:txBody>
          <a:bodyPr/>
          <a:lstStyle/>
          <a:p>
            <a:r>
              <a:rPr lang="de-CH" dirty="0"/>
              <a:t>Brückenkurs Mathematik (ihr habt einen persönlichen link zu </a:t>
            </a:r>
            <a:r>
              <a:rPr lang="de-CH" dirty="0">
                <a:hlinkClick r:id="rId2"/>
              </a:rPr>
              <a:t>https://pontifex.ethz.ch/site1/</a:t>
            </a:r>
            <a:r>
              <a:rPr lang="de-CH" dirty="0"/>
              <a:t> per email gekriegt)</a:t>
            </a:r>
          </a:p>
          <a:p>
            <a:pPr lvl="1"/>
            <a:r>
              <a:rPr lang="de-CH" dirty="0"/>
              <a:t>Integralrechnung</a:t>
            </a:r>
          </a:p>
          <a:p>
            <a:pPr lvl="1"/>
            <a:r>
              <a:rPr lang="de-CH" dirty="0"/>
              <a:t>Vektorgeometrie</a:t>
            </a:r>
          </a:p>
          <a:p>
            <a:r>
              <a:rPr lang="de-CH" dirty="0"/>
              <a:t>Moodle</a:t>
            </a:r>
          </a:p>
          <a:p>
            <a:r>
              <a:rPr lang="de-CH" dirty="0"/>
              <a:t>Albach Buch und Übungsbuch</a:t>
            </a:r>
          </a:p>
          <a:p>
            <a:pPr lvl="1"/>
            <a:r>
              <a:rPr lang="de-CH" dirty="0"/>
              <a:t>Online-Übungsplatform Zugang bei Kauf des Buches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B4865-5CB3-D465-3624-85C6A134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A571A-F197-F299-451C-A9FF80FE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5C409A-AD40-ACF3-0371-6F1BF7BE2108}"/>
              </a:ext>
            </a:extLst>
          </p:cNvPr>
          <p:cNvGrpSpPr/>
          <p:nvPr/>
        </p:nvGrpSpPr>
        <p:grpSpPr>
          <a:xfrm>
            <a:off x="3270142" y="4810781"/>
            <a:ext cx="8744293" cy="1589093"/>
            <a:chOff x="3270142" y="4810781"/>
            <a:chExt cx="8744293" cy="158909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9E960BD-3D37-D495-2A6F-9D34CBC02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70142" y="4810781"/>
              <a:ext cx="2494482" cy="89002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E1EE399-9919-2EE3-79FC-CA08A6E5DDDB}"/>
                </a:ext>
              </a:extLst>
            </p:cNvPr>
            <p:cNvSpPr txBox="1"/>
            <p:nvPr/>
          </p:nvSpPr>
          <p:spPr>
            <a:xfrm>
              <a:off x="3270142" y="5753543"/>
              <a:ext cx="87442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dirty="0"/>
                <a:t>#04 – Vereinfachung Wegintegral </a:t>
              </a:r>
              <a:r>
                <a:rPr lang="de-CH" sz="1400" dirty="0"/>
                <a:t>(</a:t>
              </a:r>
              <a:r>
                <a:rPr lang="de-CH" sz="1400" dirty="0">
                  <a:hlinkClick r:id="rId4"/>
                </a:rPr>
                <a:t>https://www.youtube.com/watch?v=A76JpF7ktCI</a:t>
              </a:r>
              <a:r>
                <a:rPr lang="de-CH" sz="1400" dirty="0"/>
                <a:t>)</a:t>
              </a:r>
            </a:p>
            <a:p>
              <a:r>
                <a:rPr lang="de-CH" dirty="0"/>
                <a:t>#03 – Vereinfachung Oberflächenintegral </a:t>
              </a:r>
              <a:r>
                <a:rPr lang="de-CH" sz="1400" dirty="0"/>
                <a:t>(</a:t>
              </a:r>
              <a:r>
                <a:rPr lang="de-CH" sz="1400" dirty="0">
                  <a:hlinkClick r:id="rId5"/>
                </a:rPr>
                <a:t>https://www.youtube.com/watch?v=NlGysPeUliY</a:t>
              </a:r>
              <a:r>
                <a:rPr lang="de-CH" sz="1400" dirty="0"/>
                <a:t>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2510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1113-A775-0E32-71B6-865E2AD54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Theoriebeispiele Mathematik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6225A-DE64-E220-5076-C2B1DE9F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FE87B-C7A8-1825-3C08-7564439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7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35796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0C0C-AFDE-883A-21C7-1AA1A77A0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Vektoren – (Albach Anhang A): Beispiel 1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5C7BC-2B19-A8BA-6D14-52262099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9EFE2-B835-AED4-F608-8AF90034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E2A5FD-6FA8-F083-DE99-08AE4E769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" y="1412875"/>
            <a:ext cx="6143179" cy="4768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5ABCF1-1D78-B0B8-E97E-023F8C1D4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40" y="2537391"/>
            <a:ext cx="974604" cy="238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87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8C198-9EF5-B269-18D2-5A778790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F2D50-7CE0-FDFE-6DE6-FB7E9972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Vektoren – (Albach Anhang A): Beispiel 1 Lösung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EA54A-FE95-4BCD-A166-B9D2F722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9A35B-CE4F-6996-4B04-709C7E19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46B20A-49FD-0442-6FF8-89058A067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" y="1412875"/>
            <a:ext cx="6143179" cy="4768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262DE0-EDA3-FFF9-075E-10B89B1553DC}"/>
              </a:ext>
            </a:extLst>
          </p:cNvPr>
          <p:cNvSpPr txBox="1"/>
          <p:nvPr/>
        </p:nvSpPr>
        <p:spPr>
          <a:xfrm>
            <a:off x="6875016" y="1160351"/>
            <a:ext cx="4210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Antwort a ist richtig, da der Vektor in dieselbe Richtung zeigen muss (r &gt; 0), und länger sein muss als v (|r| &gt; 1). 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CE952-8C4D-97C5-4E25-9FE7E2445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40" y="2537391"/>
            <a:ext cx="974604" cy="238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03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AF8C-EB47-816C-1814-67A72D1A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Vektoren – (Albach Anhang A): Beispiel 2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EBCF6-F1B1-22F0-BD86-A000519E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AB256-052E-A1AB-2929-40EB45665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FD0D5-CA11-C4EB-9B37-432559B92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9" y="1412875"/>
            <a:ext cx="6098340" cy="4759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9A5AA2-12FB-0358-6FF7-D23C021B9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028" y="2934182"/>
            <a:ext cx="1785232" cy="171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73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CD7AD-E7C3-63AA-861B-CAB6968CC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DF77-8849-E6C0-3F6D-B3586FCF8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Vektoren – (Albach Anhang A): Beispiel 2 Lösung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FFBCB-3775-C170-3916-ABBE009D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46B70-0BC8-99A0-9B02-EE5CD628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AFBA6B-0FE4-0755-E46D-59F1CBDCE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9" y="1412875"/>
            <a:ext cx="6098340" cy="4759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9A42C6-2C05-86C8-A05C-A2D70F2F4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028" y="2934182"/>
            <a:ext cx="1785232" cy="17199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840053-8C95-DA6A-1C54-D17DA68AF2FA}"/>
              </a:ext>
            </a:extLst>
          </p:cNvPr>
          <p:cNvSpPr txBox="1"/>
          <p:nvPr/>
        </p:nvSpPr>
        <p:spPr>
          <a:xfrm>
            <a:off x="6989197" y="1160351"/>
            <a:ext cx="4470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d ist richtig. r &lt; 0, da die Richtung umgekehrt ist. |r| &lt; 1, da w kürzer ist als v.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321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5A735-5335-7739-7554-A2FC4BED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Vektoren – (Albach Anhang A): Beispiel 3 – Vektoraddition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638FB0-D1C0-C35F-3CBC-B7558452DA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30" y="1160351"/>
            <a:ext cx="5147469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089D8-A2C2-4B94-E813-1880E8220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9F055-0B22-B994-164E-8F4D3BF5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EF9C80-ABC1-2953-6D14-D64AD5EE6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40" y="2537391"/>
            <a:ext cx="974604" cy="23814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7D7BAC-DAD7-1426-9F42-560605EDA4F3}"/>
                  </a:ext>
                </a:extLst>
              </p:cNvPr>
              <p:cNvSpPr txBox="1"/>
              <p:nvPr/>
            </p:nvSpPr>
            <p:spPr>
              <a:xfrm>
                <a:off x="8111981" y="1710371"/>
                <a:ext cx="1074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=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7D7BAC-DAD7-1426-9F42-560605EDA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981" y="1710371"/>
                <a:ext cx="1074012" cy="276999"/>
              </a:xfrm>
              <a:prstGeom prst="rect">
                <a:avLst/>
              </a:prstGeom>
              <a:blipFill>
                <a:blip r:embed="rId5"/>
                <a:stretch>
                  <a:fillRect l="-2273" r="-397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985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0F2F2-4654-6A84-B66C-9377F67BE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BD42-704A-0792-2103-AE748F43F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Vektoren – (Albach Anhang A): Beispiel 3 – Vektoraddition Lösung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EB1AD0-EEE7-177F-7EBE-8B38DBE3A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530" y="1160351"/>
            <a:ext cx="5147469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87AC7-D35D-F93F-2021-93321299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C360A-B090-B54B-0C2E-B3553F9A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7BF44-CC3B-9A22-2843-219CDD319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40" y="2537391"/>
            <a:ext cx="974604" cy="23814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2100A6-02EE-90E8-C02B-243CB21FAD2A}"/>
                  </a:ext>
                </a:extLst>
              </p:cNvPr>
              <p:cNvSpPr txBox="1"/>
              <p:nvPr/>
            </p:nvSpPr>
            <p:spPr>
              <a:xfrm>
                <a:off x="8111981" y="1710371"/>
                <a:ext cx="1115690" cy="318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=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2100A6-02EE-90E8-C02B-243CB21FA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981" y="1710371"/>
                <a:ext cx="1115690" cy="318036"/>
              </a:xfrm>
              <a:prstGeom prst="rect">
                <a:avLst/>
              </a:prstGeom>
              <a:blipFill>
                <a:blip r:embed="rId5"/>
                <a:stretch>
                  <a:fillRect l="-2186" r="-4372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589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CD00-1C6E-8A1E-5A0E-9244AEE8D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1663-BFFF-7B42-061F-EAD88397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Vektoren – (Albach Anhang A): Beispiel 4 – Skalarprodukt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746145-3B93-8A92-476E-E73A37289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530" y="1160351"/>
            <a:ext cx="5147469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E9168-3AE5-066A-B8B0-424BEA497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08341-7106-562A-AB63-547A1141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553DC9-DF9D-CB12-310F-A3F6169E7C55}"/>
                  </a:ext>
                </a:extLst>
              </p:cNvPr>
              <p:cNvSpPr txBox="1"/>
              <p:nvPr/>
            </p:nvSpPr>
            <p:spPr>
              <a:xfrm>
                <a:off x="8111981" y="1551344"/>
                <a:ext cx="9666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=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553DC9-DF9D-CB12-310F-A3F6169E7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981" y="1551344"/>
                <a:ext cx="966611" cy="276999"/>
              </a:xfrm>
              <a:prstGeom prst="rect">
                <a:avLst/>
              </a:prstGeom>
              <a:blipFill>
                <a:blip r:embed="rId4"/>
                <a:stretch>
                  <a:fillRect l="-2532" r="-5063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A29F93-0B83-A764-CB36-C48594F9401F}"/>
                  </a:ext>
                </a:extLst>
              </p:cNvPr>
              <p:cNvSpPr txBox="1"/>
              <p:nvPr/>
            </p:nvSpPr>
            <p:spPr>
              <a:xfrm>
                <a:off x="8111981" y="3371164"/>
                <a:ext cx="943785" cy="2469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     5</m:t>
                      </m:r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 </m:t>
                      </m:r>
                      <m:rad>
                        <m:radPr>
                          <m:degHide m:val="on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    0</m:t>
                      </m:r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−</m:t>
                      </m:r>
                      <m:rad>
                        <m:radPr>
                          <m:degHide m:val="on"/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   −5</m:t>
                      </m:r>
                    </m:oMath>
                  </m:oMathPara>
                </a14:m>
                <a:endParaRPr lang="de-CH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A29F93-0B83-A764-CB36-C48594F94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981" y="3371164"/>
                <a:ext cx="943785" cy="24691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648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067C4-C9F3-970B-B3AB-F0A861EA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C9800-D7D6-D66F-8842-0AE6C001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Vektoren – (Albach Anhang A): Beispiel 4 – Skalarprodukt Lösung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305D2D-5FF8-8D3A-1D24-C7E6D1F278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530" y="1160351"/>
            <a:ext cx="5147469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6B421-A66B-BBA1-0135-74418D65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8EF04-6D77-730C-A074-2B060A773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A7AD4B-8E41-9051-2B81-84E4D7679E23}"/>
                  </a:ext>
                </a:extLst>
              </p:cNvPr>
              <p:cNvSpPr txBox="1"/>
              <p:nvPr/>
            </p:nvSpPr>
            <p:spPr>
              <a:xfrm>
                <a:off x="8111981" y="1487275"/>
                <a:ext cx="2685890" cy="15569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br>
                  <a:rPr lang="de-CH" b="0" dirty="0"/>
                </a:br>
                <a:r>
                  <a:rPr lang="de-CH" b="0" dirty="0"/>
                  <a:t>denn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m:rPr>
                        <m:nor/>
                      </m:rPr>
                      <a:rPr lang="en-US" i="0"/>
                      <m:t>⊥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i="1">
                            <a:solidFill>
                              <a:srgbClr val="215CAF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acc>
                    <m:r>
                      <a:rPr lang="de-CH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de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i="1">
                            <a:solidFill>
                              <a:srgbClr val="215CAF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acc>
                    <m:r>
                      <a:rPr lang="de-CH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CH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de-CH" i="1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br>
                  <a:rPr lang="de-CH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CH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de-CH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215CA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CH" b="0" i="1" smtClean="0">
                                    <a:solidFill>
                                      <a:srgbClr val="215CA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e-CH" b="0" i="1" smtClean="0">
                                    <a:solidFill>
                                      <a:srgbClr val="215CAF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nor/>
                        </m:rPr>
                        <a:rPr lang="de-CH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/>
                        <m:t>–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2=0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A7AD4B-8E41-9051-2B81-84E4D7679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981" y="1487275"/>
                <a:ext cx="2685890" cy="1556965"/>
              </a:xfrm>
              <a:prstGeom prst="rect">
                <a:avLst/>
              </a:prstGeom>
              <a:blipFill>
                <a:blip r:embed="rId4"/>
                <a:stretch>
                  <a:fillRect l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833FA8-EC4E-8769-4D1B-7647FB4816A6}"/>
                  </a:ext>
                </a:extLst>
              </p:cNvPr>
              <p:cNvSpPr txBox="1"/>
              <p:nvPr/>
            </p:nvSpPr>
            <p:spPr>
              <a:xfrm>
                <a:off x="8111981" y="3371164"/>
                <a:ext cx="943785" cy="2469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     5</m:t>
                      </m:r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 </m:t>
                      </m:r>
                      <m:rad>
                        <m:radPr>
                          <m:degHide m:val="on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de-CH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de-CH" b="1" i="1" smtClean="0">
                          <a:latin typeface="Cambria Math" panose="02040503050406030204" pitchFamily="18" charset="0"/>
                        </a:rPr>
                        <m:t>)      </m:t>
                      </m:r>
                      <m:r>
                        <a:rPr lang="de-CH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−</m:t>
                      </m:r>
                      <m:rad>
                        <m:radPr>
                          <m:degHide m:val="on"/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   −5</m:t>
                      </m:r>
                    </m:oMath>
                  </m:oMathPara>
                </a14:m>
                <a:endParaRPr lang="de-CH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833FA8-EC4E-8769-4D1B-7647FB481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981" y="3371164"/>
                <a:ext cx="943785" cy="24691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671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8CBDF-7938-F1DB-94B5-D6248512A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3EC8-9E10-8AD3-12DC-06648565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Vektoren – (Albach Anhang A): Beispiel 5 – Skalarprodukt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C8ED60-73AA-C480-0B3B-E5054C945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530" y="1160351"/>
            <a:ext cx="5147469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D71EA-4602-398A-0D63-B3CC24CF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A3FEA-33F4-7BE0-8DEA-CA242D7C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95BF09-5684-DB62-27E8-DFD97A0627E0}"/>
                  </a:ext>
                </a:extLst>
              </p:cNvPr>
              <p:cNvSpPr txBox="1"/>
              <p:nvPr/>
            </p:nvSpPr>
            <p:spPr>
              <a:xfrm>
                <a:off x="8111981" y="1710371"/>
                <a:ext cx="9666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=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95BF09-5684-DB62-27E8-DFD97A062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981" y="1710371"/>
                <a:ext cx="966611" cy="276999"/>
              </a:xfrm>
              <a:prstGeom prst="rect">
                <a:avLst/>
              </a:prstGeom>
              <a:blipFill>
                <a:blip r:embed="rId4"/>
                <a:stretch>
                  <a:fillRect l="-2532" r="-5063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4FB50A-23F7-A437-2740-ABC6B0BDEC6C}"/>
                  </a:ext>
                </a:extLst>
              </p:cNvPr>
              <p:cNvSpPr txBox="1"/>
              <p:nvPr/>
            </p:nvSpPr>
            <p:spPr>
              <a:xfrm>
                <a:off x="8087711" y="3371164"/>
                <a:ext cx="1015150" cy="2469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     5</m:t>
                      </m:r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 </m:t>
                      </m:r>
                      <m:rad>
                        <m:radPr>
                          <m:degHide m:val="on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    0</m:t>
                      </m:r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−</m:t>
                      </m:r>
                      <m:rad>
                        <m:radPr>
                          <m:degHide m:val="on"/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   −5</m:t>
                      </m:r>
                    </m:oMath>
                  </m:oMathPara>
                </a14:m>
                <a:endParaRPr lang="de-CH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4FB50A-23F7-A437-2740-ABC6B0BDE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711" y="3371164"/>
                <a:ext cx="1015150" cy="24691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59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A495C-2905-21E6-AE44-6ABC81680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7395F-FC21-FDDF-74A2-B80A0D97A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Vektoren – (Albach Anhang A): Beispiel 5 – Skalarprodukt Lösung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120548-4386-1821-1EDD-B1F76C3B0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530" y="1160351"/>
            <a:ext cx="5147469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EEE77-1071-CCB4-C93B-BA6CADE9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52AE7-6D38-0A9B-5214-9BD0657C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168ABD-CB91-8AD2-1F88-B1129F422F64}"/>
                  </a:ext>
                </a:extLst>
              </p:cNvPr>
              <p:cNvSpPr txBox="1"/>
              <p:nvPr/>
            </p:nvSpPr>
            <p:spPr>
              <a:xfrm>
                <a:off x="8111981" y="1638809"/>
                <a:ext cx="3077766" cy="1521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b="0" i="1" smtClean="0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acc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 = 5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de-CH" i="0" dirty="0"/>
                        <m:t>denn</m:t>
                      </m:r>
                      <m:r>
                        <m:rPr>
                          <m:nor/>
                        </m:rPr>
                        <a:rPr lang="de-CH" i="0" dirty="0"/>
                        <m:t> </m:t>
                      </m:r>
                      <m:acc>
                        <m:accPr>
                          <m:chr m:val="⃗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de-CH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b="0" i="0" smtClean="0"/>
                        <m:t>|| 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i="1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acc>
                      <m:r>
                        <a:rPr lang="de-CH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⃗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de-CH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i="1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acc>
                      <m:r>
                        <a:rPr lang="de-CH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de-CH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de-CH" i="1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acc>
                      <m:r>
                        <a:rPr lang="de-CH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CH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de-CH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215CA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215CA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CH" b="0" i="1" smtClean="0">
                                    <a:solidFill>
                                      <a:srgbClr val="215CA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de-CH" b="0" i="1" smtClean="0">
                                    <a:solidFill>
                                      <a:srgbClr val="215CA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de-CH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b="0" i="0" smtClean="0"/>
                        <m:t>+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CH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168ABD-CB91-8AD2-1F88-B1129F422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981" y="1638809"/>
                <a:ext cx="3077766" cy="1521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0718A3-622C-B780-D15E-9463930251E3}"/>
                  </a:ext>
                </a:extLst>
              </p:cNvPr>
              <p:cNvSpPr txBox="1"/>
              <p:nvPr/>
            </p:nvSpPr>
            <p:spPr>
              <a:xfrm>
                <a:off x="8111981" y="3371164"/>
                <a:ext cx="953403" cy="2469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CH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de-CH" b="1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de-CH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 </m:t>
                      </m:r>
                      <m:rad>
                        <m:radPr>
                          <m:degHide m:val="on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    0</m:t>
                      </m:r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−</m:t>
                      </m:r>
                      <m:rad>
                        <m:radPr>
                          <m:degHide m:val="on"/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b="0" i="1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     −5</m:t>
                      </m:r>
                    </m:oMath>
                  </m:oMathPara>
                </a14:m>
                <a:endParaRPr lang="de-CH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0718A3-622C-B780-D15E-946393025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981" y="3371164"/>
                <a:ext cx="953403" cy="24691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496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A680E-9257-B267-C53D-4534912B0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83B8-9678-1DF6-463C-EFCEDFCA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Theoriebeispiele zu Schlüsselkonzepten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8C2DA-E743-A601-797C-454629E1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C5633-B7D5-8004-49B7-3EC35630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18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297102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B408F-6449-FAA9-114D-16C2CEB53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09A3-D6E8-6B0D-57BB-BEACDD1B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Linienintegral – (Albach Anhang C): Beispiel 6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D044A2F-574E-5687-1F7E-3D48B3D06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530" y="1160351"/>
            <a:ext cx="5147469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5ECB8-28CF-C019-5F0C-6C936F4A0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20BF6-82AE-0D0D-A30C-CCC3B2CD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19</a:t>
            </a:fld>
            <a:endParaRPr lang="de-CH" noProof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F8BFB0-5378-2530-FE41-A791B4D72271}"/>
              </a:ext>
            </a:extLst>
          </p:cNvPr>
          <p:cNvSpPr txBox="1"/>
          <p:nvPr/>
        </p:nvSpPr>
        <p:spPr>
          <a:xfrm>
            <a:off x="6095998" y="1160351"/>
            <a:ext cx="5364163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b="1" u="sng" dirty="0"/>
              <a:t>Schlüsselkonzepte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Linienintegrale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elektrostatische Kraft: Richtung und Stärke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das Coulomb'sche Gesetz</a:t>
            </a:r>
          </a:p>
          <a:p>
            <a:endParaRPr lang="de-CH" dirty="0"/>
          </a:p>
          <a:p>
            <a:r>
              <a:rPr lang="de-CH" sz="1600" dirty="0"/>
              <a:t>Welche Arbeit wird an der Punktladung q verrichtet, wenn diese radial von einem Radius r von der Punktladung Q weg zu einem grösseren Radius R bewegt wird?</a:t>
            </a:r>
          </a:p>
          <a:p>
            <a:endParaRPr lang="de-C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081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7E07B-536D-7BA0-86BD-C8C19683E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F3C1-2278-FDE4-43C0-9A336176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Linienintegral – (Albach Anhang C): Beispiel 6 – Lösung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A0882E-CBBA-0C2D-C6FF-2B60A6DD2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530" y="1160351"/>
            <a:ext cx="5147469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D5A88-4302-288D-929A-76FC67760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D4D27-0D05-8807-F928-BC1D6B19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CB9051-2845-5AB7-FF9A-D654A790FD84}"/>
                  </a:ext>
                </a:extLst>
              </p:cNvPr>
              <p:cNvSpPr txBox="1"/>
              <p:nvPr/>
            </p:nvSpPr>
            <p:spPr>
              <a:xfrm>
                <a:off x="6095998" y="1160351"/>
                <a:ext cx="5364163" cy="63157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CH" b="1" u="sng" dirty="0"/>
                  <a:t>Schlüsselkonzepte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b="1" dirty="0"/>
                  <a:t>Linienintegrale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/>
                  <a:t>elektrostatische Kraft: Richtung und Stärke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/>
                  <a:t>das Coulomb'sche Gesetz</a:t>
                </a:r>
              </a:p>
              <a:p>
                <a:endParaRPr lang="de-CH" dirty="0"/>
              </a:p>
              <a:p>
                <a:r>
                  <a:rPr lang="de-CH" sz="1600" dirty="0"/>
                  <a:t>Welche Arbeit wird an der Punktladung q verrichtet, wenn diese radial von einem Radius r von der Punktladung Q weg zu einem grösseren Radius R bewegt wird?</a:t>
                </a:r>
              </a:p>
              <a:p>
                <a:endParaRPr lang="de-CH" sz="1600" dirty="0"/>
              </a:p>
              <a:p>
                <a:pPr>
                  <a:lnSpc>
                    <a:spcPct val="150000"/>
                  </a:lnSpc>
                </a:pPr>
                <a:r>
                  <a:rPr lang="de-CH" sz="1600" dirty="0"/>
                  <a:t>Arbeit = Kraft mal Weg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smtClean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sz="1600" b="0" i="1" smtClean="0"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brk m:alnAt="23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′)∙</m:t>
                          </m:r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CH" sz="1600" dirty="0"/>
              </a:p>
              <a:p>
                <a:pPr>
                  <a:lnSpc>
                    <a:spcPct val="150000"/>
                  </a:lnSpc>
                </a:pPr>
                <a:r>
                  <a:rPr lang="de-CH" sz="1600" dirty="0"/>
                  <a:t>Da die Kraft in Richtung des Weges zeigt, gilt: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sup>
                        <m:e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dr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nary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Das Linienintegral lässt sich so zu einem normalen Integral vereinfachen.</a:t>
                </a:r>
              </a:p>
              <a:p>
                <a:endParaRPr lang="de-CH" dirty="0"/>
              </a:p>
              <a:p>
                <a:endParaRPr lang="de-CH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CB9051-2845-5AB7-FF9A-D654A790F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1160351"/>
                <a:ext cx="5364163" cy="6315768"/>
              </a:xfrm>
              <a:prstGeom prst="rect">
                <a:avLst/>
              </a:prstGeom>
              <a:blipFill>
                <a:blip r:embed="rId4"/>
                <a:stretch>
                  <a:fillRect l="-2614" t="-1255" r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318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F6979-AA1F-62D3-3CFC-71F4806D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3730E-05DF-B1F5-DC0B-FC9CA88B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Linienintegral – (Albach Anhang C): Beispiel 6 – Lösung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C27684-D3AB-4ADA-84C2-C639516C8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530" y="1160351"/>
            <a:ext cx="5147469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B970F-33B6-3B74-8594-AC8E118A8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A6476-E36A-8424-5F48-26ACEDF6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21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877508-5CA3-5D09-583E-BA39C37A5BAC}"/>
                  </a:ext>
                </a:extLst>
              </p:cNvPr>
              <p:cNvSpPr txBox="1"/>
              <p:nvPr/>
            </p:nvSpPr>
            <p:spPr>
              <a:xfrm>
                <a:off x="6095998" y="1160351"/>
                <a:ext cx="5364163" cy="59074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CH" b="1" u="sng" dirty="0"/>
                  <a:t>Schlüsselkonzepte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/>
                  <a:t>Linienintegrale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b="1" dirty="0"/>
                  <a:t>elektrostatische Kraft: Richtung und Stärke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b="1" dirty="0"/>
                  <a:t>das Coulomb'sche Gesetz</a:t>
                </a:r>
              </a:p>
              <a:p>
                <a:endParaRPr lang="de-CH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sup>
                        <m:e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dr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nary>
                    </m:oMath>
                  </m:oMathPara>
                </a14:m>
                <a:endParaRPr lang="de-CH" sz="1600" dirty="0"/>
              </a:p>
              <a:p>
                <a:pPr>
                  <a:lnSpc>
                    <a:spcPct val="150000"/>
                  </a:lnSpc>
                </a:pPr>
                <a:r>
                  <a:rPr lang="de-CH" sz="1600" dirty="0"/>
                  <a:t>Der Betrag der Kraft ist nach dem Coulomb’schen Gesetz: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  <m:r>
                        <m:rPr>
                          <m:brk m:alnAt="23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de-CH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num>
                        <m:den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CH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sup>
                        <m:e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dr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nary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q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sup>
                        <m:e>
                          <m:f>
                            <m:f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de-CH" sz="1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p>
                                  <m:r>
                                    <a:rPr lang="de-CH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dr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nary>
                    </m:oMath>
                  </m:oMathPara>
                </a14:m>
                <a:endParaRPr lang="de-CH" sz="1600" dirty="0"/>
              </a:p>
              <a:p>
                <a:pPr>
                  <a:lnSpc>
                    <a:spcPct val="150000"/>
                  </a:lnSpc>
                </a:pPr>
                <a:r>
                  <a:rPr lang="de-CH" sz="100" dirty="0"/>
                  <a:t>.</a:t>
                </a:r>
                <a:br>
                  <a:rPr lang="de-CH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q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de-CH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sup>
                      </m:sSubSup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q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den>
                          </m:f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i="0"/>
                            <m:t>–</m:t>
                          </m:r>
                          <m:r>
                            <m:rPr>
                              <m:nor/>
                            </m:rPr>
                            <a:rPr lang="de-CH" sz="1600" i="0"/>
                            <m:t> </m:t>
                          </m:r>
                          <m:f>
                            <m:f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CH" dirty="0"/>
              </a:p>
              <a:p>
                <a:endParaRPr lang="de-CH" dirty="0"/>
              </a:p>
              <a:p>
                <a:endParaRPr lang="de-CH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877508-5CA3-5D09-583E-BA39C37A5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1160351"/>
                <a:ext cx="5364163" cy="5907451"/>
              </a:xfrm>
              <a:prstGeom prst="rect">
                <a:avLst/>
              </a:prstGeom>
              <a:blipFill>
                <a:blip r:embed="rId4"/>
                <a:stretch>
                  <a:fillRect l="-2614" t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39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0B36-5706-D440-025D-E23E49EC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466A9-E364-AE51-7244-8003F18C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Linienintegral – (Albach Anhang C): Beispiel 7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388138-5C6A-01DE-E090-E8691899F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530" y="1160351"/>
            <a:ext cx="5147469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2EF47-B454-28C4-8E9E-FECF821F7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DD4CC-E72E-D31C-BE96-B9BDCA95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22</a:t>
            </a:fld>
            <a:endParaRPr lang="de-CH" noProof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3CC8B2-CC3E-E8F9-E7BD-FD0BC5D122A5}"/>
              </a:ext>
            </a:extLst>
          </p:cNvPr>
          <p:cNvSpPr txBox="1"/>
          <p:nvPr/>
        </p:nvSpPr>
        <p:spPr>
          <a:xfrm>
            <a:off x="6095998" y="1160351"/>
            <a:ext cx="5364163" cy="24006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b="1" u="sng" dirty="0"/>
              <a:t>Schlüsselkonzepte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Linienintegrale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elektrostatische Kraft: Richtung und Stärke </a:t>
            </a:r>
          </a:p>
          <a:p>
            <a:endParaRPr lang="de-CH" dirty="0"/>
          </a:p>
          <a:p>
            <a:r>
              <a:rPr lang="de-CH" sz="1600" dirty="0"/>
              <a:t>Dieselbe Frage etwas anders: Welche Arbeit wird an q verrichtet, wenn die Ladung azimuthal von einem Punkt zum anderen auf demselben Radius R um Q bewegt wird?</a:t>
            </a:r>
          </a:p>
          <a:p>
            <a:endParaRPr lang="de-C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17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76551-FF2A-AEE0-6E96-DED41AA1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66E3-0186-39C1-E178-4763A5FA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Linienintegral – (Albach Anhang C): Beispiel 7 – Lösung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320E95-DFE5-4493-ACA7-3D82259F9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530" y="1160351"/>
            <a:ext cx="5147469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6711A-66AE-1589-1844-6B28E097F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16.09.2026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F14C7-027E-EC8D-C9AC-181EFCFD2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23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924FF7-EA81-BB33-EEE0-769E570CF800}"/>
                  </a:ext>
                </a:extLst>
              </p:cNvPr>
              <p:cNvSpPr txBox="1"/>
              <p:nvPr/>
            </p:nvSpPr>
            <p:spPr>
              <a:xfrm>
                <a:off x="6095998" y="1160351"/>
                <a:ext cx="5364163" cy="472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CH" b="1" u="sng" dirty="0"/>
                  <a:t>Schlüsselkonzepte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/>
                  <a:t>Linienintegrale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/>
                  <a:t>elektrostatische Kraft: Richtung und Stärke </a:t>
                </a:r>
              </a:p>
              <a:p>
                <a:endParaRPr lang="de-CH" dirty="0"/>
              </a:p>
              <a:p>
                <a:r>
                  <a:rPr lang="de-CH" sz="1600" dirty="0"/>
                  <a:t>Dieselbe Frage etwas anders: Welche Arbeit wird an q verrichtet, wenn die Ladung azimuthal von einem Punkt zum anderen auf demselben Radius R um Q bewegt wird?</a:t>
                </a:r>
                <a:endParaRPr lang="de-CH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⃗"/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brk m:alnAt="23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brk m:alnAt="23"/>
                            </m:rPr>
                            <a:rPr lang="de-CH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CH" dirty="0"/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Die Kraft </a:t>
                </a:r>
                <a:r>
                  <a:rPr lang="en-US" sz="1600" dirty="0" err="1"/>
                  <a:t>zeigt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aber</a:t>
                </a:r>
                <a:r>
                  <a:rPr lang="en-US" sz="1600" dirty="0"/>
                  <a:t> radial: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</m:e>
                      </m:acc>
                      <m:r>
                        <m:rPr>
                          <m:brk m:alnAt="23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CH" sz="1600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Der Weg </a:t>
                </a:r>
                <a:r>
                  <a:rPr lang="en-US" sz="1600" dirty="0" err="1"/>
                  <a:t>ist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senkrecht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dazu</a:t>
                </a:r>
                <a:r>
                  <a:rPr lang="en-US" sz="1600" dirty="0"/>
                  <a:t>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acc>
                    <m: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𝜗</m:t>
                        </m:r>
                      </m:e>
                    </m:func>
                    <m:r>
                      <m:rPr>
                        <m:sty m:val="p"/>
                      </m:rP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1600" dirty="0"/>
                  <a:t> </a:t>
                </a:r>
                <a:r>
                  <a:rPr lang="en-US" sz="1200" dirty="0"/>
                  <a:t>(analog </a:t>
                </a:r>
                <a:r>
                  <a:rPr lang="en-US" sz="1200" dirty="0" err="1"/>
                  <a:t>zu</a:t>
                </a:r>
                <a:r>
                  <a:rPr lang="en-US" sz="1200" dirty="0"/>
                  <a:t> Albach B.24)</a:t>
                </a:r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Das </a:t>
                </a:r>
                <a:r>
                  <a:rPr lang="en-US" sz="1600" dirty="0" err="1"/>
                  <a:t>Skalarprodukt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e>
                    </m:acc>
                    <m:r>
                      <a:rPr lang="en-US" sz="16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</m:e>
                    </m:acc>
                    <m: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, </a:t>
                </a:r>
                <a:r>
                  <a:rPr lang="en-US" sz="1600" dirty="0" err="1"/>
                  <a:t>deshalb</a:t>
                </a:r>
                <a:r>
                  <a:rPr lang="en-US" sz="1600" dirty="0"/>
                  <a:t> gilt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W</m:t>
                    </m:r>
                    <m:r>
                      <a:rPr lang="de-CH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924FF7-EA81-BB33-EEE0-769E570CF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1160351"/>
                <a:ext cx="5364163" cy="4720267"/>
              </a:xfrm>
              <a:prstGeom prst="rect">
                <a:avLst/>
              </a:prstGeom>
              <a:blipFill>
                <a:blip r:embed="rId4"/>
                <a:stretch>
                  <a:fillRect l="-2614" t="-1677" r="-341" b="-1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9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U_Template.potx" id="{11673716-FB81-4392-B2DC-68DDA437F931}" vid="{03D18D2F-5578-46DC-A982-D3FF1019311F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1151</Words>
  <Application>Microsoft Office PowerPoint</Application>
  <PresentationFormat>Widescreen</PresentationFormat>
  <Paragraphs>187</Paragraphs>
  <Slides>23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ETH Zürich</vt:lpstr>
      <vt:lpstr>Netzwerke und Schaltungen Übungsstunde Woche 1</vt:lpstr>
      <vt:lpstr>Wilkommen!</vt:lpstr>
      <vt:lpstr>Aufbau der Übungsstunde</vt:lpstr>
      <vt:lpstr>Notenbonus (Lesekontrollfragen und Bonusaufgaben)</vt:lpstr>
      <vt:lpstr>Study Center</vt:lpstr>
      <vt:lpstr>Weitere Unterlagen</vt:lpstr>
      <vt:lpstr>Theoriebeispiele Mathematik</vt:lpstr>
      <vt:lpstr>Vektoren – (Albach Anhang A): Beispiel 1</vt:lpstr>
      <vt:lpstr>Vektoren – (Albach Anhang A): Beispiel 1 Lösung</vt:lpstr>
      <vt:lpstr>Vektoren – (Albach Anhang A): Beispiel 2</vt:lpstr>
      <vt:lpstr>Vektoren – (Albach Anhang A): Beispiel 2 Lösung</vt:lpstr>
      <vt:lpstr>Vektoren – (Albach Anhang A): Beispiel 3 – Vektoraddition</vt:lpstr>
      <vt:lpstr>Vektoren – (Albach Anhang A): Beispiel 3 – Vektoraddition Lösung</vt:lpstr>
      <vt:lpstr>Vektoren – (Albach Anhang A): Beispiel 4 – Skalarprodukt</vt:lpstr>
      <vt:lpstr>Vektoren – (Albach Anhang A): Beispiel 4 – Skalarprodukt Lösung</vt:lpstr>
      <vt:lpstr>Vektoren – (Albach Anhang A): Beispiel 5 – Skalarprodukt</vt:lpstr>
      <vt:lpstr>Vektoren – (Albach Anhang A): Beispiel 5 – Skalarprodukt Lösung</vt:lpstr>
      <vt:lpstr>Theoriebeispiele zu Schlüsselkonzepten</vt:lpstr>
      <vt:lpstr>Linienintegral – (Albach Anhang C): Beispiel 6</vt:lpstr>
      <vt:lpstr>Linienintegral – (Albach Anhang C): Beispiel 6 – Lösung</vt:lpstr>
      <vt:lpstr>Linienintegral – (Albach Anhang C): Beispiel 6 – Lösung</vt:lpstr>
      <vt:lpstr>Linienintegral – (Albach Anhang C): Beispiel 7</vt:lpstr>
      <vt:lpstr>Linienintegral – (Albach Anhang C): Beispiel 7 – Lösung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Gfrörer  Tino</dc:creator>
  <cp:lastModifiedBy>Gfrörer  Tino</cp:lastModifiedBy>
  <cp:revision>46</cp:revision>
  <dcterms:created xsi:type="dcterms:W3CDTF">2026-09-04T10:51:08Z</dcterms:created>
  <dcterms:modified xsi:type="dcterms:W3CDTF">2026-09-16T17:34:01Z</dcterms:modified>
</cp:coreProperties>
</file>