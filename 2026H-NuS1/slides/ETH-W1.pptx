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7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presProps.xml" ContentType="application/vnd.openxmlformats-officedocument.presentationml.presProps+xml"/>
  <Override PartName="/ppt/media/image8.svg" ContentType="image/svg"/>
  <Override PartName="/ppt/media/image5.svg" ContentType="image/svg"/>
  <Override PartName="/ppt/media/image2.svg" ContentType="image/svg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7559675" cy="10691813"/>
  <p:extLst>
    <p:ext uri="{521415D9-36F7-43E2-AB2F-B90AF26B5E84}">
      <p14:sectionLst xmlns:p14="http://schemas.microsoft.com/office/powerpoint/2010/main">
        <p14:section name="Default Section" id="{AB140A5C-BDD6-46B0-8A66-45FAD0FBC285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Theoriebeispiele" id="{960AB6CA-67DE-4FDE-ADC2-51C8BFC50F2F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move the slide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dt" idx="2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 type="ftr" idx="2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6"/>
          <p:cNvSpPr>
            <a:spLocks noGrp="1"/>
          </p:cNvSpPr>
          <p:nvPr>
            <p:ph type="sldNum" idx="2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7A40337-E12A-4CC7-8498-45D9587F9096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Antwort a ist richtig, da der Vektor in dieselbe Richtung zeigen muss (r ist positiv), und länger sein muss (Betrag r &gt; 1).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B41D034-284B-4CD3-9D39-FCB53A97E916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Antwort a ist richtig, da der Vektor in dieselbe Richtung zeigen muss (r ist positiv), und länger sein muss (Betrag r &gt; 1).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9CE8893-AA5C-4F67-B90F-F659BD956D24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ist richtig. R ist negativ, da die Richtung umgekehrt ist. Der Betrag von r ist kleiner 1, da w kürzer ist als v.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F2B36BE-1784-45F2-9D8D-6A02A5F7E376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ist richtig. R ist negativ, da die Richtung umgekehrt ist. Der Betrag von r ist kleiner 1, da w kürzer ist als v.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52FD90B-5E10-42B0-B426-415DB3912F71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C392F77-51C4-4F8E-B17C-A4CB9594A40A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E45299C-69D0-41F0-A95B-4B75F1E265B8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21B8772-75BD-4D82-9914-135F39D01323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68AE2D1-71FC-4447-B567-EF1718914899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47A4B2-4153-47E3-95A8-B1512EB85B7B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3B6AA3-EF4A-41BE-A7B1-543231487D6D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289D4DF-2E14-4459-B2E8-A9A46BBADE01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740978B-C32A-4625-BDE7-A6EB49849928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7DBB25-B676-4706-BDD3-EA8A5F2AFC79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0F6450-F5B9-4DA7-9F31-A31AECDCB39A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EDD1BB4-2227-4678-9F9E-B81AC8ED0053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3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pic"/>
          </p:nvPr>
        </p:nvSpPr>
        <p:spPr>
          <a:xfrm>
            <a:off x="731880" y="1015920"/>
            <a:ext cx="10727280" cy="5254920"/>
          </a:xfrm>
          <a:prstGeom prst="rect">
            <a:avLst/>
          </a:prstGeom>
          <a:noFill/>
          <a:ln w="0">
            <a:noFill/>
          </a:ln>
        </p:spPr>
        <p:txBody>
          <a:bodyPr lIns="5580000" tIns="0" rIns="0" bIns="45000" anchor="ctr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0" y="2233440"/>
            <a:ext cx="5902920" cy="27709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1080000" tIns="25200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" name="Grafik 9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360360"/>
            <a:ext cx="1764360" cy="28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78560" y="3860640"/>
            <a:ext cx="4678920" cy="100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8920" cy="36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dt" idx="1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2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AFF01D-44AD-48B7-AC5E-04D38656CAC2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520" cy="16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4"/>
          <p:cNvSpPr>
            <a:spLocks noGrp="1"/>
          </p:cNvSpPr>
          <p:nvPr>
            <p:ph type="pic"/>
          </p:nvPr>
        </p:nvSpPr>
        <p:spPr>
          <a:xfrm>
            <a:off x="731880" y="1413000"/>
            <a:ext cx="10726920" cy="4858920"/>
          </a:xfrm>
          <a:prstGeom prst="rect">
            <a:avLst/>
          </a:prstGeom>
          <a:noFill/>
          <a:ln w="0">
            <a:noFill/>
          </a:ln>
        </p:spPr>
        <p:txBody>
          <a:bodyPr lIns="90000" tIns="162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480" cy="228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full 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dt" idx="3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4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4FBDBD-CF48-4F4C-A05E-16A42153D934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520" cy="16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3"/>
          <p:cNvSpPr>
            <a:spLocks noGrp="1"/>
          </p:cNvSpPr>
          <p:nvPr>
            <p:ph type="pic"/>
          </p:nvPr>
        </p:nvSpPr>
        <p:spPr>
          <a:xfrm>
            <a:off x="731880" y="260280"/>
            <a:ext cx="10726920" cy="6011280"/>
          </a:xfrm>
          <a:prstGeom prst="rect">
            <a:avLst/>
          </a:prstGeom>
          <a:noFill/>
          <a:ln w="0">
            <a:noFill/>
          </a:ln>
        </p:spPr>
        <p:txBody>
          <a:bodyPr lIns="90000" tIns="216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480" cy="228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zwei Spal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204240" y="1413000"/>
            <a:ext cx="5254920" cy="485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5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6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407FA2-6DA8-4AE6-BFBB-F43EFCAABC47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520" cy="16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5"/>
          <p:cNvSpPr>
            <a:spLocks noGrp="1"/>
          </p:cNvSpPr>
          <p:nvPr>
            <p:ph type="pic"/>
          </p:nvPr>
        </p:nvSpPr>
        <p:spPr>
          <a:xfrm>
            <a:off x="731880" y="1413000"/>
            <a:ext cx="5038920" cy="4858920"/>
          </a:xfrm>
          <a:prstGeom prst="rect">
            <a:avLst/>
          </a:prstGeom>
          <a:noFill/>
          <a:ln w="0">
            <a:noFill/>
          </a:ln>
        </p:spPr>
        <p:txBody>
          <a:bodyPr lIns="90000" tIns="162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480" cy="228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2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731880" y="5121720"/>
            <a:ext cx="5254920" cy="115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7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sldNum" idx="8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20073B-5CFB-4DD2-9A6D-6F179E900A93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520" cy="16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5"/>
          <p:cNvSpPr>
            <a:spLocks noGrp="1"/>
          </p:cNvSpPr>
          <p:nvPr>
            <p:ph type="pic"/>
          </p:nvPr>
        </p:nvSpPr>
        <p:spPr>
          <a:xfrm>
            <a:off x="731880" y="1413000"/>
            <a:ext cx="5254920" cy="3418920"/>
          </a:xfrm>
          <a:prstGeom prst="rect">
            <a:avLst/>
          </a:prstGeom>
          <a:noFill/>
          <a:ln w="0">
            <a:noFill/>
          </a:ln>
        </p:spPr>
        <p:txBody>
          <a:bodyPr lIns="90000" tIns="90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pic"/>
          </p:nvPr>
        </p:nvSpPr>
        <p:spPr>
          <a:xfrm>
            <a:off x="6204240" y="1413000"/>
            <a:ext cx="5254920" cy="3418920"/>
          </a:xfrm>
          <a:prstGeom prst="rect">
            <a:avLst/>
          </a:prstGeom>
          <a:noFill/>
          <a:ln w="0">
            <a:noFill/>
          </a:ln>
        </p:spPr>
        <p:txBody>
          <a:bodyPr lIns="90000" tIns="90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7"/>
          <p:cNvSpPr>
            <a:spLocks noGrp="1"/>
          </p:cNvSpPr>
          <p:nvPr>
            <p:ph type="body"/>
          </p:nvPr>
        </p:nvSpPr>
        <p:spPr>
          <a:xfrm>
            <a:off x="6204240" y="5121720"/>
            <a:ext cx="5254920" cy="115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3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480" cy="228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3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31880" y="4166280"/>
            <a:ext cx="10727280" cy="21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9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sldNum" idx="10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BC68A4-DCFF-487C-8176-99868BE4DBD6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520" cy="16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PlaceHolder 5"/>
          <p:cNvSpPr>
            <a:spLocks noGrp="1"/>
          </p:cNvSpPr>
          <p:nvPr>
            <p:ph type="pic"/>
          </p:nvPr>
        </p:nvSpPr>
        <p:spPr>
          <a:xfrm>
            <a:off x="731880" y="1413000"/>
            <a:ext cx="3418920" cy="2482920"/>
          </a:xfrm>
          <a:prstGeom prst="rect">
            <a:avLst/>
          </a:prstGeom>
          <a:noFill/>
          <a:ln w="0">
            <a:noFill/>
          </a:ln>
        </p:spPr>
        <p:txBody>
          <a:bodyPr lIns="90000" tIns="36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pic"/>
          </p:nvPr>
        </p:nvSpPr>
        <p:spPr>
          <a:xfrm>
            <a:off x="8040240" y="1414800"/>
            <a:ext cx="3418920" cy="2482920"/>
          </a:xfrm>
          <a:prstGeom prst="rect">
            <a:avLst/>
          </a:prstGeom>
          <a:noFill/>
          <a:ln w="0">
            <a:noFill/>
          </a:ln>
        </p:spPr>
        <p:txBody>
          <a:bodyPr lIns="90000" tIns="36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 type="pic"/>
          </p:nvPr>
        </p:nvSpPr>
        <p:spPr>
          <a:xfrm>
            <a:off x="4385880" y="1414800"/>
            <a:ext cx="3418920" cy="2482920"/>
          </a:xfrm>
          <a:prstGeom prst="rect">
            <a:avLst/>
          </a:prstGeom>
          <a:noFill/>
          <a:ln w="0">
            <a:noFill/>
          </a:ln>
        </p:spPr>
        <p:txBody>
          <a:bodyPr lIns="90000" tIns="36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480" cy="228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Tabel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731880" y="1413000"/>
            <a:ext cx="10727280" cy="39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11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sldNum" idx="12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A7CD12-EA4C-4CC1-BBE6-B1BC564610B9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7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520" cy="16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731880" y="2061360"/>
            <a:ext cx="10727280" cy="4211280"/>
          </a:xfrm>
          <a:prstGeom prst="rect">
            <a:avLst/>
          </a:prstGeom>
          <a:noFill/>
          <a:ln w="0">
            <a:noFill/>
          </a:ln>
        </p:spPr>
        <p:txBody>
          <a:bodyPr lIns="90000" tIns="1260000" rIns="90000" bIns="4500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icon to add table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9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480" cy="228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chlussfoli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body"/>
          </p:nvPr>
        </p:nvSpPr>
        <p:spPr>
          <a:xfrm>
            <a:off x="731880" y="2135520"/>
            <a:ext cx="10727280" cy="395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1" name="Grafik 2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360360"/>
            <a:ext cx="1764360" cy="28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8920" cy="36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pic"/>
          </p:nvPr>
        </p:nvSpPr>
        <p:spPr>
          <a:xfrm>
            <a:off x="731880" y="1015920"/>
            <a:ext cx="10727280" cy="5254920"/>
          </a:xfrm>
          <a:prstGeom prst="rect">
            <a:avLst/>
          </a:prstGeom>
          <a:noFill/>
          <a:ln w="0">
            <a:noFill/>
          </a:ln>
        </p:spPr>
        <p:txBody>
          <a:bodyPr lIns="0" tIns="0" rIns="5580000" bIns="45000" anchor="ctr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title"/>
          </p:nvPr>
        </p:nvSpPr>
        <p:spPr>
          <a:xfrm>
            <a:off x="6504120" y="2957400"/>
            <a:ext cx="5686920" cy="22669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324000" tIns="25200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55" name="Grafik 9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360360"/>
            <a:ext cx="1764360" cy="28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6845040" y="4639680"/>
            <a:ext cx="4318920" cy="46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57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8920" cy="36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hteck 2"/>
          <p:cNvSpPr/>
          <p:nvPr/>
        </p:nvSpPr>
        <p:spPr>
          <a:xfrm>
            <a:off x="731880" y="1015920"/>
            <a:ext cx="10727280" cy="525672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de-CH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0" y="1940400"/>
            <a:ext cx="10186920" cy="34189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txBody>
          <a:bodyPr lIns="1080000" tIns="25200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60" name="Grafik 9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360360"/>
            <a:ext cx="1764360" cy="28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078560" y="4217760"/>
            <a:ext cx="8638920" cy="100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62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8920" cy="36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731880" y="1015920"/>
            <a:ext cx="10727280" cy="52549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324000" tIns="115200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64" name="Grafik 9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360360"/>
            <a:ext cx="1764360" cy="28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1078560" y="5122800"/>
            <a:ext cx="10042920" cy="100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66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8920" cy="36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04 – Uni Zür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pic"/>
          </p:nvPr>
        </p:nvSpPr>
        <p:spPr>
          <a:xfrm>
            <a:off x="731880" y="1015920"/>
            <a:ext cx="10727280" cy="5254920"/>
          </a:xfrm>
          <a:prstGeom prst="rect">
            <a:avLst/>
          </a:prstGeom>
          <a:noFill/>
          <a:ln w="0">
            <a:noFill/>
          </a:ln>
        </p:spPr>
        <p:txBody>
          <a:bodyPr lIns="5580000" tIns="0" rIns="0" bIns="45000" anchor="ctr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title"/>
          </p:nvPr>
        </p:nvSpPr>
        <p:spPr>
          <a:xfrm>
            <a:off x="0" y="2233440"/>
            <a:ext cx="5902920" cy="277092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1080000" tIns="25200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69" name="Grafik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27560" y="227880"/>
            <a:ext cx="3678120" cy="55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1078560" y="3860640"/>
            <a:ext cx="4678920" cy="100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8920" cy="36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731880" y="1413000"/>
            <a:ext cx="10727280" cy="467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539640" indent="-53964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9640" lvl="1" indent="-5396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12800" lvl="2" indent="-53352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52800" lvl="3" indent="-5396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92440" lvl="4" indent="-5396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dt" idx="13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sldNum" idx="14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50F626-6F6E-4AE3-9474-D6D60C642B61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6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52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480" cy="228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31880" y="1413000"/>
            <a:ext cx="10727280" cy="467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dt" idx="15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16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15DEB9-FEC7-4164-8192-80BDF566067D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2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52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480" cy="228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Fussno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731880" y="1413000"/>
            <a:ext cx="10727280" cy="395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dt" idx="17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sldNum" idx="18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C171A0-EB48-4B24-8AC7-5FA20F9FF3CB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8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520" cy="16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PlaceHolder 5"/>
          <p:cNvSpPr>
            <a:spLocks noGrp="1"/>
          </p:cNvSpPr>
          <p:nvPr>
            <p:ph type="body"/>
          </p:nvPr>
        </p:nvSpPr>
        <p:spPr>
          <a:xfrm>
            <a:off x="731880" y="5570280"/>
            <a:ext cx="5362920" cy="7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l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  <a:def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79280" indent="-179280" algn="l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90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480" cy="228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731880" y="2224800"/>
            <a:ext cx="10727280" cy="125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dt" idx="19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sldNum" idx="20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15E2D2-0295-4422-A083-2F4DB29114D8}" type="slidenum"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94" name="Grafik 6"/>
          <p:cNvGrpSpPr/>
          <p:nvPr/>
        </p:nvGrpSpPr>
        <p:grpSpPr>
          <a:xfrm>
            <a:off x="731880" y="6507000"/>
            <a:ext cx="977400" cy="158040"/>
            <a:chOff x="731880" y="6507000"/>
            <a:chExt cx="977400" cy="158040"/>
          </a:xfrm>
        </p:grpSpPr>
        <p:grpSp>
          <p:nvGrpSpPr>
            <p:cNvPr id="95" name="Grafik 6"/>
            <p:cNvGrpSpPr/>
            <p:nvPr/>
          </p:nvGrpSpPr>
          <p:grpSpPr>
            <a:xfrm>
              <a:off x="1266480" y="6555240"/>
              <a:ext cx="196560" cy="109800"/>
              <a:chOff x="1266480" y="6555240"/>
              <a:chExt cx="196560" cy="109800"/>
            </a:xfrm>
          </p:grpSpPr>
          <p:sp>
            <p:nvSpPr>
              <p:cNvPr id="96" name="Freihandform: Form 12"/>
              <p:cNvSpPr/>
              <p:nvPr/>
            </p:nvSpPr>
            <p:spPr>
              <a:xfrm>
                <a:off x="1266480" y="6557040"/>
                <a:ext cx="94680" cy="108000"/>
              </a:xfrm>
              <a:custGeom>
                <a:avLst/>
                <a:gdLst>
                  <a:gd name="textAreaLeft" fmla="*/ 0 w 94680"/>
                  <a:gd name="textAreaRight" fmla="*/ 95760 w 94680"/>
                  <a:gd name="textAreaTop" fmla="*/ 0 h 108000"/>
                  <a:gd name="textAreaBottom" fmla="*/ 109080 h 108000"/>
                  <a:gd name="GluePoint1X" fmla="*/ 66742 w 95902"/>
                  <a:gd name="GluePoint1Y" fmla="*/ 65797 h 109216"/>
                  <a:gd name="GluePoint2X" fmla="*/ 35339 w 95902"/>
                  <a:gd name="GluePoint2Y" fmla="*/ 95082 h 109216"/>
                  <a:gd name="GluePoint3X" fmla="*/ 15953 w 95902"/>
                  <a:gd name="GluePoint3Y" fmla="*/ 79537 h 109216"/>
                  <a:gd name="GluePoint4X" fmla="*/ 15899 w 95902"/>
                  <a:gd name="GluePoint4Y" fmla="*/ 76265 h 109216"/>
                  <a:gd name="GluePoint5X" fmla="*/ 16896 w 95902"/>
                  <a:gd name="GluePoint5Y" fmla="*/ 66295 h 109216"/>
                  <a:gd name="GluePoint6X" fmla="*/ 30230 w 95902"/>
                  <a:gd name="GluePoint6Y" fmla="*/ 0 h 109216"/>
                  <a:gd name="GluePoint7X" fmla="*/ 30230 w 95902"/>
                  <a:gd name="GluePoint7Y" fmla="*/ 0 h 109216"/>
                  <a:gd name="GluePoint8X" fmla="*/ 14528 w 95902"/>
                  <a:gd name="GluePoint8Y" fmla="*/ 0 h 109216"/>
                  <a:gd name="GluePoint9X" fmla="*/ 1194 w 95902"/>
                  <a:gd name="GluePoint9Y" fmla="*/ 67791 h 109216"/>
                  <a:gd name="GluePoint10X" fmla="*/ 1194 w 95902"/>
                  <a:gd name="GluePoint10Y" fmla="*/ 68788 h 109216"/>
                  <a:gd name="GluePoint11X" fmla="*/ 73 w 95902"/>
                  <a:gd name="GluePoint11Y" fmla="*/ 78508 h 109216"/>
                  <a:gd name="GluePoint12X" fmla="*/ 26638 w 95902"/>
                  <a:gd name="GluePoint12Y" fmla="*/ 109122 h 109216"/>
                  <a:gd name="GluePoint13X" fmla="*/ 29980 w 95902"/>
                  <a:gd name="GluePoint13Y" fmla="*/ 109163 h 109216"/>
                  <a:gd name="GluePoint14X" fmla="*/ 61384 w 95902"/>
                  <a:gd name="GluePoint14Y" fmla="*/ 96702 h 109216"/>
                  <a:gd name="GluePoint15X" fmla="*/ 59265 w 95902"/>
                  <a:gd name="GluePoint15Y" fmla="*/ 107917 h 109216"/>
                  <a:gd name="GluePoint16X" fmla="*/ 59265 w 95902"/>
                  <a:gd name="GluePoint16Y" fmla="*/ 107917 h 109216"/>
                  <a:gd name="GluePoint17X" fmla="*/ 74842 w 95902"/>
                  <a:gd name="GluePoint17Y" fmla="*/ 107917 h 109216"/>
                  <a:gd name="GluePoint18X" fmla="*/ 95902 w 95902"/>
                  <a:gd name="GluePoint18Y" fmla="*/ 0 h 109216"/>
                  <a:gd name="GluePoint19X" fmla="*/ 95902 w 95902"/>
                  <a:gd name="GluePoint19Y" fmla="*/ 0 h 109216"/>
                  <a:gd name="GluePoint20X" fmla="*/ 79951 w 95902"/>
                  <a:gd name="GluePoint20Y" fmla="*/ 0 h 109216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solidFill>
                <a:schemeClr val="bg1"/>
              </a:solidFill>
              <a:ln w="12419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7520" tIns="45000" rIns="47520" bIns="45000" anchor="ctr">
                <a:noAutofit/>
              </a:bodyPr>
              <a:p>
                <a:pPr/>
                <a:endPara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" name="Freihandform: Form 13"/>
              <p:cNvSpPr/>
              <p:nvPr/>
            </p:nvSpPr>
            <p:spPr>
              <a:xfrm>
                <a:off x="1376640" y="6555240"/>
                <a:ext cx="86400" cy="108720"/>
              </a:xfrm>
              <a:custGeom>
                <a:avLst/>
                <a:gdLst>
                  <a:gd name="textAreaLeft" fmla="*/ 0 w 86400"/>
                  <a:gd name="textAreaRight" fmla="*/ 87480 w 86400"/>
                  <a:gd name="textAreaTop" fmla="*/ 0 h 108720"/>
                  <a:gd name="textAreaBottom" fmla="*/ 109800 h 108720"/>
                  <a:gd name="GluePoint1X" fmla="*/ 64302 w 87480"/>
                  <a:gd name="GluePoint1Y" fmla="*/ 3 h 109664"/>
                  <a:gd name="GluePoint2X" fmla="*/ 34518 w 87480"/>
                  <a:gd name="GluePoint2Y" fmla="*/ 14209 h 109664"/>
                  <a:gd name="GluePoint3X" fmla="*/ 36886 w 87480"/>
                  <a:gd name="GluePoint3Y" fmla="*/ 1747 h 109664"/>
                  <a:gd name="GluePoint4X" fmla="*/ 36886 w 87480"/>
                  <a:gd name="GluePoint4Y" fmla="*/ 1747 h 109664"/>
                  <a:gd name="GluePoint5X" fmla="*/ 21434 w 87480"/>
                  <a:gd name="GluePoint5Y" fmla="*/ 1747 h 109664"/>
                  <a:gd name="GluePoint6X" fmla="*/ 0 w 87480"/>
                  <a:gd name="GluePoint6Y" fmla="*/ 109664 h 109664"/>
                  <a:gd name="GluePoint7X" fmla="*/ 0 w 87480"/>
                  <a:gd name="GluePoint7Y" fmla="*/ 109664 h 109664"/>
                  <a:gd name="GluePoint8X" fmla="*/ 15826 w 87480"/>
                  <a:gd name="GluePoint8Y" fmla="*/ 109664 h 109664"/>
                  <a:gd name="GluePoint9X" fmla="*/ 28288 w 87480"/>
                  <a:gd name="GluePoint9Y" fmla="*/ 43493 h 109664"/>
                  <a:gd name="GluePoint10X" fmla="*/ 59940 w 87480"/>
                  <a:gd name="GluePoint10Y" fmla="*/ 14209 h 109664"/>
                  <a:gd name="GluePoint11X" fmla="*/ 75019 w 87480"/>
                  <a:gd name="GluePoint11Y" fmla="*/ 21810 h 109664"/>
                  <a:gd name="GluePoint12X" fmla="*/ 75019 w 87480"/>
                  <a:gd name="GluePoint12Y" fmla="*/ 21810 h 109664"/>
                  <a:gd name="GluePoint13X" fmla="*/ 87480 w 87480"/>
                  <a:gd name="GluePoint13Y" fmla="*/ 10346 h 109664"/>
                  <a:gd name="GluePoint14X" fmla="*/ 87480 w 87480"/>
                  <a:gd name="GluePoint14Y" fmla="*/ 10346 h 109664"/>
                  <a:gd name="GluePoint15X" fmla="*/ 63928 w 87480"/>
                  <a:gd name="GluePoint15Y" fmla="*/ 252 h 10966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</a:cxnLst>
                <a:rect l="textAreaLeft" t="textAreaTop" r="textAreaRight" b="textAreaBottom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solidFill>
                <a:schemeClr val="bg1"/>
              </a:solidFill>
              <a:ln w="12419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0" tIns="45000" rIns="43200" bIns="45000" anchor="ctr">
                <a:noAutofit/>
              </a:bodyPr>
              <a:p>
                <a:pPr/>
                <a:endPara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8" name="Freihandform: Form 14"/>
            <p:cNvSpPr/>
            <p:nvPr/>
          </p:nvSpPr>
          <p:spPr>
            <a:xfrm>
              <a:off x="1159560" y="6556680"/>
              <a:ext cx="95400" cy="106920"/>
            </a:xfrm>
            <a:custGeom>
              <a:avLst/>
              <a:gdLst>
                <a:gd name="textAreaLeft" fmla="*/ 0 w 95400"/>
                <a:gd name="textAreaRight" fmla="*/ 96480 w 95400"/>
                <a:gd name="textAreaTop" fmla="*/ 0 h 106920"/>
                <a:gd name="textAreaBottom" fmla="*/ 108000 h 106920"/>
                <a:gd name="GluePoint1X" fmla="*/ 23303 w 96452"/>
                <a:gd name="GluePoint1Y" fmla="*/ 0 h 108166"/>
                <a:gd name="GluePoint2X" fmla="*/ 20562 w 96452"/>
                <a:gd name="GluePoint2Y" fmla="*/ 13708 h 108166"/>
                <a:gd name="GluePoint3X" fmla="*/ 20562 w 96452"/>
                <a:gd name="GluePoint3Y" fmla="*/ 13957 h 108166"/>
                <a:gd name="GluePoint4X" fmla="*/ 74271 w 96452"/>
                <a:gd name="GluePoint4Y" fmla="*/ 13957 h 108166"/>
                <a:gd name="GluePoint5X" fmla="*/ 2742 w 96452"/>
                <a:gd name="GluePoint5Y" fmla="*/ 94957 h 108166"/>
                <a:gd name="GluePoint6X" fmla="*/ 2617 w 96452"/>
                <a:gd name="GluePoint6Y" fmla="*/ 94957 h 108166"/>
                <a:gd name="GluePoint7X" fmla="*/ 0 w 96452"/>
                <a:gd name="GluePoint7Y" fmla="*/ 108166 h 108166"/>
                <a:gd name="GluePoint8X" fmla="*/ 76265 w 96452"/>
                <a:gd name="GluePoint8Y" fmla="*/ 108166 h 108166"/>
                <a:gd name="GluePoint9X" fmla="*/ 79006 w 96452"/>
                <a:gd name="GluePoint9Y" fmla="*/ 94209 h 108166"/>
                <a:gd name="GluePoint10X" fmla="*/ 21932 w 96452"/>
                <a:gd name="GluePoint10Y" fmla="*/ 94209 h 108166"/>
                <a:gd name="GluePoint11X" fmla="*/ 93835 w 96452"/>
                <a:gd name="GluePoint11Y" fmla="*/ 13209 h 108166"/>
                <a:gd name="GluePoint12X" fmla="*/ 93835 w 96452"/>
                <a:gd name="GluePoint12Y" fmla="*/ 13209 h 108166"/>
                <a:gd name="GluePoint13X" fmla="*/ 96452 w 96452"/>
                <a:gd name="GluePoint13Y" fmla="*/ 0 h 108166"/>
                <a:gd name="GluePoint14X" fmla="*/ 23303 w 96452"/>
                <a:gd name="GluePoint14Y" fmla="*/ 0 h 1081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7880" tIns="45000" rIns="47880" bIns="450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Freihandform: Form 15"/>
            <p:cNvSpPr/>
            <p:nvPr/>
          </p:nvSpPr>
          <p:spPr>
            <a:xfrm>
              <a:off x="1466280" y="6556680"/>
              <a:ext cx="36000" cy="106920"/>
            </a:xfrm>
            <a:custGeom>
              <a:avLst/>
              <a:gdLst>
                <a:gd name="textAreaLeft" fmla="*/ 0 w 36000"/>
                <a:gd name="textAreaRight" fmla="*/ 37080 w 36000"/>
                <a:gd name="textAreaTop" fmla="*/ 0 h 106920"/>
                <a:gd name="textAreaBottom" fmla="*/ 108000 h 106920"/>
                <a:gd name="GluePoint1X" fmla="*/ 21683 w 37259"/>
                <a:gd name="GluePoint1Y" fmla="*/ 0 h 108166"/>
                <a:gd name="GluePoint2X" fmla="*/ 0 w 37259"/>
                <a:gd name="GluePoint2Y" fmla="*/ 107917 h 108166"/>
                <a:gd name="GluePoint3X" fmla="*/ 0 w 37259"/>
                <a:gd name="GluePoint3Y" fmla="*/ 108166 h 108166"/>
                <a:gd name="GluePoint4X" fmla="*/ 15702 w 37259"/>
                <a:gd name="GluePoint4Y" fmla="*/ 108166 h 108166"/>
                <a:gd name="GluePoint5X" fmla="*/ 37260 w 37259"/>
                <a:gd name="GluePoint5Y" fmla="*/ 0 h 108166"/>
                <a:gd name="GluePoint6X" fmla="*/ 21683 w 37259"/>
                <a:gd name="GluePoint6Y" fmla="*/ 0 h 1081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0" name="Grafik 6"/>
            <p:cNvGrpSpPr/>
            <p:nvPr/>
          </p:nvGrpSpPr>
          <p:grpSpPr>
            <a:xfrm>
              <a:off x="1518840" y="6507360"/>
              <a:ext cx="190440" cy="157680"/>
              <a:chOff x="1518840" y="6507360"/>
              <a:chExt cx="190440" cy="157680"/>
            </a:xfrm>
          </p:grpSpPr>
          <p:sp>
            <p:nvSpPr>
              <p:cNvPr id="101" name="Freihandform: Form 17"/>
              <p:cNvSpPr/>
              <p:nvPr/>
            </p:nvSpPr>
            <p:spPr>
              <a:xfrm>
                <a:off x="1614240" y="6507360"/>
                <a:ext cx="95040" cy="156600"/>
              </a:xfrm>
              <a:custGeom>
                <a:avLst/>
                <a:gdLst>
                  <a:gd name="textAreaLeft" fmla="*/ 0 w 95040"/>
                  <a:gd name="textAreaRight" fmla="*/ 96120 w 95040"/>
                  <a:gd name="textAreaTop" fmla="*/ 0 h 156600"/>
                  <a:gd name="textAreaBottom" fmla="*/ 157680 h 156600"/>
                  <a:gd name="GluePoint1X" fmla="*/ 66046 w 96160"/>
                  <a:gd name="GluePoint1Y" fmla="*/ 47852 h 157638"/>
                  <a:gd name="GluePoint2X" fmla="*/ 35142 w 96160"/>
                  <a:gd name="GluePoint2Y" fmla="*/ 60314 h 157638"/>
                  <a:gd name="GluePoint3X" fmla="*/ 47603 w 96160"/>
                  <a:gd name="GluePoint3Y" fmla="*/ 0 h 157638"/>
                  <a:gd name="GluePoint4X" fmla="*/ 31652 w 96160"/>
                  <a:gd name="GluePoint4Y" fmla="*/ 0 h 157638"/>
                  <a:gd name="GluePoint5X" fmla="*/ 0 w 96160"/>
                  <a:gd name="GluePoint5Y" fmla="*/ 157389 h 157638"/>
                  <a:gd name="GluePoint6X" fmla="*/ 15701 w 96160"/>
                  <a:gd name="GluePoint6Y" fmla="*/ 157389 h 157638"/>
                  <a:gd name="GluePoint7X" fmla="*/ 28911 w 96160"/>
                  <a:gd name="GluePoint7Y" fmla="*/ 91218 h 157638"/>
                  <a:gd name="GluePoint8X" fmla="*/ 60563 w 96160"/>
                  <a:gd name="GluePoint8Y" fmla="*/ 62058 h 157638"/>
                  <a:gd name="GluePoint9X" fmla="*/ 79837 w 96160"/>
                  <a:gd name="GluePoint9Y" fmla="*/ 77742 h 157638"/>
                  <a:gd name="GluePoint10X" fmla="*/ 79878 w 96160"/>
                  <a:gd name="GluePoint10Y" fmla="*/ 80875 h 157638"/>
                  <a:gd name="GluePoint11X" fmla="*/ 78757 w 96160"/>
                  <a:gd name="GluePoint11Y" fmla="*/ 90969 h 157638"/>
                  <a:gd name="GluePoint12X" fmla="*/ 65423 w 96160"/>
                  <a:gd name="GluePoint12Y" fmla="*/ 157638 h 157638"/>
                  <a:gd name="GluePoint13X" fmla="*/ 81125 w 96160"/>
                  <a:gd name="GluePoint13Y" fmla="*/ 157638 h 157638"/>
                  <a:gd name="GluePoint14X" fmla="*/ 94957 w 96160"/>
                  <a:gd name="GluePoint14Y" fmla="*/ 89474 h 157638"/>
                  <a:gd name="GluePoint15X" fmla="*/ 96078 w 96160"/>
                  <a:gd name="GluePoint15Y" fmla="*/ 78757 h 157638"/>
                  <a:gd name="GluePoint16X" fmla="*/ 69522 w 96160"/>
                  <a:gd name="GluePoint16Y" fmla="*/ 47902 h 157638"/>
                  <a:gd name="GluePoint17X" fmla="*/ 66046 w 96160"/>
                  <a:gd name="GluePoint17Y" fmla="*/ 47852 h 157638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</a:cxnLst>
                <a:rect l="textAreaLeft" t="textAreaTop" r="textAreaRight" b="textAreaBottom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solidFill>
                <a:schemeClr val="bg1"/>
              </a:solidFill>
              <a:ln w="12419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7520" tIns="45000" rIns="47520" bIns="45000" anchor="ctr">
                <a:noAutofit/>
              </a:bodyPr>
              <a:p>
                <a:pPr/>
                <a:endPara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Freihandform: Form 18"/>
              <p:cNvSpPr/>
              <p:nvPr/>
            </p:nvSpPr>
            <p:spPr>
              <a:xfrm>
                <a:off x="1518840" y="6555240"/>
                <a:ext cx="86760" cy="109800"/>
              </a:xfrm>
              <a:custGeom>
                <a:avLst/>
                <a:gdLst>
                  <a:gd name="textAreaLeft" fmla="*/ 0 w 86760"/>
                  <a:gd name="textAreaRight" fmla="*/ 87840 w 86760"/>
                  <a:gd name="textAreaTop" fmla="*/ 0 h 109800"/>
                  <a:gd name="textAreaBottom" fmla="*/ 110880 h 109800"/>
                  <a:gd name="GluePoint1X" fmla="*/ 56853 w 87882"/>
                  <a:gd name="GluePoint1Y" fmla="*/ 0 h 110951"/>
                  <a:gd name="GluePoint2X" fmla="*/ 1649 w 87882"/>
                  <a:gd name="GluePoint2Y" fmla="*/ 55329 h 110951"/>
                  <a:gd name="GluePoint3X" fmla="*/ 153 w 87882"/>
                  <a:gd name="GluePoint3Y" fmla="*/ 71903 h 110951"/>
                  <a:gd name="GluePoint4X" fmla="*/ 32484 w 87882"/>
                  <a:gd name="GluePoint4Y" fmla="*/ 110801 h 110951"/>
                  <a:gd name="GluePoint5X" fmla="*/ 37538 w 87882"/>
                  <a:gd name="GluePoint5Y" fmla="*/ 110908 h 110951"/>
                  <a:gd name="GluePoint6X" fmla="*/ 73552 w 87882"/>
                  <a:gd name="GluePoint6Y" fmla="*/ 95705 h 110951"/>
                  <a:gd name="GluePoint7X" fmla="*/ 73552 w 87882"/>
                  <a:gd name="GluePoint7Y" fmla="*/ 95705 h 110951"/>
                  <a:gd name="GluePoint8X" fmla="*/ 64455 w 87882"/>
                  <a:gd name="GluePoint8Y" fmla="*/ 84614 h 110951"/>
                  <a:gd name="GluePoint9X" fmla="*/ 64455 w 87882"/>
                  <a:gd name="GluePoint9Y" fmla="*/ 84614 h 110951"/>
                  <a:gd name="GluePoint10X" fmla="*/ 64455 w 87882"/>
                  <a:gd name="GluePoint10Y" fmla="*/ 84614 h 110951"/>
                  <a:gd name="GluePoint11X" fmla="*/ 38535 w 87882"/>
                  <a:gd name="GluePoint11Y" fmla="*/ 97075 h 110951"/>
                  <a:gd name="GluePoint12X" fmla="*/ 15233 w 87882"/>
                  <a:gd name="GluePoint12Y" fmla="*/ 75551 h 110951"/>
                  <a:gd name="GluePoint13X" fmla="*/ 15356 w 87882"/>
                  <a:gd name="GluePoint13Y" fmla="*/ 72152 h 110951"/>
                  <a:gd name="GluePoint14X" fmla="*/ 17101 w 87882"/>
                  <a:gd name="GluePoint14Y" fmla="*/ 55952 h 110951"/>
                  <a:gd name="GluePoint15X" fmla="*/ 31058 w 87882"/>
                  <a:gd name="GluePoint15Y" fmla="*/ 25048 h 110951"/>
                  <a:gd name="GluePoint16X" fmla="*/ 55233 w 87882"/>
                  <a:gd name="GluePoint16Y" fmla="*/ 14206 h 110951"/>
                  <a:gd name="GluePoint17X" fmla="*/ 76293 w 87882"/>
                  <a:gd name="GluePoint17Y" fmla="*/ 26668 h 110951"/>
                  <a:gd name="GluePoint18X" fmla="*/ 76293 w 87882"/>
                  <a:gd name="GluePoint18Y" fmla="*/ 26668 h 110951"/>
                  <a:gd name="GluePoint19X" fmla="*/ 87883 w 87882"/>
                  <a:gd name="GluePoint19Y" fmla="*/ 16823 h 110951"/>
                  <a:gd name="GluePoint20X" fmla="*/ 87883 w 87882"/>
                  <a:gd name="GluePoint20Y" fmla="*/ 16823 h 110951"/>
                  <a:gd name="GluePoint21X" fmla="*/ 56729 w 87882"/>
                  <a:gd name="GluePoint21Y" fmla="*/ 748 h 110951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</a:cxnLst>
                <a:rect l="textAreaLeft" t="textAreaTop" r="textAreaRight" b="textAreaBottom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solidFill>
                <a:schemeClr val="bg1"/>
              </a:solidFill>
              <a:ln w="12419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560" tIns="45000" rIns="43560" bIns="45000" anchor="ctr">
                <a:noAutofit/>
              </a:bodyPr>
              <a:p>
                <a:pPr/>
                <a:endPara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3" name="Freihandform: Form 19"/>
            <p:cNvSpPr/>
            <p:nvPr/>
          </p:nvSpPr>
          <p:spPr>
            <a:xfrm>
              <a:off x="1494000" y="6507000"/>
              <a:ext cx="18720" cy="18720"/>
            </a:xfrm>
            <a:custGeom>
              <a:avLst/>
              <a:gdLst>
                <a:gd name="textAreaLeft" fmla="*/ 0 w 18720"/>
                <a:gd name="textAreaRight" fmla="*/ 19800 w 18720"/>
                <a:gd name="textAreaTop" fmla="*/ 0 h 18720"/>
                <a:gd name="textAreaBottom" fmla="*/ 19800 h 18720"/>
                <a:gd name="GluePoint1X" fmla="*/ 3988 w 19689"/>
                <a:gd name="GluePoint1Y" fmla="*/ 0 h 19689"/>
                <a:gd name="GluePoint2X" fmla="*/ 0 w 19689"/>
                <a:gd name="GluePoint2Y" fmla="*/ 19689 h 19689"/>
                <a:gd name="GluePoint3X" fmla="*/ 15826 w 19689"/>
                <a:gd name="GluePoint3Y" fmla="*/ 19689 h 19689"/>
                <a:gd name="GluePoint4X" fmla="*/ 19689 w 19689"/>
                <a:gd name="GluePoint4Y" fmla="*/ 0 h 19689"/>
                <a:gd name="GluePoint5X" fmla="*/ 3988 w 19689"/>
                <a:gd name="GluePoint5Y" fmla="*/ 0 h 196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360" tIns="-25200" rIns="9360" bIns="-252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Freihandform: Form 20"/>
            <p:cNvSpPr/>
            <p:nvPr/>
          </p:nvSpPr>
          <p:spPr>
            <a:xfrm>
              <a:off x="1340640" y="6507000"/>
              <a:ext cx="18720" cy="18720"/>
            </a:xfrm>
            <a:custGeom>
              <a:avLst/>
              <a:gdLst>
                <a:gd name="textAreaLeft" fmla="*/ 0 w 18720"/>
                <a:gd name="textAreaRight" fmla="*/ 19800 w 18720"/>
                <a:gd name="textAreaTop" fmla="*/ 0 h 18720"/>
                <a:gd name="textAreaBottom" fmla="*/ 19800 h 18720"/>
                <a:gd name="GluePoint1X" fmla="*/ 3988 w 19689"/>
                <a:gd name="GluePoint1Y" fmla="*/ 0 h 19689"/>
                <a:gd name="GluePoint2X" fmla="*/ 0 w 19689"/>
                <a:gd name="GluePoint2Y" fmla="*/ 19689 h 19689"/>
                <a:gd name="GluePoint3X" fmla="*/ 15826 w 19689"/>
                <a:gd name="GluePoint3Y" fmla="*/ 19689 h 19689"/>
                <a:gd name="GluePoint4X" fmla="*/ 19689 w 19689"/>
                <a:gd name="GluePoint4Y" fmla="*/ 0 h 19689"/>
                <a:gd name="GluePoint5X" fmla="*/ 3988 w 19689"/>
                <a:gd name="GluePoint5Y" fmla="*/ 0 h 196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360" tIns="-25200" rIns="9360" bIns="-252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Freihandform: Form 21"/>
            <p:cNvSpPr/>
            <p:nvPr/>
          </p:nvSpPr>
          <p:spPr>
            <a:xfrm>
              <a:off x="1298880" y="6507000"/>
              <a:ext cx="18720" cy="18720"/>
            </a:xfrm>
            <a:custGeom>
              <a:avLst/>
              <a:gdLst>
                <a:gd name="textAreaLeft" fmla="*/ 0 w 18720"/>
                <a:gd name="textAreaRight" fmla="*/ 19800 w 18720"/>
                <a:gd name="textAreaTop" fmla="*/ 0 h 18720"/>
                <a:gd name="textAreaBottom" fmla="*/ 19800 h 18720"/>
                <a:gd name="GluePoint1X" fmla="*/ 3988 w 19689"/>
                <a:gd name="GluePoint1Y" fmla="*/ 0 h 19689"/>
                <a:gd name="GluePoint2X" fmla="*/ 0 w 19689"/>
                <a:gd name="GluePoint2Y" fmla="*/ 19689 h 19689"/>
                <a:gd name="GluePoint3X" fmla="*/ 15702 w 19689"/>
                <a:gd name="GluePoint3Y" fmla="*/ 19689 h 19689"/>
                <a:gd name="GluePoint4X" fmla="*/ 19689 w 19689"/>
                <a:gd name="GluePoint4Y" fmla="*/ 0 h 19689"/>
                <a:gd name="GluePoint5X" fmla="*/ 3988 w 19689"/>
                <a:gd name="GluePoint5Y" fmla="*/ 0 h 196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360" tIns="-25200" rIns="9360" bIns="-252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Freihandform: Form 22"/>
            <p:cNvSpPr/>
            <p:nvPr/>
          </p:nvSpPr>
          <p:spPr>
            <a:xfrm>
              <a:off x="731880" y="6507000"/>
              <a:ext cx="416880" cy="156600"/>
            </a:xfrm>
            <a:custGeom>
              <a:avLst/>
              <a:gdLst>
                <a:gd name="textAreaLeft" fmla="*/ 0 w 416880"/>
                <a:gd name="textAreaRight" fmla="*/ 417960 w 416880"/>
                <a:gd name="textAreaTop" fmla="*/ 0 h 156600"/>
                <a:gd name="textAreaBottom" fmla="*/ 157680 h 156600"/>
                <a:gd name="GluePoint1X" fmla="*/ 368612 w 417960"/>
                <a:gd name="GluePoint1Y" fmla="*/ 0 h 157638"/>
                <a:gd name="GluePoint2X" fmla="*/ 356151 w 417960"/>
                <a:gd name="GluePoint2Y" fmla="*/ 61062 h 157638"/>
                <a:gd name="GluePoint3X" fmla="*/ 320760 w 417960"/>
                <a:gd name="GluePoint3Y" fmla="*/ 61062 h 157638"/>
                <a:gd name="GluePoint4X" fmla="*/ 333222 w 417960"/>
                <a:gd name="GluePoint4Y" fmla="*/ 0 h 157638"/>
                <a:gd name="GluePoint5X" fmla="*/ 31652 w 417960"/>
                <a:gd name="GluePoint5Y" fmla="*/ 0 h 157638"/>
                <a:gd name="GluePoint6X" fmla="*/ 0 w 417960"/>
                <a:gd name="GluePoint6Y" fmla="*/ 157638 h 157638"/>
                <a:gd name="GluePoint7X" fmla="*/ 120254 w 417960"/>
                <a:gd name="GluePoint7Y" fmla="*/ 157638 h 157638"/>
                <a:gd name="GluePoint8X" fmla="*/ 128105 w 417960"/>
                <a:gd name="GluePoint8Y" fmla="*/ 118260 h 157638"/>
                <a:gd name="GluePoint9X" fmla="*/ 57074 w 417960"/>
                <a:gd name="GluePoint9Y" fmla="*/ 118260 h 157638"/>
                <a:gd name="GluePoint10X" fmla="*/ 61435 w 417960"/>
                <a:gd name="GluePoint10Y" fmla="*/ 96577 h 157638"/>
                <a:gd name="GluePoint11X" fmla="*/ 132342 w 417960"/>
                <a:gd name="GluePoint11Y" fmla="*/ 96577 h 157638"/>
                <a:gd name="GluePoint12X" fmla="*/ 139569 w 417960"/>
                <a:gd name="GluePoint12Y" fmla="*/ 61062 h 157638"/>
                <a:gd name="GluePoint13X" fmla="*/ 68538 w 417960"/>
                <a:gd name="GluePoint13Y" fmla="*/ 61062 h 157638"/>
                <a:gd name="GluePoint14X" fmla="*/ 72900 w 417960"/>
                <a:gd name="GluePoint14Y" fmla="*/ 39378 h 157638"/>
                <a:gd name="GluePoint15X" fmla="*/ 185303 w 417960"/>
                <a:gd name="GluePoint15Y" fmla="*/ 39378 h 157638"/>
                <a:gd name="GluePoint16X" fmla="*/ 161626 w 417960"/>
                <a:gd name="GluePoint16Y" fmla="*/ 157638 h 157638"/>
                <a:gd name="GluePoint17X" fmla="*/ 210849 w 417960"/>
                <a:gd name="GluePoint17Y" fmla="*/ 157638 h 157638"/>
                <a:gd name="GluePoint18X" fmla="*/ 234651 w 417960"/>
                <a:gd name="GluePoint18Y" fmla="*/ 39378 h 157638"/>
                <a:gd name="GluePoint19X" fmla="*/ 276023 w 417960"/>
                <a:gd name="GluePoint19Y" fmla="*/ 39378 h 157638"/>
                <a:gd name="GluePoint20X" fmla="*/ 252222 w 417960"/>
                <a:gd name="GluePoint20Y" fmla="*/ 157638 h 157638"/>
                <a:gd name="GluePoint21X" fmla="*/ 301569 w 417960"/>
                <a:gd name="GluePoint21Y" fmla="*/ 157638 h 157638"/>
                <a:gd name="GluePoint22X" fmla="*/ 313657 w 417960"/>
                <a:gd name="GluePoint22Y" fmla="*/ 96577 h 157638"/>
                <a:gd name="GluePoint23X" fmla="*/ 349172 w 417960"/>
                <a:gd name="GluePoint23Y" fmla="*/ 96577 h 157638"/>
                <a:gd name="GluePoint24X" fmla="*/ 336960 w 417960"/>
                <a:gd name="GluePoint24Y" fmla="*/ 157638 h 157638"/>
                <a:gd name="GluePoint25X" fmla="*/ 386308 w 417960"/>
                <a:gd name="GluePoint25Y" fmla="*/ 157638 h 157638"/>
                <a:gd name="GluePoint26X" fmla="*/ 417960 w 417960"/>
                <a:gd name="GluePoint26Y" fmla="*/ 0 h 157638"/>
                <a:gd name="GluePoint27X" fmla="*/ 368612 w 417960"/>
                <a:gd name="GluePoint27Y" fmla="*/ 0 h 15763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07" name="Picture Placeholder 14"/>
          <p:cNvPicPr/>
          <p:nvPr/>
        </p:nvPicPr>
        <p:blipFill>
          <a:blip r:embed="rId2"/>
          <a:srcRect l="59" t="0" r="3521" b="5617"/>
          <a:stretch/>
        </p:blipFill>
        <p:spPr>
          <a:xfrm>
            <a:off x="2300400" y="6452640"/>
            <a:ext cx="819000" cy="21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mailto:pnikou@student.ethz.ch" TargetMode="External"/><Relationship Id="rId2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pontifex.ethz.ch/site1/" TargetMode="External"/><Relationship Id="rId2" Type="http://schemas.openxmlformats.org/officeDocument/2006/relationships/image" Target="../media/image11.png"/><Relationship Id="rId3" Type="http://schemas.openxmlformats.org/officeDocument/2006/relationships/hyperlink" Target="https://www.youtube.com/watch?v=A76JpF7ktCI" TargetMode="External"/><Relationship Id="rId4" Type="http://schemas.openxmlformats.org/officeDocument/2006/relationships/hyperlink" Target="https://www.youtube.com/watch?v=NlGysPeUliY" TargetMode="External"/><Relationship Id="rId5" Type="http://schemas.openxmlformats.org/officeDocument/2006/relationships/slideLayout" Target="../slideLayouts/slideLayout1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3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3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Bildplatzhalter 18" descr="Ein Bild, das Gebäude, Stadt, Schloss, Turm enthält.&#10;&#10;Automatisch generierte Beschreibung"/>
          <p:cNvPicPr/>
          <p:nvPr/>
        </p:nvPicPr>
        <p:blipFill>
          <a:blip r:embed="rId1"/>
          <a:srcRect l="0" t="460" r="0" b="460"/>
          <a:stretch/>
        </p:blipFill>
        <p:spPr>
          <a:xfrm>
            <a:off x="731880" y="1015920"/>
            <a:ext cx="10727280" cy="525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0" y="2233440"/>
            <a:ext cx="5902920" cy="27709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1080000" tIns="25200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Netzwerke und Schaltungen Übungsstunde Woche 1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078560" y="3860640"/>
            <a:ext cx="4678920" cy="100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Promitheas Nikou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pnikou@student.ethz.ch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17. September 2026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18" name="Picture Placeholder 14"/>
          <p:cNvPicPr/>
          <p:nvPr/>
        </p:nvPicPr>
        <p:blipFill>
          <a:blip r:embed="rId2"/>
          <a:srcRect l="0" t="-6895" r="0" b="-269"/>
          <a:stretch/>
        </p:blipFill>
        <p:spPr>
          <a:xfrm>
            <a:off x="10200240" y="309960"/>
            <a:ext cx="1258920" cy="36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Wilkommen!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731880" y="1413000"/>
            <a:ext cx="10727280" cy="467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Hallo 👋</a:t>
            </a:r>
            <a:br>
              <a:rPr sz="1800"/>
            </a:br>
            <a:r>
              <a:rPr lang="de-CH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Ich bin Promitheas</a:t>
            </a:r>
            <a:br>
              <a:rPr sz="1800"/>
            </a:br>
            <a:r>
              <a:rPr lang="de-CH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Ich bin im 3em Semester Bachelor Elektrotechnik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Bei Frage immer melden: Moodle Gruppe oder </a:t>
            </a:r>
            <a:r>
              <a:rPr lang="de-CH" sz="1800" b="0" u="none" strike="noStrike">
                <a:solidFill>
                  <a:srgbClr val="0563C1"/>
                </a:solidFill>
                <a:effectLst/>
                <a:uFillTx/>
                <a:latin typeface="Arial"/>
                <a:ea typeface="Noto Sans CJK SC"/>
                <a:hlinkClick r:id="rId1"/>
              </a:rPr>
              <a:t>pnikou@student.ethz.ch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Noto Sans CJK SC"/>
              </a:rPr>
              <a:t>(Auch für Tipps, Hilfe mit Übungen, oder Theoriefragen)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dt" idx="24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D3A71F1-C5F6-4749-9E9B-45E7DD56F68D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 type="sldNum" idx="25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B1CEDF-6019-4CC5-B7DF-71BD22363081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Aufbau der Übungsstunde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731880" y="1413000"/>
            <a:ext cx="10727280" cy="467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Offene Fragen von letzter Woche (heute: organisatorisches)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Theoriebeispiele zum gemeinsamen Lösen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Eigenes Rechnen einiger repräsentativer Aufgaben mit meiner Hilfe (moodle Übungsaufgabe, heute Brückenkurs Mathematik)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26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C72EEDC-BA79-4310-ADBA-941BA070DA64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sldNum" idx="27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B40EF4-D32B-4077-932A-0674250DF47E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Notenbonus (Lesekontrollfragen und Bonusaufgaben)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731880" y="1413000"/>
            <a:ext cx="10727280" cy="467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Es ist möglich einen </a:t>
            </a:r>
            <a:r>
              <a:rPr lang="de-CH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Notenbonus von bis zu 0.25 </a:t>
            </a: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auf die Endnote der Prüfung zu bekommen: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Lesekontrollfragen bis Sonntag 18:00 vor der Vorlesung beantworten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 viele Versuche wie gewollt, bester Versuch wird bewertet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Bonusaufgaben bis Sonntag 18:00 vor der Vorlesung lösen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 viele Versuche wie gewollt, bester Versuch wird bewertet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300 Pkt. während des Semesters erreichbar.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Ende des Semesters gibt es ein paar Extraaufgaben, falls mal eine Woche die Aufgaben nicht beantwortet werden können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dt" idx="28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40F7569-55A7-4D99-845F-29DC05E9D24C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sldNum" idx="29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475F16-338A-4F02-8B05-2020640F9B82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31" name="Table 5"/>
          <p:cNvGraphicFramePr/>
          <p:nvPr/>
        </p:nvGraphicFramePr>
        <p:xfrm>
          <a:off x="7121160" y="4500720"/>
          <a:ext cx="3657960" cy="1752840"/>
        </p:xfrm>
        <a:graphic>
          <a:graphicData uri="http://schemas.openxmlformats.org/drawingml/2006/table">
            <a:tbl>
              <a:tblPr/>
              <a:tblGrid>
                <a:gridCol w="2192400"/>
                <a:gridCol w="146592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erreichte Punkte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Notenbonus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&lt; 140 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140 - 280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linear interpoliert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≥ 280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0.25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Study Center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731880" y="1413000"/>
            <a:ext cx="10727280" cy="467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Alle Study Center </a:t>
            </a:r>
            <a:r>
              <a:rPr lang="de-CH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mittwochs von 12:00 bis 14:00 </a:t>
            </a: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 der zweiten Woche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Netzwerke und Schaltungen: GLC E 29.2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Technische Mechanik: GLC E 24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Digitaltechnik: GLC E 29.1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Lineare Algebra: GLC E 34.1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Analysis I: GLC E 34.2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Zusammen lernen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 sind vor Ort und beantworten Fragen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dt" idx="30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33F4F70-AFDF-4191-8AF5-19AE1700F72B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sldNum" idx="31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8B3224-E8FB-4FEC-A3BB-07168B948A2C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Weitere Unterlagen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731880" y="1413000"/>
            <a:ext cx="6256440" cy="467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Brückenkurs Mathematik (ihr habt einen persönlichen link zu </a:t>
            </a:r>
            <a:r>
              <a:rPr lang="de-CH" sz="1800" b="0" u="sng" strike="noStrike">
                <a:solidFill>
                  <a:schemeClr val="dk1"/>
                </a:solidFill>
                <a:effectLst/>
                <a:uFillTx/>
                <a:latin typeface="Arial"/>
                <a:hlinkClick r:id="rId1"/>
              </a:rPr>
              <a:t>https://pontifex.ethz.ch/site1/</a:t>
            </a: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per email gekriegt)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Integralrechnung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Vektorgeometrie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Moodle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Albach Buch und Übungsbuch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Online-Übungsplatform Zugang bei Kauf des Buches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dt" idx="32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C3B5DC6-279E-4D50-99FE-6D7E36C9C65F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sldNum" idx="33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81BB6A-7445-4BB9-B4E5-2778ED0CA7F9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0" name="Group 5"/>
          <p:cNvGrpSpPr/>
          <p:nvPr/>
        </p:nvGrpSpPr>
        <p:grpSpPr>
          <a:xfrm>
            <a:off x="3270240" y="4810680"/>
            <a:ext cx="8743320" cy="1587960"/>
            <a:chOff x="3270240" y="4810680"/>
            <a:chExt cx="8743320" cy="1587960"/>
          </a:xfrm>
        </p:grpSpPr>
        <p:pic>
          <p:nvPicPr>
            <p:cNvPr id="141" name="Picture 6"/>
            <p:cNvPicPr/>
            <p:nvPr/>
          </p:nvPicPr>
          <p:blipFill>
            <a:blip r:embed="rId2"/>
            <a:stretch/>
          </p:blipFill>
          <p:spPr>
            <a:xfrm>
              <a:off x="3270240" y="4810680"/>
              <a:ext cx="2493360" cy="8888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2" name="TextBox 7"/>
            <p:cNvSpPr/>
            <p:nvPr/>
          </p:nvSpPr>
          <p:spPr>
            <a:xfrm>
              <a:off x="3270240" y="5753520"/>
              <a:ext cx="8743320" cy="64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#04 – Vereinfachung Wegintegral </a:t>
              </a:r>
              <a:r>
                <a:rPr lang="de-CH" sz="14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(</a:t>
              </a:r>
              <a:r>
                <a:rPr lang="de-CH" sz="1400" b="0" u="sng" strike="noStrike">
                  <a:solidFill>
                    <a:schemeClr val="dk1"/>
                  </a:solidFill>
                  <a:effectLst/>
                  <a:uFillTx/>
                  <a:latin typeface="Arial"/>
                  <a:hlinkClick r:id="rId3"/>
                </a:rPr>
                <a:t>https://www.youtube.com/watch?v=A76JpF7ktCI</a:t>
              </a:r>
              <a:r>
                <a:rPr lang="de-CH" sz="14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)</a:t>
              </a:r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#03 – Vereinfachung Oberflächenintegral </a:t>
              </a:r>
              <a:r>
                <a:rPr lang="de-CH" sz="14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(</a:t>
              </a:r>
              <a:r>
                <a:rPr lang="de-CH" sz="1400" b="0" u="sng" strike="noStrike">
                  <a:solidFill>
                    <a:schemeClr val="dk1"/>
                  </a:solidFill>
                  <a:effectLst/>
                  <a:uFillTx/>
                  <a:latin typeface="Arial"/>
                  <a:hlinkClick r:id="rId4"/>
                </a:rPr>
                <a:t>https://www.youtube.com/watch?v=NlGysPeUliY</a:t>
              </a:r>
              <a:r>
                <a:rPr lang="de-CH" sz="14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) </a:t>
              </a:r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731880" y="2224800"/>
            <a:ext cx="10727280" cy="125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Theoriebeispiele Mathematik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dt" idx="34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BE4D2FA-614D-4C0E-9A0D-8E1238BD01AC}" type="datetime1"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35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BFFFB7-0AC7-47EF-B585-035F1F92D933}" type="slidenum"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1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dt" idx="36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BE5FFD8-3838-4AE5-9678-7154D779B0E4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37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507964-961A-4A1E-94DF-C5BE50F8E6A5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9" name="Picture 6"/>
          <p:cNvPicPr/>
          <p:nvPr/>
        </p:nvPicPr>
        <p:blipFill>
          <a:blip r:embed="rId1"/>
          <a:stretch/>
        </p:blipFill>
        <p:spPr>
          <a:xfrm>
            <a:off x="731880" y="1413000"/>
            <a:ext cx="6141960" cy="476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8"/>
          <p:cNvPicPr/>
          <p:nvPr/>
        </p:nvPicPr>
        <p:blipFill>
          <a:blip r:embed="rId2"/>
          <a:stretch/>
        </p:blipFill>
        <p:spPr>
          <a:xfrm>
            <a:off x="8410320" y="2537280"/>
            <a:ext cx="973440" cy="238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1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dt" idx="38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175914E-3853-4BB9-A595-86AF9C7ABB23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39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2BD8CB-0E7F-43B8-B5AB-96A820C3BCC5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4" name="Picture 6"/>
          <p:cNvPicPr/>
          <p:nvPr/>
        </p:nvPicPr>
        <p:blipFill>
          <a:blip r:embed="rId1"/>
          <a:stretch/>
        </p:blipFill>
        <p:spPr>
          <a:xfrm>
            <a:off x="731880" y="1413000"/>
            <a:ext cx="6141960" cy="47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TextBox 2"/>
          <p:cNvSpPr/>
          <p:nvPr/>
        </p:nvSpPr>
        <p:spPr>
          <a:xfrm>
            <a:off x="6874920" y="1160280"/>
            <a:ext cx="4209480" cy="11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Antwort a ist richtig, da der Vektor in dieselbe Richtung zeigen muss (r &gt; 0), und länger sein muss als v (|r| &gt; 1).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7"/>
          <p:cNvPicPr/>
          <p:nvPr/>
        </p:nvPicPr>
        <p:blipFill>
          <a:blip r:embed="rId2"/>
          <a:stretch/>
        </p:blipFill>
        <p:spPr>
          <a:xfrm>
            <a:off x="8410320" y="2537280"/>
            <a:ext cx="973440" cy="238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2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dt" idx="40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05F13F2-E569-4FDF-8EBD-CBA2E2CBD79C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41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120471-D4A9-42A7-B6DF-B4094D3929C7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0" name="Picture 6"/>
          <p:cNvPicPr/>
          <p:nvPr/>
        </p:nvPicPr>
        <p:blipFill>
          <a:blip r:embed="rId1"/>
          <a:stretch/>
        </p:blipFill>
        <p:spPr>
          <a:xfrm>
            <a:off x="731880" y="1413000"/>
            <a:ext cx="6097320" cy="475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1" name="Picture 8"/>
          <p:cNvPicPr/>
          <p:nvPr/>
        </p:nvPicPr>
        <p:blipFill>
          <a:blip r:embed="rId2"/>
          <a:stretch/>
        </p:blipFill>
        <p:spPr>
          <a:xfrm>
            <a:off x="8020080" y="2934360"/>
            <a:ext cx="1784160" cy="1719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2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dt" idx="42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BA90E2C-D3A7-436A-B7B2-91A18B406E04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43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5CB8FE-3693-46AA-BC4A-E5EFAF828FFA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5" name="Picture 6"/>
          <p:cNvPicPr/>
          <p:nvPr/>
        </p:nvPicPr>
        <p:blipFill>
          <a:blip r:embed="rId1"/>
          <a:stretch/>
        </p:blipFill>
        <p:spPr>
          <a:xfrm>
            <a:off x="731880" y="1413000"/>
            <a:ext cx="6097320" cy="475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6" name="Picture 8"/>
          <p:cNvPicPr/>
          <p:nvPr/>
        </p:nvPicPr>
        <p:blipFill>
          <a:blip r:embed="rId2"/>
          <a:stretch/>
        </p:blipFill>
        <p:spPr>
          <a:xfrm>
            <a:off x="8020080" y="2934360"/>
            <a:ext cx="1784160" cy="171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" name="TextBox 2"/>
          <p:cNvSpPr/>
          <p:nvPr/>
        </p:nvSpPr>
        <p:spPr>
          <a:xfrm>
            <a:off x="6989040" y="1160280"/>
            <a:ext cx="4469760" cy="92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 ist richtig. r &lt; 0, da die Richtung umgekehrt ist. |r| &lt; 1, da w kürzer ist als v.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3 – Vektoraddition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69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PlaceHolder 2"/>
          <p:cNvSpPr>
            <a:spLocks noGrp="1"/>
          </p:cNvSpPr>
          <p:nvPr>
            <p:ph type="dt" idx="44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01A6990-2F0C-4FB2-815A-57B3AF6C37D6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45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2D8BF8-D6AF-4CFB-AC3C-3BEF771DA276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2" name="Picture 8"/>
          <p:cNvPicPr/>
          <p:nvPr/>
        </p:nvPicPr>
        <p:blipFill>
          <a:blip r:embed="rId2"/>
          <a:stretch/>
        </p:blipFill>
        <p:spPr>
          <a:xfrm>
            <a:off x="8410320" y="2537280"/>
            <a:ext cx="973440" cy="238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TextBox 11"/>
          <p:cNvSpPr/>
          <p:nvPr/>
        </p:nvSpPr>
        <p:spPr>
          <a:xfrm>
            <a:off x="8111880" y="1710360"/>
            <a:ext cx="1072800" cy="27576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3 – Vektoraddition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75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PlaceHolder 2"/>
          <p:cNvSpPr>
            <a:spLocks noGrp="1"/>
          </p:cNvSpPr>
          <p:nvPr>
            <p:ph type="dt" idx="46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4951BC1-3E05-413A-80A6-6EADD0DAA9B1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47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D7EF2D-26B7-4E19-96EB-D2D12D7AACA1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Picture 8"/>
          <p:cNvPicPr/>
          <p:nvPr/>
        </p:nvPicPr>
        <p:blipFill>
          <a:blip r:embed="rId2"/>
          <a:stretch/>
        </p:blipFill>
        <p:spPr>
          <a:xfrm>
            <a:off x="8410320" y="2537280"/>
            <a:ext cx="973440" cy="238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TextBox 11"/>
          <p:cNvSpPr/>
          <p:nvPr/>
        </p:nvSpPr>
        <p:spPr>
          <a:xfrm>
            <a:off x="8111880" y="1710360"/>
            <a:ext cx="1114560" cy="31680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4 – Skalarprodukt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81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PlaceHolder 2"/>
          <p:cNvSpPr>
            <a:spLocks noGrp="1"/>
          </p:cNvSpPr>
          <p:nvPr>
            <p:ph type="dt" idx="48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55BE1F4-8ABD-47CC-BD43-9648E9670D71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49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93275D-9DB7-4F6D-8FE1-45F8312AB526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TextBox 11"/>
          <p:cNvSpPr/>
          <p:nvPr/>
        </p:nvSpPr>
        <p:spPr>
          <a:xfrm>
            <a:off x="8111880" y="1551240"/>
            <a:ext cx="965520" cy="27576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2"/>
          <p:cNvSpPr/>
          <p:nvPr/>
        </p:nvSpPr>
        <p:spPr>
          <a:xfrm>
            <a:off x="8111880" y="3371040"/>
            <a:ext cx="942840" cy="246816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4 – Skalarprodukt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87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PlaceHolder 2"/>
          <p:cNvSpPr>
            <a:spLocks noGrp="1"/>
          </p:cNvSpPr>
          <p:nvPr>
            <p:ph type="dt" idx="50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8021595-E1FE-40EE-AC5D-184F47F944E5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51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36D85A-466D-4369-A35E-926AD36981B7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TextBox 11"/>
          <p:cNvSpPr/>
          <p:nvPr/>
        </p:nvSpPr>
        <p:spPr>
          <a:xfrm>
            <a:off x="8111880" y="1487160"/>
            <a:ext cx="2684880" cy="15559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8111880" y="3371040"/>
            <a:ext cx="942840" cy="246816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5 – Skalarprodukt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93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PlaceHolder 2"/>
          <p:cNvSpPr>
            <a:spLocks noGrp="1"/>
          </p:cNvSpPr>
          <p:nvPr>
            <p:ph type="dt" idx="52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01D2C75-AC21-4112-BF23-D1C757ED7B04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53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9B03B4-B8B7-4138-A18F-D2550513451A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TextBox 11"/>
          <p:cNvSpPr/>
          <p:nvPr/>
        </p:nvSpPr>
        <p:spPr>
          <a:xfrm>
            <a:off x="8111880" y="1710360"/>
            <a:ext cx="965520" cy="27576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7"/>
          <p:cNvSpPr/>
          <p:nvPr/>
        </p:nvSpPr>
        <p:spPr>
          <a:xfrm>
            <a:off x="8087760" y="3371040"/>
            <a:ext cx="1014120" cy="246816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5 – Skalarprodukt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99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PlaceHolder 2"/>
          <p:cNvSpPr>
            <a:spLocks noGrp="1"/>
          </p:cNvSpPr>
          <p:nvPr>
            <p:ph type="dt" idx="54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A589AAC-FC0D-41F4-97FD-2BC24F9AE411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55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A1E779-6EF6-4997-BB4C-0B426B1C19DF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TextBox 11"/>
          <p:cNvSpPr/>
          <p:nvPr/>
        </p:nvSpPr>
        <p:spPr>
          <a:xfrm>
            <a:off x="8111880" y="1638720"/>
            <a:ext cx="3076560" cy="152028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7"/>
          <p:cNvSpPr/>
          <p:nvPr/>
        </p:nvSpPr>
        <p:spPr>
          <a:xfrm>
            <a:off x="8111880" y="3371040"/>
            <a:ext cx="952200" cy="246816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731880" y="2224800"/>
            <a:ext cx="10727280" cy="125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Theoriebeispiele zu Schlüsselkonzepten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dt" idx="56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56BCB54-E3DF-4227-A75C-6355A94309B6}" type="datetime1"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57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BA61D6-28F7-4614-B3EE-38691A087CA8}" type="slidenum"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 – (Albach Anhang C): Beispiel 6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08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PlaceHolder 2"/>
          <p:cNvSpPr>
            <a:spLocks noGrp="1"/>
          </p:cNvSpPr>
          <p:nvPr>
            <p:ph type="dt" idx="58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76F9ABF-3545-4F05-BFFE-A7AD2F86C330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59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46F23B-303D-4E61-8D35-1800D31E4042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TextBox 11"/>
          <p:cNvSpPr/>
          <p:nvPr/>
        </p:nvSpPr>
        <p:spPr>
          <a:xfrm>
            <a:off x="6095880" y="1160280"/>
            <a:ext cx="5362920" cy="27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de-CH" sz="1800" b="1" u="sng" strike="noStrike">
                <a:solidFill>
                  <a:schemeClr val="dk1"/>
                </a:solidFill>
                <a:effectLst/>
                <a:uFillTx/>
                <a:latin typeface="Arial"/>
              </a:rPr>
              <a:t>Schlüsselkonzepte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Linienintegrale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elektrostatische Kraft: Richtung und Stärke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das Coulomb'sche Gesetz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Welche Arbeit wird an der Punktladung q verrichtet, wenn diese radial von einem Radius r von der Punktladung Q weg zu einem grösseren Radius R bewegt wird?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 – (Albach Anhang C): Beispiel 6 –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13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PlaceHolder 2"/>
          <p:cNvSpPr>
            <a:spLocks noGrp="1"/>
          </p:cNvSpPr>
          <p:nvPr>
            <p:ph type="dt" idx="60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AEC8330-E36A-4F4A-B14D-873CCBE0006D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61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61A411-567B-4110-A808-ECB49F2B200F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TextBox 11"/>
          <p:cNvSpPr/>
          <p:nvPr/>
        </p:nvSpPr>
        <p:spPr>
          <a:xfrm>
            <a:off x="6095880" y="1160280"/>
            <a:ext cx="5362920" cy="631476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 – (Albach Anhang C): Beispiel 6 –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18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PlaceHolder 2"/>
          <p:cNvSpPr>
            <a:spLocks noGrp="1"/>
          </p:cNvSpPr>
          <p:nvPr>
            <p:ph type="dt" idx="62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52FAA14-7C27-4E28-B9D8-A73318F3B387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63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6C9AB8-9A69-4768-B241-E458D05167ED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TextBox 11"/>
          <p:cNvSpPr/>
          <p:nvPr/>
        </p:nvSpPr>
        <p:spPr>
          <a:xfrm>
            <a:off x="6095880" y="1160280"/>
            <a:ext cx="5362920" cy="59065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" dur="indefinite" restart="never" nodeType="tmRoot">
          <p:childTnLst>
            <p:seq>
              <p:cTn id="24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 – (Albach Anhang C): Beispiel 7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23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PlaceHolder 2"/>
          <p:cNvSpPr>
            <a:spLocks noGrp="1"/>
          </p:cNvSpPr>
          <p:nvPr>
            <p:ph type="dt" idx="64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3FAA6FA-203F-4025-9B46-D55CF688BD95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65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5A3445-DC37-4399-9807-EF392E053A7A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extBox 11"/>
          <p:cNvSpPr/>
          <p:nvPr/>
        </p:nvSpPr>
        <p:spPr>
          <a:xfrm>
            <a:off x="6095880" y="1160280"/>
            <a:ext cx="5362920" cy="239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de-CH" sz="1800" b="1" u="sng" strike="noStrike">
                <a:solidFill>
                  <a:schemeClr val="dk1"/>
                </a:solidFill>
                <a:effectLst/>
                <a:uFillTx/>
                <a:latin typeface="Arial"/>
              </a:rPr>
              <a:t>Schlüsselkonzepte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Linienintegrale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elektrostatische Kraft: Richtung und Stärke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Dieselbe Frage etwas anders: Welche Arbeit wird an q verrichtet, wenn die Ladung azimuthal von einem Punkt zum anderen auf demselben Radius R um Q bewegt wird?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280" cy="89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 – (Albach Anhang C): Beispiel 7 –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28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56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PlaceHolder 2"/>
          <p:cNvSpPr>
            <a:spLocks noGrp="1"/>
          </p:cNvSpPr>
          <p:nvPr>
            <p:ph type="dt" idx="66"/>
          </p:nvPr>
        </p:nvSpPr>
        <p:spPr>
          <a:xfrm>
            <a:off x="10473840" y="6522480"/>
            <a:ext cx="61092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7C5F886-352F-4171-B05F-A90D59F858ED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67"/>
          </p:nvPr>
        </p:nvSpPr>
        <p:spPr>
          <a:xfrm>
            <a:off x="11137680" y="6522480"/>
            <a:ext cx="321480" cy="21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2D4939-4063-4881-BD5C-2B9F36312505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TextBox 11"/>
          <p:cNvSpPr/>
          <p:nvPr/>
        </p:nvSpPr>
        <p:spPr>
          <a:xfrm>
            <a:off x="6095880" y="1160280"/>
            <a:ext cx="5362920" cy="471924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1" dur="indefinite" restart="never" nodeType="tmRoot">
          <p:childTnLst>
            <p:seq>
              <p:cTn id="42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ETH Zürich">
  <a:themeElements>
    <a:clrScheme name="ETH Zürich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LibreOffice/26.8.0.3$Linux_X86_64 LibreOffice_project/bce0998afefdbc355585ca324285661a2170ba77</Application>
  <AppVersion>15.0000</AppVersion>
  <Words>1151</Words>
  <Paragraphs>187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2026-09-04T10:51:08Z</dcterms:created>
  <dc:creator>Gfrörer  Tino</dc:creator>
  <dc:description/>
  <dc:language>de-DE</dc:language>
  <cp:lastModifiedBy/>
  <dcterms:modified xsi:type="dcterms:W3CDTF">2026-09-16T19:01:57Z</dcterms:modified>
  <cp:revision>40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Widescreen</vt:lpwstr>
  </property>
  <property fmtid="{D5CDD505-2E9C-101B-9397-08002B2CF9AE}" pid="4" name="Slides">
    <vt:i4>23</vt:i4>
  </property>
</Properties>
</file>