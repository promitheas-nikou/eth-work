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  <Override PartName="/ppt/media/image7.svg" ContentType="image/svg"/>
  <Override PartName="/ppt/media/image5.svg" ContentType="image/svg"/>
  <Override PartName="/ppt/media/image2.svg" ContentType="image/svg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7559675" cy="10691813"/>
  <p:extLst>
    <p:ext uri="{521415D9-36F7-43E2-AB2F-B90AF26B5E84}">
      <p14:sectionLst xmlns:p14="http://schemas.microsoft.com/office/powerpoint/2010/main">
        <p14:section name="Default Section" id="{AB140A5C-BDD6-46B0-8A66-45FAD0FBC28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Theoriebeispiele" id="{960AB6CA-67DE-4FDE-ADC2-51C8BFC50F2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move the slide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dt" idx="2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ftr" idx="2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sldNum" idx="2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157E1D-C584-4CD1-A066-5448DF057FF0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Antwort a ist richtig, da der Vektor in dieselbe Richtung zeigen muss (r ist positiv), und länger sein muss (Betrag r &gt; 1).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FDBFE10-5A7E-4718-81A7-879E1BBC0DF7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Antwort a ist richtig, da der Vektor in dieselbe Richtung zeigen muss (r ist positiv), und länger sein muss (Betrag r &gt; 1).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4CC02E8-A024-4C81-ADB2-5184B2B553BC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ist richtig. R ist negativ, da die Richtung umgekehrt ist. Der Betrag von r ist kleiner 1, da w kürzer ist als v.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639C73F-A36B-4D8D-BD50-A086B06A116F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ist richtig. R ist negativ, da die Richtung umgekehrt ist. Der Betrag von r ist kleiner 1, da w kürzer ist als v.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790376C-62F0-4902-A797-B4C0ADFEC1C8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6F8A4BF-CD3E-4349-8D26-F67A634680A4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0C34A4F-ED9F-4A40-A906-008C7DE5CFF8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77F79E5-B1DA-453C-9542-B2C3864135D9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27A31AA-2744-4A6F-9A51-024F8E2A36A2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63C7DA7-6390-4CDC-A019-DE0851EEB8F2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4422C2-1F15-46B3-94AC-B8EE2040EEF9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1ED527B-691A-4E1A-B8B4-C8F20E5EF34B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9FA103B-35A2-4C5A-826B-07974AEA742B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00CD0A8-944F-4235-BEAB-9F76BB6A475A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CAFAB5-7D52-49F2-8DE6-3868659FDF30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F4B5F-DE7E-4701-96B5-DF493603D4E1}" type="slidenum">
              <a:rPr lang="de-CH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3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pic"/>
          </p:nvPr>
        </p:nvSpPr>
        <p:spPr>
          <a:xfrm>
            <a:off x="731880" y="1015920"/>
            <a:ext cx="10727640" cy="5255280"/>
          </a:xfrm>
          <a:prstGeom prst="rect">
            <a:avLst/>
          </a:prstGeom>
          <a:noFill/>
          <a:ln w="0">
            <a:noFill/>
          </a:ln>
        </p:spPr>
        <p:txBody>
          <a:bodyPr lIns="0" tIns="0" rIns="5580000" bIns="45000" anchor="ctr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6504120" y="2957400"/>
            <a:ext cx="5687280" cy="2267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324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4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720" cy="28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845040" y="4639680"/>
            <a:ext cx="4319280" cy="46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2"/>
          <p:cNvSpPr/>
          <p:nvPr/>
        </p:nvSpPr>
        <p:spPr>
          <a:xfrm>
            <a:off x="731880" y="1015920"/>
            <a:ext cx="10727640" cy="525708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de-CH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0" y="1940400"/>
            <a:ext cx="10187280" cy="341928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txBody>
          <a:bodyPr lIns="1080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9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720" cy="28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1078560" y="4217760"/>
            <a:ext cx="8639280" cy="100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1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880" y="1015920"/>
            <a:ext cx="10727640" cy="525528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324000" tIns="11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3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720" cy="28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078560" y="5122800"/>
            <a:ext cx="10043280" cy="100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5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4 – Uni Zür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pic"/>
          </p:nvPr>
        </p:nvSpPr>
        <p:spPr>
          <a:xfrm>
            <a:off x="731880" y="1015920"/>
            <a:ext cx="10727640" cy="5255280"/>
          </a:xfrm>
          <a:prstGeom prst="rect">
            <a:avLst/>
          </a:prstGeom>
          <a:noFill/>
          <a:ln w="0">
            <a:noFill/>
          </a:ln>
        </p:spPr>
        <p:txBody>
          <a:bodyPr lIns="5580000" tIns="0" rIns="0" bIns="45000" anchor="ctr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0" y="2233440"/>
            <a:ext cx="5903280" cy="277128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txBody>
          <a:bodyPr lIns="1080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8" name="Grafik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27560" y="227880"/>
            <a:ext cx="3678480" cy="55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8560" y="3860640"/>
            <a:ext cx="4679280" cy="100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0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64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539640" indent="-53964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9640" lvl="1" indent="-5396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12800" lvl="2" indent="-53352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52800" lvl="3" indent="-5396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92440" lvl="4" indent="-5396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Arial"/>
              <a:buAutoNum type="arabicPeriod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2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94C789-89AC-4B1C-BB97-CC87A28AE268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64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3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sldNum" idx="4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2CCDF6-4EA0-4955-AEE8-7501BAC8BE7D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Fussno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640" cy="39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5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6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9D53E7-073D-4939-9374-2403BF7719C3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731880" y="5570280"/>
            <a:ext cx="5363280" cy="72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l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  <a:def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79280" indent="-179280" algn="l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9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31880" y="2224800"/>
            <a:ext cx="10727640" cy="12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7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8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D0E81-95C2-43DC-81CF-441BC8BAA0BA}" type="slidenum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3" name="Grafik 6"/>
          <p:cNvGrpSpPr/>
          <p:nvPr/>
        </p:nvGrpSpPr>
        <p:grpSpPr>
          <a:xfrm>
            <a:off x="731880" y="6507000"/>
            <a:ext cx="977760" cy="158400"/>
            <a:chOff x="731880" y="6507000"/>
            <a:chExt cx="977760" cy="158400"/>
          </a:xfrm>
        </p:grpSpPr>
        <p:grpSp>
          <p:nvGrpSpPr>
            <p:cNvPr id="44" name="Grafik 6"/>
            <p:cNvGrpSpPr/>
            <p:nvPr/>
          </p:nvGrpSpPr>
          <p:grpSpPr>
            <a:xfrm>
              <a:off x="1266480" y="6555240"/>
              <a:ext cx="196920" cy="110160"/>
              <a:chOff x="1266480" y="6555240"/>
              <a:chExt cx="196920" cy="110160"/>
            </a:xfrm>
          </p:grpSpPr>
          <p:sp>
            <p:nvSpPr>
              <p:cNvPr id="45" name="Freihandform: Form 12"/>
              <p:cNvSpPr/>
              <p:nvPr/>
            </p:nvSpPr>
            <p:spPr>
              <a:xfrm>
                <a:off x="1266480" y="6557040"/>
                <a:ext cx="95040" cy="108360"/>
              </a:xfrm>
              <a:custGeom>
                <a:avLst/>
                <a:gdLst>
                  <a:gd name="textAreaLeft" fmla="*/ 0 w 95040"/>
                  <a:gd name="textAreaRight" fmla="*/ 95760 w 95040"/>
                  <a:gd name="textAreaTop" fmla="*/ 0 h 108360"/>
                  <a:gd name="textAreaBottom" fmla="*/ 109080 h 108360"/>
                  <a:gd name="GluePoint1X" fmla="*/ 66742 w 95902"/>
                  <a:gd name="GluePoint1Y" fmla="*/ 65797 h 109216"/>
                  <a:gd name="GluePoint2X" fmla="*/ 35339 w 95902"/>
                  <a:gd name="GluePoint2Y" fmla="*/ 95082 h 109216"/>
                  <a:gd name="GluePoint3X" fmla="*/ 15953 w 95902"/>
                  <a:gd name="GluePoint3Y" fmla="*/ 79537 h 109216"/>
                  <a:gd name="GluePoint4X" fmla="*/ 15899 w 95902"/>
                  <a:gd name="GluePoint4Y" fmla="*/ 76265 h 109216"/>
                  <a:gd name="GluePoint5X" fmla="*/ 16896 w 95902"/>
                  <a:gd name="GluePoint5Y" fmla="*/ 66295 h 109216"/>
                  <a:gd name="GluePoint6X" fmla="*/ 30230 w 95902"/>
                  <a:gd name="GluePoint6Y" fmla="*/ 0 h 109216"/>
                  <a:gd name="GluePoint7X" fmla="*/ 30230 w 95902"/>
                  <a:gd name="GluePoint7Y" fmla="*/ 0 h 109216"/>
                  <a:gd name="GluePoint8X" fmla="*/ 14528 w 95902"/>
                  <a:gd name="GluePoint8Y" fmla="*/ 0 h 109216"/>
                  <a:gd name="GluePoint9X" fmla="*/ 1194 w 95902"/>
                  <a:gd name="GluePoint9Y" fmla="*/ 67791 h 109216"/>
                  <a:gd name="GluePoint10X" fmla="*/ 1194 w 95902"/>
                  <a:gd name="GluePoint10Y" fmla="*/ 68788 h 109216"/>
                  <a:gd name="GluePoint11X" fmla="*/ 73 w 95902"/>
                  <a:gd name="GluePoint11Y" fmla="*/ 78508 h 109216"/>
                  <a:gd name="GluePoint12X" fmla="*/ 26638 w 95902"/>
                  <a:gd name="GluePoint12Y" fmla="*/ 109122 h 109216"/>
                  <a:gd name="GluePoint13X" fmla="*/ 29980 w 95902"/>
                  <a:gd name="GluePoint13Y" fmla="*/ 109163 h 109216"/>
                  <a:gd name="GluePoint14X" fmla="*/ 61384 w 95902"/>
                  <a:gd name="GluePoint14Y" fmla="*/ 96702 h 109216"/>
                  <a:gd name="GluePoint15X" fmla="*/ 59265 w 95902"/>
                  <a:gd name="GluePoint15Y" fmla="*/ 107917 h 109216"/>
                  <a:gd name="GluePoint16X" fmla="*/ 59265 w 95902"/>
                  <a:gd name="GluePoint16Y" fmla="*/ 107917 h 109216"/>
                  <a:gd name="GluePoint17X" fmla="*/ 74842 w 95902"/>
                  <a:gd name="GluePoint17Y" fmla="*/ 107917 h 109216"/>
                  <a:gd name="GluePoint18X" fmla="*/ 95902 w 95902"/>
                  <a:gd name="GluePoint18Y" fmla="*/ 0 h 109216"/>
                  <a:gd name="GluePoint19X" fmla="*/ 95902 w 95902"/>
                  <a:gd name="GluePoint19Y" fmla="*/ 0 h 109216"/>
                  <a:gd name="GluePoint20X" fmla="*/ 79951 w 95902"/>
                  <a:gd name="GluePoint20Y" fmla="*/ 0 h 109216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</a:cxnLst>
                <a:rect l="textAreaLeft" t="textAreaTop" r="textAreaRight" b="textAreaBottom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7520" tIns="45000" rIns="4752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" name="Freihandform: Form 13"/>
              <p:cNvSpPr/>
              <p:nvPr/>
            </p:nvSpPr>
            <p:spPr>
              <a:xfrm>
                <a:off x="1376640" y="6555240"/>
                <a:ext cx="86760" cy="109080"/>
              </a:xfrm>
              <a:custGeom>
                <a:avLst/>
                <a:gdLst>
                  <a:gd name="textAreaLeft" fmla="*/ 0 w 86760"/>
                  <a:gd name="textAreaRight" fmla="*/ 87480 w 86760"/>
                  <a:gd name="textAreaTop" fmla="*/ 0 h 109080"/>
                  <a:gd name="textAreaBottom" fmla="*/ 109800 h 109080"/>
                  <a:gd name="GluePoint1X" fmla="*/ 64302 w 87480"/>
                  <a:gd name="GluePoint1Y" fmla="*/ 3 h 109664"/>
                  <a:gd name="GluePoint2X" fmla="*/ 34518 w 87480"/>
                  <a:gd name="GluePoint2Y" fmla="*/ 14209 h 109664"/>
                  <a:gd name="GluePoint3X" fmla="*/ 36886 w 87480"/>
                  <a:gd name="GluePoint3Y" fmla="*/ 1747 h 109664"/>
                  <a:gd name="GluePoint4X" fmla="*/ 36886 w 87480"/>
                  <a:gd name="GluePoint4Y" fmla="*/ 1747 h 109664"/>
                  <a:gd name="GluePoint5X" fmla="*/ 21434 w 87480"/>
                  <a:gd name="GluePoint5Y" fmla="*/ 1747 h 109664"/>
                  <a:gd name="GluePoint6X" fmla="*/ 0 w 87480"/>
                  <a:gd name="GluePoint6Y" fmla="*/ 109664 h 109664"/>
                  <a:gd name="GluePoint7X" fmla="*/ 0 w 87480"/>
                  <a:gd name="GluePoint7Y" fmla="*/ 109664 h 109664"/>
                  <a:gd name="GluePoint8X" fmla="*/ 15826 w 87480"/>
                  <a:gd name="GluePoint8Y" fmla="*/ 109664 h 109664"/>
                  <a:gd name="GluePoint9X" fmla="*/ 28288 w 87480"/>
                  <a:gd name="GluePoint9Y" fmla="*/ 43493 h 109664"/>
                  <a:gd name="GluePoint10X" fmla="*/ 59940 w 87480"/>
                  <a:gd name="GluePoint10Y" fmla="*/ 14209 h 109664"/>
                  <a:gd name="GluePoint11X" fmla="*/ 75019 w 87480"/>
                  <a:gd name="GluePoint11Y" fmla="*/ 21810 h 109664"/>
                  <a:gd name="GluePoint12X" fmla="*/ 75019 w 87480"/>
                  <a:gd name="GluePoint12Y" fmla="*/ 21810 h 109664"/>
                  <a:gd name="GluePoint13X" fmla="*/ 87480 w 87480"/>
                  <a:gd name="GluePoint13Y" fmla="*/ 10346 h 109664"/>
                  <a:gd name="GluePoint14X" fmla="*/ 87480 w 87480"/>
                  <a:gd name="GluePoint14Y" fmla="*/ 10346 h 109664"/>
                  <a:gd name="GluePoint15X" fmla="*/ 63928 w 87480"/>
                  <a:gd name="GluePoint15Y" fmla="*/ 252 h 10966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</a:cxnLst>
                <a:rect l="textAreaLeft" t="textAreaTop" r="textAreaRight" b="textAreaBottom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560" tIns="45000" rIns="4356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" name="Freihandform: Form 14"/>
            <p:cNvSpPr/>
            <p:nvPr/>
          </p:nvSpPr>
          <p:spPr>
            <a:xfrm>
              <a:off x="1159560" y="6556680"/>
              <a:ext cx="95760" cy="107280"/>
            </a:xfrm>
            <a:custGeom>
              <a:avLst/>
              <a:gdLst>
                <a:gd name="textAreaLeft" fmla="*/ 0 w 95760"/>
                <a:gd name="textAreaRight" fmla="*/ 96480 w 95760"/>
                <a:gd name="textAreaTop" fmla="*/ 0 h 107280"/>
                <a:gd name="textAreaBottom" fmla="*/ 108000 h 107280"/>
                <a:gd name="GluePoint1X" fmla="*/ 23303 w 96452"/>
                <a:gd name="GluePoint1Y" fmla="*/ 0 h 108166"/>
                <a:gd name="GluePoint2X" fmla="*/ 20562 w 96452"/>
                <a:gd name="GluePoint2Y" fmla="*/ 13708 h 108166"/>
                <a:gd name="GluePoint3X" fmla="*/ 20562 w 96452"/>
                <a:gd name="GluePoint3Y" fmla="*/ 13957 h 108166"/>
                <a:gd name="GluePoint4X" fmla="*/ 74271 w 96452"/>
                <a:gd name="GluePoint4Y" fmla="*/ 13957 h 108166"/>
                <a:gd name="GluePoint5X" fmla="*/ 2742 w 96452"/>
                <a:gd name="GluePoint5Y" fmla="*/ 94957 h 108166"/>
                <a:gd name="GluePoint6X" fmla="*/ 2617 w 96452"/>
                <a:gd name="GluePoint6Y" fmla="*/ 94957 h 108166"/>
                <a:gd name="GluePoint7X" fmla="*/ 0 w 96452"/>
                <a:gd name="GluePoint7Y" fmla="*/ 108166 h 108166"/>
                <a:gd name="GluePoint8X" fmla="*/ 76265 w 96452"/>
                <a:gd name="GluePoint8Y" fmla="*/ 108166 h 108166"/>
                <a:gd name="GluePoint9X" fmla="*/ 79006 w 96452"/>
                <a:gd name="GluePoint9Y" fmla="*/ 94209 h 108166"/>
                <a:gd name="GluePoint10X" fmla="*/ 21932 w 96452"/>
                <a:gd name="GluePoint10Y" fmla="*/ 94209 h 108166"/>
                <a:gd name="GluePoint11X" fmla="*/ 93835 w 96452"/>
                <a:gd name="GluePoint11Y" fmla="*/ 13209 h 108166"/>
                <a:gd name="GluePoint12X" fmla="*/ 93835 w 96452"/>
                <a:gd name="GluePoint12Y" fmla="*/ 13209 h 108166"/>
                <a:gd name="GluePoint13X" fmla="*/ 96452 w 96452"/>
                <a:gd name="GluePoint13Y" fmla="*/ 0 h 108166"/>
                <a:gd name="GluePoint14X" fmla="*/ 23303 w 96452"/>
                <a:gd name="GluePoint14Y" fmla="*/ 0 h 1081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7880" tIns="45000" rIns="47880" bIns="450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Freihandform: Form 15"/>
            <p:cNvSpPr/>
            <p:nvPr/>
          </p:nvSpPr>
          <p:spPr>
            <a:xfrm>
              <a:off x="1466280" y="6556680"/>
              <a:ext cx="36360" cy="107280"/>
            </a:xfrm>
            <a:custGeom>
              <a:avLst/>
              <a:gdLst>
                <a:gd name="textAreaLeft" fmla="*/ 0 w 36360"/>
                <a:gd name="textAreaRight" fmla="*/ 37080 w 36360"/>
                <a:gd name="textAreaTop" fmla="*/ 0 h 107280"/>
                <a:gd name="textAreaBottom" fmla="*/ 108000 h 107280"/>
                <a:gd name="GluePoint1X" fmla="*/ 21683 w 37259"/>
                <a:gd name="GluePoint1Y" fmla="*/ 0 h 108166"/>
                <a:gd name="GluePoint2X" fmla="*/ 0 w 37259"/>
                <a:gd name="GluePoint2Y" fmla="*/ 107917 h 108166"/>
                <a:gd name="GluePoint3X" fmla="*/ 0 w 37259"/>
                <a:gd name="GluePoint3Y" fmla="*/ 108166 h 108166"/>
                <a:gd name="GluePoint4X" fmla="*/ 15702 w 37259"/>
                <a:gd name="GluePoint4Y" fmla="*/ 108166 h 108166"/>
                <a:gd name="GluePoint5X" fmla="*/ 37260 w 37259"/>
                <a:gd name="GluePoint5Y" fmla="*/ 0 h 108166"/>
                <a:gd name="GluePoint6X" fmla="*/ 21683 w 37259"/>
                <a:gd name="GluePoint6Y" fmla="*/ 0 h 1081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" name="Grafik 6"/>
            <p:cNvGrpSpPr/>
            <p:nvPr/>
          </p:nvGrpSpPr>
          <p:grpSpPr>
            <a:xfrm>
              <a:off x="1518840" y="6507360"/>
              <a:ext cx="190800" cy="158040"/>
              <a:chOff x="1518840" y="6507360"/>
              <a:chExt cx="190800" cy="158040"/>
            </a:xfrm>
          </p:grpSpPr>
          <p:sp>
            <p:nvSpPr>
              <p:cNvPr id="50" name="Freihandform: Form 17"/>
              <p:cNvSpPr/>
              <p:nvPr/>
            </p:nvSpPr>
            <p:spPr>
              <a:xfrm>
                <a:off x="1614240" y="6507360"/>
                <a:ext cx="95400" cy="156960"/>
              </a:xfrm>
              <a:custGeom>
                <a:avLst/>
                <a:gdLst>
                  <a:gd name="textAreaLeft" fmla="*/ 0 w 95400"/>
                  <a:gd name="textAreaRight" fmla="*/ 96120 w 95400"/>
                  <a:gd name="textAreaTop" fmla="*/ 0 h 156960"/>
                  <a:gd name="textAreaBottom" fmla="*/ 157680 h 156960"/>
                  <a:gd name="GluePoint1X" fmla="*/ 66046 w 96160"/>
                  <a:gd name="GluePoint1Y" fmla="*/ 47852 h 157638"/>
                  <a:gd name="GluePoint2X" fmla="*/ 35142 w 96160"/>
                  <a:gd name="GluePoint2Y" fmla="*/ 60314 h 157638"/>
                  <a:gd name="GluePoint3X" fmla="*/ 47603 w 96160"/>
                  <a:gd name="GluePoint3Y" fmla="*/ 0 h 157638"/>
                  <a:gd name="GluePoint4X" fmla="*/ 31652 w 96160"/>
                  <a:gd name="GluePoint4Y" fmla="*/ 0 h 157638"/>
                  <a:gd name="GluePoint5X" fmla="*/ 0 w 96160"/>
                  <a:gd name="GluePoint5Y" fmla="*/ 157389 h 157638"/>
                  <a:gd name="GluePoint6X" fmla="*/ 15701 w 96160"/>
                  <a:gd name="GluePoint6Y" fmla="*/ 157389 h 157638"/>
                  <a:gd name="GluePoint7X" fmla="*/ 28911 w 96160"/>
                  <a:gd name="GluePoint7Y" fmla="*/ 91218 h 157638"/>
                  <a:gd name="GluePoint8X" fmla="*/ 60563 w 96160"/>
                  <a:gd name="GluePoint8Y" fmla="*/ 62058 h 157638"/>
                  <a:gd name="GluePoint9X" fmla="*/ 79837 w 96160"/>
                  <a:gd name="GluePoint9Y" fmla="*/ 77742 h 157638"/>
                  <a:gd name="GluePoint10X" fmla="*/ 79878 w 96160"/>
                  <a:gd name="GluePoint10Y" fmla="*/ 80875 h 157638"/>
                  <a:gd name="GluePoint11X" fmla="*/ 78757 w 96160"/>
                  <a:gd name="GluePoint11Y" fmla="*/ 90969 h 157638"/>
                  <a:gd name="GluePoint12X" fmla="*/ 65423 w 96160"/>
                  <a:gd name="GluePoint12Y" fmla="*/ 157638 h 157638"/>
                  <a:gd name="GluePoint13X" fmla="*/ 81125 w 96160"/>
                  <a:gd name="GluePoint13Y" fmla="*/ 157638 h 157638"/>
                  <a:gd name="GluePoint14X" fmla="*/ 94957 w 96160"/>
                  <a:gd name="GluePoint14Y" fmla="*/ 89474 h 157638"/>
                  <a:gd name="GluePoint15X" fmla="*/ 96078 w 96160"/>
                  <a:gd name="GluePoint15Y" fmla="*/ 78757 h 157638"/>
                  <a:gd name="GluePoint16X" fmla="*/ 69522 w 96160"/>
                  <a:gd name="GluePoint16Y" fmla="*/ 47902 h 157638"/>
                  <a:gd name="GluePoint17X" fmla="*/ 66046 w 96160"/>
                  <a:gd name="GluePoint17Y" fmla="*/ 47852 h 157638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</a:cxnLst>
                <a:rect l="textAreaLeft" t="textAreaTop" r="textAreaRight" b="textAreaBottom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7880" tIns="45000" rIns="4788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" name="Freihandform: Form 18"/>
              <p:cNvSpPr/>
              <p:nvPr/>
            </p:nvSpPr>
            <p:spPr>
              <a:xfrm>
                <a:off x="1518840" y="6555240"/>
                <a:ext cx="87120" cy="110160"/>
              </a:xfrm>
              <a:custGeom>
                <a:avLst/>
                <a:gdLst>
                  <a:gd name="textAreaLeft" fmla="*/ 0 w 87120"/>
                  <a:gd name="textAreaRight" fmla="*/ 87840 w 87120"/>
                  <a:gd name="textAreaTop" fmla="*/ 0 h 110160"/>
                  <a:gd name="textAreaBottom" fmla="*/ 110880 h 110160"/>
                  <a:gd name="GluePoint1X" fmla="*/ 56853 w 87882"/>
                  <a:gd name="GluePoint1Y" fmla="*/ 0 h 110951"/>
                  <a:gd name="GluePoint2X" fmla="*/ 1649 w 87882"/>
                  <a:gd name="GluePoint2Y" fmla="*/ 55329 h 110951"/>
                  <a:gd name="GluePoint3X" fmla="*/ 153 w 87882"/>
                  <a:gd name="GluePoint3Y" fmla="*/ 71903 h 110951"/>
                  <a:gd name="GluePoint4X" fmla="*/ 32484 w 87882"/>
                  <a:gd name="GluePoint4Y" fmla="*/ 110801 h 110951"/>
                  <a:gd name="GluePoint5X" fmla="*/ 37538 w 87882"/>
                  <a:gd name="GluePoint5Y" fmla="*/ 110908 h 110951"/>
                  <a:gd name="GluePoint6X" fmla="*/ 73552 w 87882"/>
                  <a:gd name="GluePoint6Y" fmla="*/ 95705 h 110951"/>
                  <a:gd name="GluePoint7X" fmla="*/ 73552 w 87882"/>
                  <a:gd name="GluePoint7Y" fmla="*/ 95705 h 110951"/>
                  <a:gd name="GluePoint8X" fmla="*/ 64455 w 87882"/>
                  <a:gd name="GluePoint8Y" fmla="*/ 84614 h 110951"/>
                  <a:gd name="GluePoint9X" fmla="*/ 64455 w 87882"/>
                  <a:gd name="GluePoint9Y" fmla="*/ 84614 h 110951"/>
                  <a:gd name="GluePoint10X" fmla="*/ 64455 w 87882"/>
                  <a:gd name="GluePoint10Y" fmla="*/ 84614 h 110951"/>
                  <a:gd name="GluePoint11X" fmla="*/ 38535 w 87882"/>
                  <a:gd name="GluePoint11Y" fmla="*/ 97075 h 110951"/>
                  <a:gd name="GluePoint12X" fmla="*/ 15233 w 87882"/>
                  <a:gd name="GluePoint12Y" fmla="*/ 75551 h 110951"/>
                  <a:gd name="GluePoint13X" fmla="*/ 15356 w 87882"/>
                  <a:gd name="GluePoint13Y" fmla="*/ 72152 h 110951"/>
                  <a:gd name="GluePoint14X" fmla="*/ 17101 w 87882"/>
                  <a:gd name="GluePoint14Y" fmla="*/ 55952 h 110951"/>
                  <a:gd name="GluePoint15X" fmla="*/ 31058 w 87882"/>
                  <a:gd name="GluePoint15Y" fmla="*/ 25048 h 110951"/>
                  <a:gd name="GluePoint16X" fmla="*/ 55233 w 87882"/>
                  <a:gd name="GluePoint16Y" fmla="*/ 14206 h 110951"/>
                  <a:gd name="GluePoint17X" fmla="*/ 76293 w 87882"/>
                  <a:gd name="GluePoint17Y" fmla="*/ 26668 h 110951"/>
                  <a:gd name="GluePoint18X" fmla="*/ 76293 w 87882"/>
                  <a:gd name="GluePoint18Y" fmla="*/ 26668 h 110951"/>
                  <a:gd name="GluePoint19X" fmla="*/ 87883 w 87882"/>
                  <a:gd name="GluePoint19Y" fmla="*/ 16823 h 110951"/>
                  <a:gd name="GluePoint20X" fmla="*/ 87883 w 87882"/>
                  <a:gd name="GluePoint20Y" fmla="*/ 16823 h 110951"/>
                  <a:gd name="GluePoint21X" fmla="*/ 56729 w 87882"/>
                  <a:gd name="GluePoint21Y" fmla="*/ 748 h 110951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</a:cxnLst>
                <a:rect l="textAreaLeft" t="textAreaTop" r="textAreaRight" b="textAreaBottom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solidFill>
                <a:schemeClr val="bg1"/>
              </a:solidFill>
              <a:ln w="12419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560" tIns="45000" rIns="43560" bIns="45000" anchor="ctr">
                <a:noAutofit/>
              </a:bodyPr>
              <a:p>
                <a:pPr/>
                <a:endPara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2" name="Freihandform: Form 19"/>
            <p:cNvSpPr/>
            <p:nvPr/>
          </p:nvSpPr>
          <p:spPr>
            <a:xfrm>
              <a:off x="1494000" y="6507000"/>
              <a:ext cx="19080" cy="19080"/>
            </a:xfrm>
            <a:custGeom>
              <a:avLst/>
              <a:gdLst>
                <a:gd name="textAreaLeft" fmla="*/ 0 w 19080"/>
                <a:gd name="textAreaRight" fmla="*/ 19800 w 19080"/>
                <a:gd name="textAreaTop" fmla="*/ 0 h 19080"/>
                <a:gd name="textAreaBottom" fmla="*/ 19800 h 19080"/>
                <a:gd name="GluePoint1X" fmla="*/ 3988 w 19689"/>
                <a:gd name="GluePoint1Y" fmla="*/ 0 h 19689"/>
                <a:gd name="GluePoint2X" fmla="*/ 0 w 19689"/>
                <a:gd name="GluePoint2Y" fmla="*/ 19689 h 19689"/>
                <a:gd name="GluePoint3X" fmla="*/ 15826 w 19689"/>
                <a:gd name="GluePoint3Y" fmla="*/ 19689 h 19689"/>
                <a:gd name="GluePoint4X" fmla="*/ 19689 w 19689"/>
                <a:gd name="GluePoint4Y" fmla="*/ 0 h 19689"/>
                <a:gd name="GluePoint5X" fmla="*/ 3988 w 19689"/>
                <a:gd name="GluePoint5Y" fmla="*/ 0 h 196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720" tIns="-25200" rIns="9720" bIns="-252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Freihandform: Form 20"/>
            <p:cNvSpPr/>
            <p:nvPr/>
          </p:nvSpPr>
          <p:spPr>
            <a:xfrm>
              <a:off x="1340640" y="6507000"/>
              <a:ext cx="19080" cy="19080"/>
            </a:xfrm>
            <a:custGeom>
              <a:avLst/>
              <a:gdLst>
                <a:gd name="textAreaLeft" fmla="*/ 0 w 19080"/>
                <a:gd name="textAreaRight" fmla="*/ 19800 w 19080"/>
                <a:gd name="textAreaTop" fmla="*/ 0 h 19080"/>
                <a:gd name="textAreaBottom" fmla="*/ 19800 h 19080"/>
                <a:gd name="GluePoint1X" fmla="*/ 3988 w 19689"/>
                <a:gd name="GluePoint1Y" fmla="*/ 0 h 19689"/>
                <a:gd name="GluePoint2X" fmla="*/ 0 w 19689"/>
                <a:gd name="GluePoint2Y" fmla="*/ 19689 h 19689"/>
                <a:gd name="GluePoint3X" fmla="*/ 15826 w 19689"/>
                <a:gd name="GluePoint3Y" fmla="*/ 19689 h 19689"/>
                <a:gd name="GluePoint4X" fmla="*/ 19689 w 19689"/>
                <a:gd name="GluePoint4Y" fmla="*/ 0 h 19689"/>
                <a:gd name="GluePoint5X" fmla="*/ 3988 w 19689"/>
                <a:gd name="GluePoint5Y" fmla="*/ 0 h 196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720" tIns="-25200" rIns="9720" bIns="-252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Freihandform: Form 21"/>
            <p:cNvSpPr/>
            <p:nvPr/>
          </p:nvSpPr>
          <p:spPr>
            <a:xfrm>
              <a:off x="1298880" y="6507000"/>
              <a:ext cx="19080" cy="19080"/>
            </a:xfrm>
            <a:custGeom>
              <a:avLst/>
              <a:gdLst>
                <a:gd name="textAreaLeft" fmla="*/ 0 w 19080"/>
                <a:gd name="textAreaRight" fmla="*/ 19800 w 19080"/>
                <a:gd name="textAreaTop" fmla="*/ 0 h 19080"/>
                <a:gd name="textAreaBottom" fmla="*/ 19800 h 19080"/>
                <a:gd name="GluePoint1X" fmla="*/ 3988 w 19689"/>
                <a:gd name="GluePoint1Y" fmla="*/ 0 h 19689"/>
                <a:gd name="GluePoint2X" fmla="*/ 0 w 19689"/>
                <a:gd name="GluePoint2Y" fmla="*/ 19689 h 19689"/>
                <a:gd name="GluePoint3X" fmla="*/ 15702 w 19689"/>
                <a:gd name="GluePoint3Y" fmla="*/ 19689 h 19689"/>
                <a:gd name="GluePoint4X" fmla="*/ 19689 w 19689"/>
                <a:gd name="GluePoint4Y" fmla="*/ 0 h 19689"/>
                <a:gd name="GluePoint5X" fmla="*/ 3988 w 19689"/>
                <a:gd name="GluePoint5Y" fmla="*/ 0 h 196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720" tIns="-25200" rIns="9720" bIns="-252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Freihandform: Form 22"/>
            <p:cNvSpPr/>
            <p:nvPr/>
          </p:nvSpPr>
          <p:spPr>
            <a:xfrm>
              <a:off x="731880" y="6507000"/>
              <a:ext cx="417240" cy="156960"/>
            </a:xfrm>
            <a:custGeom>
              <a:avLst/>
              <a:gdLst>
                <a:gd name="textAreaLeft" fmla="*/ 0 w 417240"/>
                <a:gd name="textAreaRight" fmla="*/ 417960 w 417240"/>
                <a:gd name="textAreaTop" fmla="*/ 0 h 156960"/>
                <a:gd name="textAreaBottom" fmla="*/ 157680 h 156960"/>
                <a:gd name="GluePoint1X" fmla="*/ 368612 w 417960"/>
                <a:gd name="GluePoint1Y" fmla="*/ 0 h 157638"/>
                <a:gd name="GluePoint2X" fmla="*/ 356151 w 417960"/>
                <a:gd name="GluePoint2Y" fmla="*/ 61062 h 157638"/>
                <a:gd name="GluePoint3X" fmla="*/ 320760 w 417960"/>
                <a:gd name="GluePoint3Y" fmla="*/ 61062 h 157638"/>
                <a:gd name="GluePoint4X" fmla="*/ 333222 w 417960"/>
                <a:gd name="GluePoint4Y" fmla="*/ 0 h 157638"/>
                <a:gd name="GluePoint5X" fmla="*/ 31652 w 417960"/>
                <a:gd name="GluePoint5Y" fmla="*/ 0 h 157638"/>
                <a:gd name="GluePoint6X" fmla="*/ 0 w 417960"/>
                <a:gd name="GluePoint6Y" fmla="*/ 157638 h 157638"/>
                <a:gd name="GluePoint7X" fmla="*/ 120254 w 417960"/>
                <a:gd name="GluePoint7Y" fmla="*/ 157638 h 157638"/>
                <a:gd name="GluePoint8X" fmla="*/ 128105 w 417960"/>
                <a:gd name="GluePoint8Y" fmla="*/ 118260 h 157638"/>
                <a:gd name="GluePoint9X" fmla="*/ 57074 w 417960"/>
                <a:gd name="GluePoint9Y" fmla="*/ 118260 h 157638"/>
                <a:gd name="GluePoint10X" fmla="*/ 61435 w 417960"/>
                <a:gd name="GluePoint10Y" fmla="*/ 96577 h 157638"/>
                <a:gd name="GluePoint11X" fmla="*/ 132342 w 417960"/>
                <a:gd name="GluePoint11Y" fmla="*/ 96577 h 157638"/>
                <a:gd name="GluePoint12X" fmla="*/ 139569 w 417960"/>
                <a:gd name="GluePoint12Y" fmla="*/ 61062 h 157638"/>
                <a:gd name="GluePoint13X" fmla="*/ 68538 w 417960"/>
                <a:gd name="GluePoint13Y" fmla="*/ 61062 h 157638"/>
                <a:gd name="GluePoint14X" fmla="*/ 72900 w 417960"/>
                <a:gd name="GluePoint14Y" fmla="*/ 39378 h 157638"/>
                <a:gd name="GluePoint15X" fmla="*/ 185303 w 417960"/>
                <a:gd name="GluePoint15Y" fmla="*/ 39378 h 157638"/>
                <a:gd name="GluePoint16X" fmla="*/ 161626 w 417960"/>
                <a:gd name="GluePoint16Y" fmla="*/ 157638 h 157638"/>
                <a:gd name="GluePoint17X" fmla="*/ 210849 w 417960"/>
                <a:gd name="GluePoint17Y" fmla="*/ 157638 h 157638"/>
                <a:gd name="GluePoint18X" fmla="*/ 234651 w 417960"/>
                <a:gd name="GluePoint18Y" fmla="*/ 39378 h 157638"/>
                <a:gd name="GluePoint19X" fmla="*/ 276023 w 417960"/>
                <a:gd name="GluePoint19Y" fmla="*/ 39378 h 157638"/>
                <a:gd name="GluePoint20X" fmla="*/ 252222 w 417960"/>
                <a:gd name="GluePoint20Y" fmla="*/ 157638 h 157638"/>
                <a:gd name="GluePoint21X" fmla="*/ 301569 w 417960"/>
                <a:gd name="GluePoint21Y" fmla="*/ 157638 h 157638"/>
                <a:gd name="GluePoint22X" fmla="*/ 313657 w 417960"/>
                <a:gd name="GluePoint22Y" fmla="*/ 96577 h 157638"/>
                <a:gd name="GluePoint23X" fmla="*/ 349172 w 417960"/>
                <a:gd name="GluePoint23Y" fmla="*/ 96577 h 157638"/>
                <a:gd name="GluePoint24X" fmla="*/ 336960 w 417960"/>
                <a:gd name="GluePoint24Y" fmla="*/ 157638 h 157638"/>
                <a:gd name="GluePoint25X" fmla="*/ 386308 w 417960"/>
                <a:gd name="GluePoint25Y" fmla="*/ 157638 h 157638"/>
                <a:gd name="GluePoint26X" fmla="*/ 417960 w 417960"/>
                <a:gd name="GluePoint26Y" fmla="*/ 0 h 157638"/>
                <a:gd name="GluePoint27X" fmla="*/ 368612 w 417960"/>
                <a:gd name="GluePoint27Y" fmla="*/ 0 h 1576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solidFill>
              <a:schemeClr val="bg1"/>
            </a:solidFill>
            <a:ln w="12419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/>
              <a:endPara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56" name="Picture Placeholder 14"/>
          <p:cNvPicPr/>
          <p:nvPr/>
        </p:nvPicPr>
        <p:blipFill>
          <a:blip r:embed="rId2"/>
          <a:srcRect l="59" t="0" r="3521" b="5617"/>
          <a:stretch/>
        </p:blipFill>
        <p:spPr>
          <a:xfrm>
            <a:off x="2300400" y="6452640"/>
            <a:ext cx="819360" cy="21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pic"/>
          </p:nvPr>
        </p:nvSpPr>
        <p:spPr>
          <a:xfrm>
            <a:off x="731880" y="1015920"/>
            <a:ext cx="10727640" cy="5255280"/>
          </a:xfrm>
          <a:prstGeom prst="rect">
            <a:avLst/>
          </a:prstGeom>
          <a:noFill/>
          <a:ln w="0">
            <a:noFill/>
          </a:ln>
        </p:spPr>
        <p:txBody>
          <a:bodyPr lIns="5580000" tIns="0" rIns="0" bIns="45000" anchor="ctr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title"/>
          </p:nvPr>
        </p:nvSpPr>
        <p:spPr>
          <a:xfrm>
            <a:off x="0" y="2233440"/>
            <a:ext cx="5903280" cy="2771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080000" tIns="25200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0" name="Grafik 9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720" cy="28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1078560" y="3860640"/>
            <a:ext cx="4679280" cy="100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dt" idx="9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10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E269CA-BA1D-4880-9907-0A0BC886D23E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6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PlaceHolder 4"/>
          <p:cNvSpPr>
            <a:spLocks noGrp="1"/>
          </p:cNvSpPr>
          <p:nvPr>
            <p:ph type="pic"/>
          </p:nvPr>
        </p:nvSpPr>
        <p:spPr>
          <a:xfrm>
            <a:off x="731880" y="1413000"/>
            <a:ext cx="10727280" cy="4859280"/>
          </a:xfrm>
          <a:prstGeom prst="rect">
            <a:avLst/>
          </a:prstGeom>
          <a:noFill/>
          <a:ln w="0">
            <a:noFill/>
          </a:ln>
        </p:spPr>
        <p:txBody>
          <a:bodyPr lIns="90000" tIns="162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full 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dt" idx="11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ldNum" idx="12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641CAF-AB06-4186-B429-63312A020C2F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1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PlaceHolder 3"/>
          <p:cNvSpPr>
            <a:spLocks noGrp="1"/>
          </p:cNvSpPr>
          <p:nvPr>
            <p:ph type="pic"/>
          </p:nvPr>
        </p:nvSpPr>
        <p:spPr>
          <a:xfrm>
            <a:off x="731880" y="260280"/>
            <a:ext cx="10727280" cy="6011640"/>
          </a:xfrm>
          <a:prstGeom prst="rect">
            <a:avLst/>
          </a:prstGeom>
          <a:noFill/>
          <a:ln w="0">
            <a:noFill/>
          </a:ln>
        </p:spPr>
        <p:txBody>
          <a:bodyPr lIns="90000" tIns="21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204240" y="1413000"/>
            <a:ext cx="5255280" cy="48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13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sldNum" idx="14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03B3E5-A9CA-4AA9-8189-469B56F58C9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8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PlaceHolder 5"/>
          <p:cNvSpPr>
            <a:spLocks noGrp="1"/>
          </p:cNvSpPr>
          <p:nvPr>
            <p:ph type="pic"/>
          </p:nvPr>
        </p:nvSpPr>
        <p:spPr>
          <a:xfrm>
            <a:off x="731880" y="1413000"/>
            <a:ext cx="5039280" cy="4859280"/>
          </a:xfrm>
          <a:prstGeom prst="rect">
            <a:avLst/>
          </a:prstGeom>
          <a:noFill/>
          <a:ln w="0">
            <a:noFill/>
          </a:ln>
        </p:spPr>
        <p:txBody>
          <a:bodyPr lIns="90000" tIns="162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2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31880" y="5121720"/>
            <a:ext cx="5255280" cy="1151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15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16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E7D4C9-0876-45DB-86EB-52A10619EF4C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5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PlaceHolder 5"/>
          <p:cNvSpPr>
            <a:spLocks noGrp="1"/>
          </p:cNvSpPr>
          <p:nvPr>
            <p:ph type="pic"/>
          </p:nvPr>
        </p:nvSpPr>
        <p:spPr>
          <a:xfrm>
            <a:off x="731880" y="1413000"/>
            <a:ext cx="5255280" cy="3419280"/>
          </a:xfrm>
          <a:prstGeom prst="rect">
            <a:avLst/>
          </a:prstGeom>
          <a:noFill/>
          <a:ln w="0">
            <a:noFill/>
          </a:ln>
        </p:spPr>
        <p:txBody>
          <a:bodyPr lIns="90000" tIns="90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pic"/>
          </p:nvPr>
        </p:nvSpPr>
        <p:spPr>
          <a:xfrm>
            <a:off x="6204240" y="1413000"/>
            <a:ext cx="5255280" cy="3419280"/>
          </a:xfrm>
          <a:prstGeom prst="rect">
            <a:avLst/>
          </a:prstGeom>
          <a:noFill/>
          <a:ln w="0">
            <a:noFill/>
          </a:ln>
        </p:spPr>
        <p:txBody>
          <a:bodyPr lIns="90000" tIns="90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7"/>
          <p:cNvSpPr>
            <a:spLocks noGrp="1"/>
          </p:cNvSpPr>
          <p:nvPr>
            <p:ph type="body"/>
          </p:nvPr>
        </p:nvSpPr>
        <p:spPr>
          <a:xfrm>
            <a:off x="6204240" y="5121720"/>
            <a:ext cx="5255280" cy="1151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89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3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731880" y="4166280"/>
            <a:ext cx="10727640" cy="21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10000" lvl="2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80000" lvl="3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50000" lvl="4" indent="-270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dt" idx="17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sldNum" idx="18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D7CD47-9231-4121-A4B0-8B3D26D98A4F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4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5"/>
          <p:cNvSpPr>
            <a:spLocks noGrp="1"/>
          </p:cNvSpPr>
          <p:nvPr>
            <p:ph type="pic"/>
          </p:nvPr>
        </p:nvSpPr>
        <p:spPr>
          <a:xfrm>
            <a:off x="731880" y="1413000"/>
            <a:ext cx="3419280" cy="2483280"/>
          </a:xfrm>
          <a:prstGeom prst="rect">
            <a:avLst/>
          </a:prstGeom>
          <a:noFill/>
          <a:ln w="0">
            <a:noFill/>
          </a:ln>
        </p:spPr>
        <p:txBody>
          <a:bodyPr lIns="90000" tIns="3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6"/>
          <p:cNvSpPr>
            <a:spLocks noGrp="1"/>
          </p:cNvSpPr>
          <p:nvPr>
            <p:ph type="pic"/>
          </p:nvPr>
        </p:nvSpPr>
        <p:spPr>
          <a:xfrm>
            <a:off x="8040240" y="1414800"/>
            <a:ext cx="3419280" cy="2483280"/>
          </a:xfrm>
          <a:prstGeom prst="rect">
            <a:avLst/>
          </a:prstGeom>
          <a:noFill/>
          <a:ln w="0">
            <a:noFill/>
          </a:ln>
        </p:spPr>
        <p:txBody>
          <a:bodyPr lIns="90000" tIns="3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7"/>
          <p:cNvSpPr>
            <a:spLocks noGrp="1"/>
          </p:cNvSpPr>
          <p:nvPr>
            <p:ph type="pic"/>
          </p:nvPr>
        </p:nvSpPr>
        <p:spPr>
          <a:xfrm>
            <a:off x="4385880" y="1414800"/>
            <a:ext cx="3419280" cy="2483280"/>
          </a:xfrm>
          <a:prstGeom prst="rect">
            <a:avLst/>
          </a:prstGeom>
          <a:noFill/>
          <a:ln w="0">
            <a:noFill/>
          </a:ln>
        </p:spPr>
        <p:txBody>
          <a:bodyPr lIns="90000" tIns="360000" rIns="90000" bIns="45000" anchor="t">
            <a:noAutofit/>
          </a:bodyPr>
          <a:p>
            <a:pPr indent="0" algn="l">
              <a:buNone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Tabe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31880" y="1413000"/>
            <a:ext cx="10727640" cy="39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19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&lt;date/time&gt;</a:t>
            </a:r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20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B10A11-DA06-4B3A-9A81-218E3123339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3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6507000"/>
            <a:ext cx="983880" cy="1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5"/>
          <p:cNvSpPr>
            <a:spLocks noGrp="1"/>
          </p:cNvSpPr>
          <p:nvPr>
            <p:ph type="body"/>
          </p:nvPr>
        </p:nvSpPr>
        <p:spPr>
          <a:xfrm>
            <a:off x="731880" y="2061360"/>
            <a:ext cx="10727640" cy="4211640"/>
          </a:xfrm>
          <a:prstGeom prst="rect">
            <a:avLst/>
          </a:prstGeom>
          <a:noFill/>
          <a:ln w="0">
            <a:noFill/>
          </a:ln>
        </p:spPr>
        <p:txBody>
          <a:bodyPr lIns="90000" tIns="1260000" rIns="90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icon to add table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05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2329560" y="6452640"/>
            <a:ext cx="789840" cy="22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chlussfoli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body"/>
          </p:nvPr>
        </p:nvSpPr>
        <p:spPr>
          <a:xfrm>
            <a:off x="731880" y="2135520"/>
            <a:ext cx="10727640" cy="39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07" name="Grafik 2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31880" y="360360"/>
            <a:ext cx="1764720" cy="28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Picture Placeholder 14"/>
          <p:cNvPicPr/>
          <p:nvPr/>
        </p:nvPicPr>
        <p:blipFill>
          <a:blip r:embed="rId4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mailto:pnikou@student.ethz.ch" TargetMode="External"/><Relationship Id="rId2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pontifex.ethz.ch/site1/" TargetMode="External"/><Relationship Id="rId2" Type="http://schemas.openxmlformats.org/officeDocument/2006/relationships/image" Target="../media/image11.png"/><Relationship Id="rId3" Type="http://schemas.openxmlformats.org/officeDocument/2006/relationships/hyperlink" Target="https://www.youtube.com/watch?v=A76JpF7ktCI" TargetMode="External"/><Relationship Id="rId4" Type="http://schemas.openxmlformats.org/officeDocument/2006/relationships/hyperlink" Target="https://www.youtube.com/watch?v=NlGysPeUliY" TargetMode="External"/><Relationship Id="rId5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Bildplatzhalter 18" descr="Ein Bild, das Gebäude, Stadt, Schloss, Turm enthält.&#10;&#10;Automatisch generierte Beschreibung"/>
          <p:cNvPicPr/>
          <p:nvPr/>
        </p:nvPicPr>
        <p:blipFill>
          <a:blip r:embed="rId1"/>
          <a:srcRect l="0" t="460" r="0" b="460"/>
          <a:stretch/>
        </p:blipFill>
        <p:spPr>
          <a:xfrm>
            <a:off x="731880" y="1015920"/>
            <a:ext cx="10727640" cy="525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0" y="2233440"/>
            <a:ext cx="5903280" cy="2771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lIns="1080000" tIns="25200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Netzwerke und Schaltungen Übungsstunde Woche 1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078560" y="3860640"/>
            <a:ext cx="4679280" cy="100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Name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pnikou@student.ethz.ch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17. September 2026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Placeholder 14"/>
          <p:cNvPicPr/>
          <p:nvPr/>
        </p:nvPicPr>
        <p:blipFill>
          <a:blip r:embed="rId2"/>
          <a:srcRect l="0" t="-6895" r="0" b="-269"/>
          <a:stretch/>
        </p:blipFill>
        <p:spPr>
          <a:xfrm>
            <a:off x="10200240" y="309960"/>
            <a:ext cx="1259280" cy="36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Wilkommen!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64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Hallo 👋</a:t>
            </a:r>
            <a:br>
              <a:rPr sz="1800"/>
            </a:b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Ich bin Promitheas</a:t>
            </a:r>
            <a:br>
              <a:rPr sz="1800"/>
            </a:b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Ich bin im 3em Semester Bachelor Elektrotechnik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Bei Frage immer melden: Moodle Gruppe oder </a:t>
            </a:r>
            <a:r>
              <a:rPr lang="de-CH" sz="1800" b="0" u="none" strike="noStrike">
                <a:solidFill>
                  <a:srgbClr val="0563C1"/>
                </a:solidFill>
                <a:effectLst/>
                <a:uFillTx/>
                <a:latin typeface="Arial"/>
                <a:ea typeface="Noto Sans CJK SC"/>
                <a:hlinkClick r:id="rId1"/>
              </a:rPr>
              <a:t>pnikou@student.ethz.ch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Noto Sans CJK SC"/>
              </a:rPr>
              <a:t>(Auch für Tipps, Hilfe mit Übungen, oder Theoriefragen)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dt" idx="24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A637FB-7330-41A0-86F6-975E97BC2C2E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sldNum" idx="25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728022-DA9D-470D-8B23-AE38E7901B2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Aufbau der Übungsstunde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64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Offene Fragen von letzter Woche (heute: organisatorisches)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Theoriebeispiele zum gemeinsamen Lösen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Eigenes Rechnen einiger repräsentativer Aufgaben mit meiner Hilfe (moodle Übungsaufgabe, heute Brückenkurs Mathematik)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26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8B9691C-BD9F-4E0B-BECC-0B9347797FA7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sldNum" idx="27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E073C9-EAEF-43EB-9E79-FD780F9C143F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Notenbonus (Lesekontrollfragen und Bonusaufgaben)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64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Es ist möglich einen </a:t>
            </a:r>
            <a:r>
              <a:rPr lang="de-CH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Notenbonus von bis zu 0.25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auf die Endnote der Prüfung zu bekommen: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Lesekontrollfragen bis Sonntag 18:00 vor der Vorlesung beantworten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 viele Versuche wie gewollt, bester Versuch wird bewertet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Bonusaufgaben bis Sonntag 18:00 vor der Vorlesung lösen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 viele Versuche wie gewollt, bester Versuch wird bewertet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300 Pkt. während des Semesters erreichbar.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Ende des Semesters gibt es ein paar Extraaufgaben, falls mal eine Woche die Aufgaben nicht beantwortet werden können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28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2481C6B-0D5F-43BD-91CD-BE809D3E6F81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sldNum" idx="29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DC2774-97BF-45B8-9E54-B8A5362C503E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1" name="Table 5"/>
          <p:cNvGraphicFramePr/>
          <p:nvPr/>
        </p:nvGraphicFramePr>
        <p:xfrm>
          <a:off x="7121160" y="4500720"/>
          <a:ext cx="3657960" cy="1752840"/>
        </p:xfrm>
        <a:graphic>
          <a:graphicData uri="http://schemas.openxmlformats.org/drawingml/2006/table">
            <a:tbl>
              <a:tblPr/>
              <a:tblGrid>
                <a:gridCol w="2192400"/>
                <a:gridCol w="14659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erreichte Punkte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Notenbonus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&lt; 140 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140 - 280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linear interpoliert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≥ 280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0.25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Study Center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1072764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Alle Study Center </a:t>
            </a:r>
            <a:r>
              <a:rPr lang="de-CH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mittwochs von 12:00 bis 14:00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 der zweiten Woche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Netzwerke und Schaltungen: GLC E 29.2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Technische Mechanik: GLC E 24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Digitaltechnik: GLC E 29.1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Lineare Algebra: GLC E 34.1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Analysis I: GLC E 34.2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Zusammen lernen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 sind vor Ort und beantworten Fragen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dt" idx="30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21EAD09-7608-44A2-AE32-9C18A464026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sldNum" idx="31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FC5CBD-F7EB-42BE-B639-AC7867DB044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Weitere Unterlagen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731880" y="1413000"/>
            <a:ext cx="6256800" cy="467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Brückenkurs Mathematik (ihr habt einen persönlichen link zu </a:t>
            </a:r>
            <a:r>
              <a:rPr lang="de-CH" sz="1800" b="0" u="sng" strike="noStrike">
                <a:solidFill>
                  <a:schemeClr val="dk1"/>
                </a:solidFill>
                <a:effectLst/>
                <a:uFillTx/>
                <a:latin typeface="Arial"/>
                <a:hlinkClick r:id="rId1"/>
              </a:rPr>
              <a:t>https://pontifex.ethz.ch/site1/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per email gekriegt)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Integralrechnung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Vektorgeometrie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Moodle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70000" indent="-270000" algn="l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Albach Buch und Übungsbuch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38200" lvl="1" indent="-27144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Online-Übungsplatform Zugang bei Kauf des Buches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dt" idx="32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16F2C89-4939-4FE0-A06A-0B07509BED17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sldNum" idx="33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1A45BF-E31D-462D-A029-3C0CBAAF6DCE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0" name="Group 5"/>
          <p:cNvGrpSpPr/>
          <p:nvPr/>
        </p:nvGrpSpPr>
        <p:grpSpPr>
          <a:xfrm>
            <a:off x="3270240" y="4810680"/>
            <a:ext cx="8743680" cy="1588320"/>
            <a:chOff x="3270240" y="4810680"/>
            <a:chExt cx="8743680" cy="1588320"/>
          </a:xfrm>
        </p:grpSpPr>
        <p:pic>
          <p:nvPicPr>
            <p:cNvPr id="141" name="Picture 6"/>
            <p:cNvPicPr/>
            <p:nvPr/>
          </p:nvPicPr>
          <p:blipFill>
            <a:blip r:embed="rId2"/>
            <a:stretch/>
          </p:blipFill>
          <p:spPr>
            <a:xfrm>
              <a:off x="3270240" y="4810680"/>
              <a:ext cx="2493720" cy="889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2" name="TextBox 7"/>
            <p:cNvSpPr/>
            <p:nvPr/>
          </p:nvSpPr>
          <p:spPr>
            <a:xfrm>
              <a:off x="3270240" y="5753520"/>
              <a:ext cx="8743680" cy="64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#04 – Vereinfachung Wegintegral 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(</a:t>
              </a:r>
              <a:r>
                <a:rPr lang="de-CH" sz="1400" b="0" u="sng" strike="noStrike">
                  <a:solidFill>
                    <a:schemeClr val="dk1"/>
                  </a:solidFill>
                  <a:effectLst/>
                  <a:uFillTx/>
                  <a:latin typeface="Arial"/>
                  <a:hlinkClick r:id="rId3"/>
                </a:rPr>
                <a:t>https://www.youtube.com/watch?v=A76JpF7ktCI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)</a:t>
              </a:r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de-CH" sz="18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#03 – Vereinfachung Oberflächenintegral 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(</a:t>
              </a:r>
              <a:r>
                <a:rPr lang="de-CH" sz="1400" b="0" u="sng" strike="noStrike">
                  <a:solidFill>
                    <a:schemeClr val="dk1"/>
                  </a:solidFill>
                  <a:effectLst/>
                  <a:uFillTx/>
                  <a:latin typeface="Arial"/>
                  <a:hlinkClick r:id="rId4"/>
                </a:rPr>
                <a:t>https://www.youtube.com/watch?v=NlGysPeUliY</a:t>
              </a:r>
              <a:r>
                <a:rPr lang="de-CH" sz="140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) </a:t>
              </a:r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31880" y="2224800"/>
            <a:ext cx="10727640" cy="12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Theoriebeispiele Mathematik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dt" idx="34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7F6E089-77A4-465C-9A46-C7DD03BCA6DF}" type="datetime1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35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6F2B3E-EF85-4146-A576-3856907F6D69}" type="slidenum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1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dt" idx="36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BDF1F01-4BCC-44D1-B93A-25CD433BBA3A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37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BF85B9-5693-44D5-A473-FE86368A10C3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142320" cy="476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8"/>
          <p:cNvPicPr/>
          <p:nvPr/>
        </p:nvPicPr>
        <p:blipFill>
          <a:blip r:embed="rId2"/>
          <a:stretch/>
        </p:blipFill>
        <p:spPr>
          <a:xfrm>
            <a:off x="8410320" y="2537280"/>
            <a:ext cx="973800" cy="238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1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dt" idx="38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6898ED4-445A-471A-8290-73A34A1384AB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39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341052-8AC6-428F-98B3-1A9CEB0837CB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4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142320" cy="47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Box 2"/>
          <p:cNvSpPr/>
          <p:nvPr/>
        </p:nvSpPr>
        <p:spPr>
          <a:xfrm>
            <a:off x="6874920" y="1160280"/>
            <a:ext cx="420984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Antwort a ist richtig, da der Vektor in dieselbe Richtung zeigen muss (r &gt; 0), und länger sein muss als v (|r| &gt; 1).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7"/>
          <p:cNvPicPr/>
          <p:nvPr/>
        </p:nvPicPr>
        <p:blipFill>
          <a:blip r:embed="rId2"/>
          <a:stretch/>
        </p:blipFill>
        <p:spPr>
          <a:xfrm>
            <a:off x="8410320" y="2537280"/>
            <a:ext cx="973800" cy="238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2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dt" idx="40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F7EE468-FBCD-48A3-B098-393F2B2231C4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41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117068-6B09-4B03-A479-E3B012962501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0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097680" cy="475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1" name="Picture 8"/>
          <p:cNvPicPr/>
          <p:nvPr/>
        </p:nvPicPr>
        <p:blipFill>
          <a:blip r:embed="rId2"/>
          <a:stretch/>
        </p:blipFill>
        <p:spPr>
          <a:xfrm>
            <a:off x="8020080" y="2934360"/>
            <a:ext cx="1784520" cy="171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2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dt" idx="42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BA2C66E-7240-4A5A-92E7-E19BF06A8AA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3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148225-9A26-43BA-BE11-FD872C704460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5" name="Picture 6"/>
          <p:cNvPicPr/>
          <p:nvPr/>
        </p:nvPicPr>
        <p:blipFill>
          <a:blip r:embed="rId1"/>
          <a:stretch/>
        </p:blipFill>
        <p:spPr>
          <a:xfrm>
            <a:off x="731880" y="1413000"/>
            <a:ext cx="6097680" cy="475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Picture 8"/>
          <p:cNvPicPr/>
          <p:nvPr/>
        </p:nvPicPr>
        <p:blipFill>
          <a:blip r:embed="rId2"/>
          <a:stretch/>
        </p:blipFill>
        <p:spPr>
          <a:xfrm>
            <a:off x="8020080" y="2934360"/>
            <a:ext cx="1784520" cy="171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TextBox 2"/>
          <p:cNvSpPr/>
          <p:nvPr/>
        </p:nvSpPr>
        <p:spPr>
          <a:xfrm>
            <a:off x="6989040" y="1160280"/>
            <a:ext cx="447012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 ist richtig. r &lt; 0, da die Richtung umgekehrt ist. |r| &lt; 1, da w kürzer ist als v.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(Albach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Anhang A):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Beispiel 3 –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Vektoradditio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69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PlaceHolder 2"/>
          <p:cNvSpPr>
            <a:spLocks noGrp="1"/>
          </p:cNvSpPr>
          <p:nvPr>
            <p:ph type="dt" idx="44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238C76-C5A7-4EF8-A3F8-D020E853CAD9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45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A9D42B-9785-433C-BCD6-8FF90E890B22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2" name="Picture 8"/>
          <p:cNvPicPr/>
          <p:nvPr/>
        </p:nvPicPr>
        <p:blipFill>
          <a:blip r:embed="rId2"/>
          <a:stretch/>
        </p:blipFill>
        <p:spPr>
          <a:xfrm>
            <a:off x="8410320" y="2537280"/>
            <a:ext cx="973800" cy="238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Box 11"/>
          <p:cNvSpPr/>
          <p:nvPr/>
        </p:nvSpPr>
        <p:spPr>
          <a:xfrm>
            <a:off x="8111880" y="1710360"/>
            <a:ext cx="1073160" cy="2761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3 – Vektoraddition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75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2"/>
          <p:cNvSpPr>
            <a:spLocks noGrp="1"/>
          </p:cNvSpPr>
          <p:nvPr>
            <p:ph type="dt" idx="46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D5A3569-EB44-4E73-9C05-616041BD98B4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47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E47E6C-3E6B-4F2A-9B13-FD141EC19C2A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Picture 8"/>
          <p:cNvPicPr/>
          <p:nvPr/>
        </p:nvPicPr>
        <p:blipFill>
          <a:blip r:embed="rId2"/>
          <a:stretch/>
        </p:blipFill>
        <p:spPr>
          <a:xfrm>
            <a:off x="8410320" y="2537280"/>
            <a:ext cx="973800" cy="2380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Box 11"/>
          <p:cNvSpPr/>
          <p:nvPr/>
        </p:nvSpPr>
        <p:spPr>
          <a:xfrm>
            <a:off x="8111880" y="1710360"/>
            <a:ext cx="1114920" cy="3171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4 – Skalarprodukt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1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PlaceHolder 2"/>
          <p:cNvSpPr>
            <a:spLocks noGrp="1"/>
          </p:cNvSpPr>
          <p:nvPr>
            <p:ph type="dt" idx="48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9C61143-03B7-4021-B3F8-B4005635E2A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49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694C87-DAFE-411A-87E9-0EBD2F40C3DB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TextBox 11"/>
          <p:cNvSpPr/>
          <p:nvPr/>
        </p:nvSpPr>
        <p:spPr>
          <a:xfrm>
            <a:off x="8111880" y="1551240"/>
            <a:ext cx="965880" cy="2761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8111880" y="3371040"/>
            <a:ext cx="943200" cy="24685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4 – Skalarprodukt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7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PlaceHolder 2"/>
          <p:cNvSpPr>
            <a:spLocks noGrp="1"/>
          </p:cNvSpPr>
          <p:nvPr>
            <p:ph type="dt" idx="50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651F0A5-5382-4BDF-87BB-6A9354675E2D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51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3510EF-EFFB-43B2-B534-32B5BF3D8800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TextBox 11"/>
          <p:cNvSpPr/>
          <p:nvPr/>
        </p:nvSpPr>
        <p:spPr>
          <a:xfrm>
            <a:off x="8111880" y="1487160"/>
            <a:ext cx="2685240" cy="15562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8111880" y="3371040"/>
            <a:ext cx="943200" cy="24685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5 – Skalarprodukt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93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2"/>
          <p:cNvSpPr>
            <a:spLocks noGrp="1"/>
          </p:cNvSpPr>
          <p:nvPr>
            <p:ph type="dt" idx="52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7F0E384-6684-4820-8C4C-284D47DAAE35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53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8BBCD0-3896-4BEB-8021-FBF24D911B1E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TextBox 11"/>
          <p:cNvSpPr/>
          <p:nvPr/>
        </p:nvSpPr>
        <p:spPr>
          <a:xfrm>
            <a:off x="8111880" y="1710360"/>
            <a:ext cx="965880" cy="2761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7"/>
          <p:cNvSpPr/>
          <p:nvPr/>
        </p:nvSpPr>
        <p:spPr>
          <a:xfrm>
            <a:off x="8087760" y="3371040"/>
            <a:ext cx="1014480" cy="24685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Vektoren – (Albach Anhang A): Beispiel 5 – Skalarprodukt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99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PlaceHolder 2"/>
          <p:cNvSpPr>
            <a:spLocks noGrp="1"/>
          </p:cNvSpPr>
          <p:nvPr>
            <p:ph type="dt" idx="54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0A69215-3CCA-45F9-B858-D1358C728216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55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BA0825-563D-496E-A182-6D5D92AA5820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TextBox 11"/>
          <p:cNvSpPr/>
          <p:nvPr/>
        </p:nvSpPr>
        <p:spPr>
          <a:xfrm>
            <a:off x="8111880" y="1638720"/>
            <a:ext cx="3076920" cy="152064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7"/>
          <p:cNvSpPr/>
          <p:nvPr/>
        </p:nvSpPr>
        <p:spPr>
          <a:xfrm>
            <a:off x="8111880" y="3371040"/>
            <a:ext cx="952560" cy="24685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731880" y="2224800"/>
            <a:ext cx="10727640" cy="125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3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Theoriebeispiele zu Schlüsselkonzepten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dt" idx="56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E2F9ED5-2EAA-477C-96B6-6408124F3784}" type="datetime1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57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E194DD-5B8E-463C-8E49-22A9A7416A0F}" type="slidenum">
              <a:rPr lang="de-CH" sz="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6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08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PlaceHolder 2"/>
          <p:cNvSpPr>
            <a:spLocks noGrp="1"/>
          </p:cNvSpPr>
          <p:nvPr>
            <p:ph type="dt" idx="58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BCD07B8-B079-4E8C-8C67-6A536D3D7D2F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59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2B2955-9E7F-48D8-B17A-1EA217B7E59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TextBox 11"/>
          <p:cNvSpPr/>
          <p:nvPr/>
        </p:nvSpPr>
        <p:spPr>
          <a:xfrm>
            <a:off x="6095880" y="1160280"/>
            <a:ext cx="5363280" cy="276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1" u="sng" strike="noStrike">
                <a:solidFill>
                  <a:schemeClr val="dk1"/>
                </a:solidFill>
                <a:effectLst/>
                <a:uFillTx/>
                <a:latin typeface="Arial"/>
              </a:rPr>
              <a:t>Schlüsselkonzept</a:t>
            </a:r>
            <a:r>
              <a:rPr lang="de-CH" sz="1800" b="1" u="sng" strike="noStrike">
                <a:solidFill>
                  <a:schemeClr val="dk1"/>
                </a:solidFill>
                <a:effectLst/>
                <a:uFillTx/>
                <a:latin typeface="Arial"/>
              </a:rPr>
              <a:t>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elektrostatische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Kraft: Richtung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und Stärke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das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Coulomb'sche </a:t>
            </a: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Gesetz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Welche Arbeit wird an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der Punktladung q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verrichtet, wenn diese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radial von einem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Radius r von der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Punktladung Q weg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zu einem grösseren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Radius R bewegt </a:t>
            </a: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wird?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6 –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13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PlaceHolder 2"/>
          <p:cNvSpPr>
            <a:spLocks noGrp="1"/>
          </p:cNvSpPr>
          <p:nvPr>
            <p:ph type="dt" idx="60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C9DCF5F-C158-4E7E-A70C-275A47E979A6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61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FE405F-4489-49EB-A378-BF47F103B90E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TextBox 11"/>
          <p:cNvSpPr/>
          <p:nvPr/>
        </p:nvSpPr>
        <p:spPr>
          <a:xfrm>
            <a:off x="6095880" y="1160280"/>
            <a:ext cx="5363280" cy="63151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– (Albach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Anhang C):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Beispiel 6 – </a:t>
            </a: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18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PlaceHolder 2"/>
          <p:cNvSpPr>
            <a:spLocks noGrp="1"/>
          </p:cNvSpPr>
          <p:nvPr>
            <p:ph type="dt" idx="62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446F098-BCF4-42C5-8922-56BA35BC0631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63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F8789F-12DB-4928-B5A8-EABFEF11B0EA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TextBox 11"/>
          <p:cNvSpPr/>
          <p:nvPr/>
        </p:nvSpPr>
        <p:spPr>
          <a:xfrm>
            <a:off x="6095880" y="1160280"/>
            <a:ext cx="5363280" cy="59068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" dur="indefinite" restart="never" nodeType="tmRoot">
          <p:childTnLst>
            <p:seq>
              <p:cTn id="24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7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23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PlaceHolder 2"/>
          <p:cNvSpPr>
            <a:spLocks noGrp="1"/>
          </p:cNvSpPr>
          <p:nvPr>
            <p:ph type="dt" idx="64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1E091A0-1341-4B04-95BB-4C5B83DDA510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65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36D3FF-FAE2-43EE-93EF-86DE70D08974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extBox 11"/>
          <p:cNvSpPr/>
          <p:nvPr/>
        </p:nvSpPr>
        <p:spPr>
          <a:xfrm>
            <a:off x="6095880" y="1160280"/>
            <a:ext cx="5363280" cy="23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de-CH" sz="1800" b="1" u="sng" strike="noStrike">
                <a:solidFill>
                  <a:schemeClr val="dk1"/>
                </a:solidFill>
                <a:effectLst/>
                <a:uFillTx/>
                <a:latin typeface="Arial"/>
              </a:rPr>
              <a:t>Schlüsselkonzepte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de-CH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elektrostatische Kraft: Richtung und Stärke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CH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Dieselbe Frage etwas anders: Welche Arbeit wird an q verrichtet, wenn die Ladung azimuthal von einem Punkt zum anderen auf demselben Radius R um Q bewegt wird?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731880" y="260280"/>
            <a:ext cx="10727640" cy="89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CH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Linienintegral – (Albach Anhang C): Beispiel 7 – Lösung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28" name="Content Placeholder 6"/>
          <p:cNvPicPr/>
          <p:nvPr/>
        </p:nvPicPr>
        <p:blipFill>
          <a:blip r:embed="rId1"/>
          <a:stretch/>
        </p:blipFill>
        <p:spPr>
          <a:xfrm>
            <a:off x="948600" y="1160280"/>
            <a:ext cx="5146920" cy="467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PlaceHolder 2"/>
          <p:cNvSpPr>
            <a:spLocks noGrp="1"/>
          </p:cNvSpPr>
          <p:nvPr>
            <p:ph type="dt" idx="66"/>
          </p:nvPr>
        </p:nvSpPr>
        <p:spPr>
          <a:xfrm>
            <a:off x="10473840" y="6522480"/>
            <a:ext cx="61128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7BFD8B2-0C54-4A61-B596-6EAF058656DE}" type="datetime1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16.09.2026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67"/>
          </p:nvPr>
        </p:nvSpPr>
        <p:spPr>
          <a:xfrm>
            <a:off x="11137680" y="6522480"/>
            <a:ext cx="321840" cy="21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A87B5D-7919-4E30-8D6D-C91C59686117}" type="slidenum">
              <a:rPr lang="de-CH" sz="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de-DE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TextBox 11"/>
          <p:cNvSpPr/>
          <p:nvPr/>
        </p:nvSpPr>
        <p:spPr>
          <a:xfrm>
            <a:off x="6095880" y="1160280"/>
            <a:ext cx="5363280" cy="471960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</a:rPr>
              <a:t> </a:t>
            </a:r>
            <a:endParaRPr lang="de-D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1" dur="indefinite" restart="never" nodeType="tmRoot">
          <p:childTnLst>
            <p:seq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ETH Zürich">
  <a:themeElements>
    <a:clrScheme name="ETH Zürich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LibreOffice/26.8.0.3$Linux_X86_64 LibreOffice_project/bce0998afefdbc355585ca324285661a2170ba77</Application>
  <AppVersion>15.0000</AppVersion>
  <Words>1151</Words>
  <Paragraphs>187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2026-09-04T10:51:08Z</dcterms:created>
  <dc:creator>Gfrörer  Tino</dc:creator>
  <dc:description/>
  <dc:language>de-DE</dc:language>
  <cp:lastModifiedBy/>
  <dcterms:modified xsi:type="dcterms:W3CDTF">2026-09-16T18:57:09Z</dcterms:modified>
  <cp:revision>38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Widescreen</vt:lpwstr>
  </property>
  <property fmtid="{D5CDD505-2E9C-101B-9397-08002B2CF9AE}" pid="4" name="Slides">
    <vt:i4>23</vt:i4>
  </property>
</Properties>
</file>