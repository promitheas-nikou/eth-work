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01" r:id="rId2"/>
    <p:sldId id="302" r:id="rId3"/>
    <p:sldId id="303" r:id="rId4"/>
    <p:sldId id="316" r:id="rId5"/>
    <p:sldId id="317" r:id="rId6"/>
    <p:sldId id="318" r:id="rId7"/>
    <p:sldId id="319" r:id="rId8"/>
    <p:sldId id="320" r:id="rId9"/>
    <p:sldId id="321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19959-41C6-48CF-B49B-4DF6361C415E}" v="1" dt="2026-10-20T19:49:53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4355" autoAdjust="0"/>
  </p:normalViewPr>
  <p:slideViewPr>
    <p:cSldViewPr snapToGrid="0" showGuides="1">
      <p:cViewPr varScale="1">
        <p:scale>
          <a:sx n="107" d="100"/>
          <a:sy n="107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20.10.2026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20.10.2026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9660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A884FE03-D03B-D605-7538-2F13D538D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2AF4BE6-5505-84B0-84F1-FE02019E7C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D6CEF0F1-CE6F-BE8A-3844-BFD085AAC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579C612-10BE-1EBE-D018-B0D032C144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BF4C2FB-6615-B78A-B02E-8E60B52D6F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E799E1B2-701E-9FC5-2CDC-43C293909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42242C32-D53C-B3C3-E0EA-9C0F76519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D8DE6C5E-4745-1EF1-FA49-6358EFD11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3C0CA6CE-880C-7C54-9870-FFDA70F25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r="3523" b="5612"/>
          <a:stretch>
            <a:fillRect/>
          </a:stretch>
        </p:blipFill>
        <p:spPr>
          <a:xfrm>
            <a:off x="2300288" y="6452473"/>
            <a:ext cx="820032" cy="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A4054932-D157-98C3-08CB-8B67A37646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53EBC0E6-6124-869C-FA2E-CD9D3D683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72073686-C6D1-0392-7EA6-5B450A9CD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219A749E-EB56-70C9-92DA-5973901D7B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11327ECB-0323-0F7E-02D3-F29F465F5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8B34EBAD-E89E-4FE4-BCDC-4A3E84B1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D1E3B3E-73DE-8C34-2C96-4FE6A8E57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2800" noProof="0" dirty="0"/>
              <a:t>Netzwerke und Schaltungen Übungsstunde Woche 6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b="1" noProof="0" dirty="0"/>
              <a:t>Name</a:t>
            </a:r>
          </a:p>
          <a:p>
            <a:r>
              <a:rPr lang="de-CH"/>
              <a:t>pnikou</a:t>
            </a:r>
            <a:r>
              <a:rPr lang="de-CH" noProof="0"/>
              <a:t>@student.ethz.ch</a:t>
            </a:r>
            <a:endParaRPr lang="de-CH" noProof="0">
              <a:cs typeface="Arial"/>
            </a:endParaRPr>
          </a:p>
          <a:p>
            <a:r>
              <a:rPr lang="de-CH" noProof="0" dirty="0"/>
              <a:t>22. Oktober 2026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A89567B-A643-B2E1-8CD0-816E3D9E9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Offene Fragen von letzter Woche?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Theoriebeispiele zu Schlüsselkonzepten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Überlagerungsprinzip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Überlagerungsprinzip (Kap. 3.9)</a:t>
            </a:r>
          </a:p>
          <a:p>
            <a:pPr marL="0" indent="0">
              <a:buNone/>
            </a:pPr>
            <a:endParaRPr lang="de-CH" sz="1000" dirty="0"/>
          </a:p>
          <a:p>
            <a:pPr marL="0" indent="0">
              <a:buNone/>
            </a:pPr>
            <a:r>
              <a:rPr lang="de-CH" sz="1600" b="1" dirty="0"/>
              <a:t>Verfahren zur Analyse von linearen Netzwerken mit mehreren Quellen</a:t>
            </a:r>
            <a:endParaRPr lang="de-CH" sz="1600" dirty="0"/>
          </a:p>
          <a:p>
            <a:pPr marL="0" indent="0">
              <a:buNone/>
            </a:pPr>
            <a:endParaRPr lang="de-CH" sz="600" dirty="0"/>
          </a:p>
          <a:p>
            <a:r>
              <a:rPr lang="de-CH" sz="1600" dirty="0"/>
              <a:t>Die Wirkungen der Quellen überlagern sich.</a:t>
            </a:r>
          </a:p>
          <a:p>
            <a:r>
              <a:rPr lang="de-CH" sz="1600" dirty="0"/>
              <a:t>Widerstände (wie auch Kapazitäten und Induktivitäten) sind lineare Bauteile.</a:t>
            </a:r>
          </a:p>
          <a:p>
            <a:r>
              <a:rPr lang="de-CH" sz="1600" dirty="0"/>
              <a:t>Wir können also die Wirkung jeder Quelle einzeln betrachten und die Teillösungen addieren (Linearität).</a:t>
            </a:r>
          </a:p>
          <a:p>
            <a:r>
              <a:rPr lang="de-CH" sz="1600" dirty="0"/>
              <a:t>Dafür müssen wir die übrigen Quellen «ausschalten».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 dirty="0"/>
          </a:p>
        </p:txBody>
      </p:sp>
      <p:pic>
        <p:nvPicPr>
          <p:cNvPr id="10" name="Grafik 10" descr="Netzwerk mit zwei Quell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542452"/>
            <a:ext cx="5040000" cy="2600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Überlagerungsprinzip – Quellen ausschalten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Überlagerungsprinzip (Kap. 3.9)</a:t>
            </a:r>
          </a:p>
          <a:p>
            <a:pPr marL="0" indent="0">
              <a:buNone/>
            </a:pPr>
            <a:endParaRPr lang="de-CH" sz="1000" dirty="0"/>
          </a:p>
          <a:p>
            <a:pPr marL="0" indent="0">
              <a:buNone/>
            </a:pPr>
            <a:r>
              <a:rPr lang="de-CH" sz="1600" dirty="0"/>
              <a:t>Um nur eine einzige Quelle zu betrachten, werden die übrigen Quellen nach folgender Regel «ausgeschaltet»:</a:t>
            </a:r>
          </a:p>
          <a:p>
            <a:pPr marL="0" indent="0">
              <a:buNone/>
            </a:pPr>
            <a:endParaRPr lang="de-CH" sz="600" dirty="0"/>
          </a:p>
          <a:p>
            <a:pPr marL="0" indent="0">
              <a:buNone/>
            </a:pPr>
            <a:r>
              <a:rPr lang="de-CH" sz="1600" b="1" dirty="0"/>
              <a:t>Spannungsquelle wird Kurzschluss</a:t>
            </a:r>
            <a:endParaRPr lang="de-CH" sz="1600" dirty="0"/>
          </a:p>
          <a:p>
            <a:r>
              <a:rPr lang="de-CH" sz="1600" dirty="0"/>
              <a:t>keine Spannung mehr</a:t>
            </a:r>
          </a:p>
          <a:p>
            <a:r>
              <a:rPr lang="de-CH" sz="1600" dirty="0"/>
              <a:t>Strom beliebig</a:t>
            </a:r>
          </a:p>
          <a:p>
            <a:pPr marL="0" indent="0">
              <a:buNone/>
            </a:pPr>
            <a:endParaRPr lang="de-CH" sz="600" dirty="0"/>
          </a:p>
          <a:p>
            <a:pPr marL="0" indent="0">
              <a:buNone/>
            </a:pPr>
            <a:r>
              <a:rPr lang="de-CH" sz="1600" b="1" dirty="0"/>
              <a:t>Stromquelle wird Leerlauf (Unterbruch)</a:t>
            </a:r>
            <a:endParaRPr lang="de-CH" sz="1600" dirty="0"/>
          </a:p>
          <a:p>
            <a:r>
              <a:rPr lang="de-CH" sz="1600" dirty="0"/>
              <a:t>kein Strom mehr</a:t>
            </a:r>
          </a:p>
          <a:p>
            <a:r>
              <a:rPr lang="de-CH" sz="1600" dirty="0"/>
              <a:t>Spannung beliebig</a:t>
            </a:r>
          </a:p>
          <a:p>
            <a:pPr marL="0" indent="0">
              <a:buNone/>
            </a:pPr>
            <a:endParaRPr lang="de-CH" sz="600" dirty="0"/>
          </a:p>
          <a:p>
            <a:pPr marL="0" indent="0">
              <a:buNone/>
            </a:pPr>
            <a:r>
              <a:rPr lang="de-CH" sz="1200" i="1" dirty="0"/>
              <a:t>Merkhilfe: einfach die Kreise der Quellensymbole wegdenken.</a:t>
            </a:r>
            <a:endParaRPr lang="de-CH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 dirty="0"/>
          </a:p>
        </p:txBody>
      </p:sp>
      <p:pic>
        <p:nvPicPr>
          <p:cNvPr id="10" name="Grafik 10" descr="Spannungsquelle wird Kurzschluss, Stromquelle wird Leerlau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085826"/>
            <a:ext cx="5040000" cy="35140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Überlagerungsprinzip – Rezept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Überlagerungsprinzip (Kap. 3.9)</a:t>
            </a:r>
          </a:p>
          <a:p>
            <a:pPr marL="0" indent="0">
              <a:buNone/>
            </a:pPr>
            <a:endParaRPr lang="de-CH" sz="1000" dirty="0"/>
          </a:p>
          <a:p>
            <a:pPr marL="0" indent="0">
              <a:buNone/>
            </a:pPr>
            <a:r>
              <a:rPr lang="de-CH" sz="1600" dirty="0"/>
              <a:t>1. Nur eine Quelle betrachten, alle anderen Quellen ausschalten.</a:t>
            </a:r>
          </a:p>
          <a:p>
            <a:pPr marL="0" indent="0">
              <a:buNone/>
            </a:pPr>
            <a:r>
              <a:rPr lang="de-CH" sz="1600" dirty="0"/>
              <a:t>2. Die gesuchten Spannungen und Ströme für diese aktive Quelle berechnen.</a:t>
            </a:r>
          </a:p>
          <a:p>
            <a:pPr marL="0" indent="0">
              <a:buNone/>
            </a:pPr>
            <a:r>
              <a:rPr lang="de-CH" sz="1600" dirty="0"/>
              <a:t>3. Das Vorgehen für alle weiteren Quellen im Netzwerk wiederholen.</a:t>
            </a:r>
          </a:p>
          <a:p>
            <a:pPr marL="0" indent="0">
              <a:buNone/>
            </a:pPr>
            <a:r>
              <a:rPr lang="de-CH" sz="1600" dirty="0"/>
              <a:t>4. Alle Teillösungen addieren: Das ergibt die Gesamtlösung.</a:t>
            </a:r>
          </a:p>
          <a:p>
            <a:pPr marL="0" indent="0">
              <a:buNone/>
            </a:pPr>
            <a:endParaRPr lang="de-CH" sz="600" dirty="0"/>
          </a:p>
          <a:p>
            <a:pPr marL="0" indent="0">
              <a:buNone/>
            </a:pPr>
            <a:r>
              <a:rPr lang="de-CH" sz="1600" b="1" dirty="0"/>
              <a:t>Wichtig:</a:t>
            </a:r>
            <a:endParaRPr lang="de-CH" sz="1600" dirty="0"/>
          </a:p>
          <a:p>
            <a:r>
              <a:rPr lang="de-CH" sz="1600" dirty="0"/>
              <a:t>Funktioniert nur bei linearen Netzwerken.</a:t>
            </a:r>
          </a:p>
          <a:p>
            <a:r>
              <a:rPr lang="de-CH" sz="1600" dirty="0"/>
              <a:t>Funktioniert </a:t>
            </a:r>
            <a:r>
              <a:rPr lang="de-CH" sz="1600" b="1" dirty="0"/>
              <a:t>nicht</a:t>
            </a:r>
            <a:r>
              <a:rPr lang="de-CH" sz="1600" dirty="0"/>
              <a:t> für Leistungen, denn die Leistung hängt nicht linear von Strom und Spannung ab.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 dirty="0"/>
          </a:p>
        </p:txBody>
      </p:sp>
      <p:pic>
        <p:nvPicPr>
          <p:cNvPr id="10" name="Grafik 10" descr="Netzwerk mit zwei Quell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542452"/>
            <a:ext cx="5040000" cy="2600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1.1 – Überlagerungsprinzip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Überlagerungsprinzip (Kap. 3.9)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Gegeben ist das nebenstehende Netzwerk mit der Stromquelle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, der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und den Widerständen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Berechnet die Leerlaufspannung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 an den Klemmen mit dem Überlagerungsprinzip.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Überlagerungsprinzip (Kap. 3.9)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Gegeben ist das nebenstehende Netzwerk mit der Stromquelle </a:t>
                </a:r>
                <a:r>
                  <a:rPr lang="de-CH" sz="1600" dirty="0"/>
                  <a:t>I</a:t>
                </a:r>
                <a:r>
                  <a:rPr lang="de-CH" sz="1600" dirty="0"/>
                  <a:t xml:space="preserve">, der Spannungsquelle </a:t>
                </a:r>
                <a:r>
                  <a:rPr lang="de-CH" sz="1600" dirty="0"/>
                  <a:t>U</a:t>
                </a:r>
                <a:r>
                  <a:rPr lang="de-CH" sz="1600" dirty="0"/>
                  <a:t xml:space="preserve"> und den Widerständen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R3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Berechnet die Leerlaufspannung </a:t>
                </a:r>
                <a:r>
                  <a:rPr lang="de-CH" sz="1600" dirty="0"/>
                  <a:t>U0</a:t>
                </a:r>
                <a:r>
                  <a:rPr lang="de-CH" sz="1600" dirty="0"/>
                  <a:t xml:space="preserve"> an den Klemmen mit dem Überlagerungsprinzip.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 dirty="0"/>
          </a:p>
        </p:txBody>
      </p:sp>
      <p:pic>
        <p:nvPicPr>
          <p:cNvPr id="7" name="Grafik 10" descr="Netzwerk mit Strom- und Spannungsquelle">
            <a:extLst>
              <a:ext uri="{FF2B5EF4-FFF2-40B4-BE49-F238E27FC236}">
                <a16:creationId xmlns:a16="http://schemas.microsoft.com/office/drawing/2014/main" id="{5457776F-68F3-3178-757C-56CC3BB08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79" y="1412875"/>
            <a:ext cx="4440117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1.1 – Überlagerungsprinzip – Lösung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Überlagerungsprinzip (Kap. 3.9)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Ansatz: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: nur die Stromquelle ist aktiv,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: nur die Spannungsquelle ist aktiv)</a:t>
                </a:r>
              </a:p>
              <a:p>
                <a:r>
                  <a:rPr lang="de-CH" sz="1600" b="1" dirty="0"/>
                  <a:t>Teil a:</a:t>
                </a:r>
                <a:r>
                  <a:rPr lang="de-CH" sz="1600" dirty="0"/>
                  <a:t> Spannungsquelle ausschalten (Kurzschluss).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ist die Spannung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Stromteiler: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teilt sich auf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die Serieschaltung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 dirty="0"/>
                  <a:t> auf: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Ohm’sches Gesetz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Überlagerungsprinzip (Kap. 3.9)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 xml:space="preserve">Ansatz: </a:t>
                </a:r>
                <a:r>
                  <a:rPr lang="de-CH" sz="1600" dirty="0"/>
                  <a:t>U0=U(0a)+U(0b)</a:t>
                </a:r>
                <a:r>
                  <a:rPr lang="de-CH" sz="1600" dirty="0"/>
                  <a:t xml:space="preserve"> (</a:t>
                </a:r>
                <a:r>
                  <a:rPr lang="de-CH" sz="1600" dirty="0"/>
                  <a:t>U(0a)</a:t>
                </a:r>
                <a:r>
                  <a:rPr lang="de-CH" sz="1600" dirty="0"/>
                  <a:t xml:space="preserve">: nur die Stromquelle ist aktiv, </a:t>
                </a:r>
                <a:r>
                  <a:rPr lang="de-CH" sz="1600" dirty="0"/>
                  <a:t>U(0b)</a:t>
                </a:r>
                <a:r>
                  <a:rPr lang="de-CH" sz="1600" dirty="0"/>
                  <a:t>: nur die Spannungsquelle ist aktiv)</a:t>
                </a:r>
                <a:endParaRPr lang="de-CH" sz="1600" dirty="0"/>
              </a:p>
              <a:p>
                <a:r>
                  <a:rPr lang="de-CH" sz="1600" b="1" dirty="0"/>
                  <a:t>Teil a:</a:t>
                </a:r>
                <a:r>
                  <a:rPr lang="de-CH" sz="1600" dirty="0"/>
                  <a:t xml:space="preserve"> Spannungsquelle ausschalten (Kurzschluss). </a:t>
                </a:r>
                <a:r>
                  <a:rPr lang="de-CH" sz="1600" dirty="0"/>
                  <a:t>U(0a)</a:t>
                </a:r>
                <a:r>
                  <a:rPr lang="de-CH" sz="1600" dirty="0"/>
                  <a:t xml:space="preserve"> ist die Spannung an </a:t>
                </a:r>
                <a:r>
                  <a:rPr lang="de-CH" sz="1600" dirty="0"/>
                  <a:t>R3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r>
                  <a:rPr lang="de-CH" sz="1600" dirty="0"/>
                  <a:t xml:space="preserve">Stromteiler: </a:t>
                </a:r>
                <a:r>
                  <a:rPr lang="de-CH" sz="1600" dirty="0"/>
                  <a:t>I</a:t>
                </a:r>
                <a:r>
                  <a:rPr lang="de-CH" sz="1600" dirty="0"/>
                  <a:t xml:space="preserve"> teilt sich auf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 und die Serieschaltung </a:t>
                </a:r>
                <a:r>
                  <a:rPr lang="de-CH" sz="1600" dirty="0"/>
                  <a:t>(R2+R3)</a:t>
                </a:r>
                <a:r>
                  <a:rPr lang="de-CH" sz="1600" dirty="0"/>
                  <a:t xml:space="preserve"> auf: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(I(3a))(I)=(R1)(R1+(R2+R3))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I(3a)=(R1)(R1+R2+R3)⋅ I</a:t>
                </a:r>
                <a:endParaRPr lang="de-CH" sz="1600" dirty="0"/>
              </a:p>
              <a:p>
                <a:r>
                  <a:rPr lang="de-CH" sz="1600" dirty="0"/>
                  <a:t xml:space="preserve">Ohm’sches Gesetz an </a:t>
                </a:r>
                <a:r>
                  <a:rPr lang="de-CH" sz="1600" dirty="0"/>
                  <a:t>R3</a:t>
                </a:r>
                <a:r>
                  <a:rPr lang="de-CH" sz="1600" dirty="0"/>
                  <a:t>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U(0a)=R3⋅ I(3a)=(R1R3)(R1+R2+R3)⋅ I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 dirty="0"/>
          </a:p>
        </p:txBody>
      </p:sp>
      <p:pic>
        <p:nvPicPr>
          <p:cNvPr id="10" name="Grafik 10" descr="Netzwerk mit Strom- und Spannungsquel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79" y="1412875"/>
            <a:ext cx="4440117" cy="2350000"/>
          </a:xfrm>
          <a:prstGeom prst="rect">
            <a:avLst/>
          </a:prstGeom>
        </p:spPr>
      </p:pic>
      <p:pic>
        <p:nvPicPr>
          <p:cNvPr id="11" name="Grafik 11" descr="Nur Stromquelle akti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79" y="3922875"/>
            <a:ext cx="4440117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1.1 – Überlagerungsprinzip – Lösung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Überlagerungsprinzip (Kap. 3.9)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b="1" dirty="0"/>
                  <a:t>Teil b:</a:t>
                </a:r>
                <a:r>
                  <a:rPr lang="de-CH" sz="1600" dirty="0"/>
                  <a:t> Stromquelle ausschalten (Leerlauf).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sind in Serie an der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 ist die Spannung 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. Spannungsteiler: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Überlagerung: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 dirty="0"/>
          </a:p>
        </p:txBody>
      </p:sp>
      <p:pic>
        <p:nvPicPr>
          <p:cNvPr id="10" name="Grafik 10" descr="Netzwerk mit Strom- und Spannungsqu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79" y="1412875"/>
            <a:ext cx="4440117" cy="2350000"/>
          </a:xfrm>
          <a:prstGeom prst="rect">
            <a:avLst/>
          </a:prstGeom>
        </p:spPr>
      </p:pic>
      <p:pic>
        <p:nvPicPr>
          <p:cNvPr id="11" name="Grafik 11" descr="Nur Spannungsquelle akti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79" y="3922875"/>
            <a:ext cx="4440117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Ersatzstromquelle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Eine ideale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ist an einen Spannungsteiler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angeschlossen (oben).</a:t>
                </a:r>
              </a:p>
              <a:p>
                <a:pPr marL="0" indent="0">
                  <a:buNone/>
                </a:pPr>
                <a:r>
                  <a:rPr lang="de-CH" sz="1600" dirty="0"/>
                  <a:t>Das Netzwerk soll durch eine Ersatzstromquelle (unten) ersetzt werden, die sich bezüglich der Klemmen A und B identisch verhält.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Berechnet den Strom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und den 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 der Ersatzstromquelle.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Eine ideale Spannungsquelle </a:t>
                </a:r>
                <a:r>
                  <a:rPr lang="de-CH" sz="1600" dirty="0"/>
                  <a:t>U</a:t>
                </a:r>
                <a:r>
                  <a:rPr lang="de-CH" sz="1600" dirty="0"/>
                  <a:t xml:space="preserve"> ist an einen Spannungsteiler mit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 angeschlossen (oben).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Das Netzwerk soll durch eine Ersatzstromquelle (unten) ersetzt werden, die sich bezüglich der Klemmen A und B identisch verhält.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Berechnet den Strom </a:t>
                </a:r>
                <a:r>
                  <a:rPr lang="de-CH" sz="1600" dirty="0"/>
                  <a:t>I</a:t>
                </a:r>
                <a:r>
                  <a:rPr lang="de-CH" sz="1600" dirty="0"/>
                  <a:t xml:space="preserve"> und den Innenwiderstand </a:t>
                </a:r>
                <a:r>
                  <a:rPr lang="de-CH" sz="1600" dirty="0"/>
                  <a:t>Ri</a:t>
                </a:r>
                <a:r>
                  <a:rPr lang="de-CH" sz="1600" dirty="0"/>
                  <a:t xml:space="preserve"> der Ersatzstromquelle.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 dirty="0"/>
          </a:p>
        </p:txBody>
      </p:sp>
      <p:pic>
        <p:nvPicPr>
          <p:cNvPr id="10" name="Grafik 10" descr="Spannungsquelle mit Spannungstei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1" name="Grafik 11" descr="Gesuchte Ersatzstromqu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Ersatzstromquelle – Lösung (1/3)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Kurzschlussstrom: Klemmen A und B kurzschliessen (unten).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ist überbrückt, die ganze Spannung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liegt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Kurzschlussstrom: Klemmen A und B kurzschliessen (unten).</a:t>
                </a:r>
                <a:endParaRPr lang="de-CH" sz="1600" dirty="0"/>
              </a:p>
              <a:p>
                <a:r>
                  <a:rPr lang="de-CH" sz="1600" dirty="0"/>
                  <a:t>R2</a:t>
                </a:r>
                <a:r>
                  <a:rPr lang="de-CH" sz="1600" dirty="0"/>
                  <a:t xml:space="preserve"> ist überbrückt, die ganze Spannung </a:t>
                </a:r>
                <a:r>
                  <a:rPr lang="de-CH" sz="1600" dirty="0"/>
                  <a:t>U</a:t>
                </a:r>
                <a:r>
                  <a:rPr lang="de-CH" sz="1600" dirty="0"/>
                  <a:t xml:space="preserve"> liegt an </a:t>
                </a:r>
                <a:r>
                  <a:rPr lang="de-CH" sz="1600" dirty="0"/>
                  <a:t>R1</a:t>
                </a:r>
                <a:r>
                  <a:rPr lang="de-CH" sz="1600" dirty="0"/>
                  <a:t>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I=IK=(U)(R1)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 dirty="0"/>
          </a:p>
        </p:txBody>
      </p:sp>
      <p:pic>
        <p:nvPicPr>
          <p:cNvPr id="10" name="Grafik 10" descr="Spannungsquelle mit Spannungstei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1" name="Grafik 11" descr="Klemmen kurzgeschloss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Ersatzstromquelle – Lösung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Innenwiderstand: Quelle ausschalten, d.h. die Spannungsquelle durch einen Kurzschluss ersetzen (unten).</a:t>
                </a:r>
              </a:p>
              <a:p>
                <a:r>
                  <a:rPr lang="de-CH" sz="1600" dirty="0"/>
                  <a:t>Von den Klemmen aus gesehen sind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parallel: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Innenwiderstand: Quelle ausschalten, d.h. die Spannungsquelle durch einen Kurzschluss ersetzen (unten).</a:t>
                </a:r>
                <a:endParaRPr lang="de-CH" sz="1600" dirty="0"/>
              </a:p>
              <a:p>
                <a:r>
                  <a:rPr lang="de-CH" sz="1600" dirty="0"/>
                  <a:t xml:space="preserve">Von den Klemmen aus gesehen sind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 parallel: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Ri=R1∥ R2=(R1R2)(R1+R2)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 dirty="0"/>
          </a:p>
        </p:txBody>
      </p:sp>
      <p:pic>
        <p:nvPicPr>
          <p:cNvPr id="10" name="Grafik 10" descr="Spannungsquelle mit Spannungstei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1" name="Grafik 11" descr="Quelle ausgeschalt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Ersatzstromquelle – Lösung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Ersatzstromquelle (unten) 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Wie gross ist die Leerlaufspannung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 an den Klemmen?</a:t>
                </a:r>
              </a:p>
              <a:p>
                <a:r>
                  <a:rPr lang="de-CH" sz="1600" dirty="0"/>
                  <a:t>In beiden Netzwerken gleich: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 xml:space="preserve">Ersatzstromquelle (unten) mit </a:t>
                </a:r>
                <a:r>
                  <a:rPr lang="de-CH" sz="1600" dirty="0"/>
                  <a:t>I=(U)(R1)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Ri=(R1R2)(R1+R2)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Wie gross ist die Leerlaufspannung </a:t>
                </a:r>
                <a:r>
                  <a:rPr lang="de-CH" sz="1600" dirty="0"/>
                  <a:t>UL</a:t>
                </a:r>
                <a:r>
                  <a:rPr lang="de-CH" sz="1600" dirty="0"/>
                  <a:t xml:space="preserve"> an den Klemmen?</a:t>
                </a:r>
                <a:endParaRPr lang="de-CH" sz="1600" dirty="0"/>
              </a:p>
              <a:p>
                <a:r>
                  <a:rPr lang="de-CH" sz="1600" dirty="0"/>
                  <a:t>In beiden Netzwerken gleich: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UL=(R2)(R1+R2)⋅ U=Ri⋅ I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 dirty="0"/>
          </a:p>
        </p:txBody>
      </p:sp>
      <p:pic>
        <p:nvPicPr>
          <p:cNvPr id="10" name="Grafik 10" descr="Spannungsquelle mit Spannungstei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1" name="Grafik 11" descr="Ersatzstromqu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Reale Quellen – Ersatzschaltbilder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Modell:</a:t>
                </a:r>
                <a:r>
                  <a:rPr lang="de-CH" sz="1600" dirty="0"/>
                  <a:t> ideale Spannungs- bzw. Stromquelle mit 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b="1" dirty="0"/>
                  <a:t>Charakterisierung</a:t>
                </a:r>
                <a:r>
                  <a:rPr lang="de-CH" sz="1600" dirty="0"/>
                  <a:t> durch zwei der drei Grössen:</a:t>
                </a:r>
              </a:p>
              <a:p>
                <a:r>
                  <a:rPr lang="de-CH" sz="1600" dirty="0"/>
                  <a:t>Leerlaufspannung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CH" sz="1600" dirty="0"/>
              </a:p>
              <a:p>
                <a:r>
                  <a:rPr lang="de-CH" sz="1600" dirty="0"/>
                  <a:t>Kurzschlussstrom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de-CH" sz="1600" dirty="0"/>
              </a:p>
              <a:p>
                <a:r>
                  <a:rPr lang="de-CH" sz="1600" dirty="0"/>
                  <a:t>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Beide Ersatzschaltbilder verhalten sich von aussen gesehen </a:t>
                </a:r>
                <a:r>
                  <a:rPr lang="de-CH" sz="1600" b="1" dirty="0"/>
                  <a:t>identisch</a:t>
                </a:r>
                <a:r>
                  <a:rPr lang="de-CH" sz="1600" dirty="0"/>
                  <a:t>: Sie haben dasselbe Klemmenverhalten.</a:t>
                </a:r>
              </a:p>
              <a:p>
                <a:pPr marL="0" indent="0">
                  <a:buNone/>
                </a:pPr>
                <a:r>
                  <a:rPr lang="de-CH" sz="1200" i="1" dirty="0"/>
                  <a:t>Unterschied: Verlustleistung am Innenwiderstand. «Von aussen» ist dieser Unterschied aber nicht feststellbar.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Modell:</a:t>
                </a:r>
                <a:r>
                  <a:rPr lang="de-CH" sz="1600" dirty="0"/>
                  <a:t xml:space="preserve"> ideale Spannungs- bzw. Stromquelle mit Innenwiderstand </a:t>
                </a:r>
                <a:r>
                  <a:rPr lang="de-CH" sz="1600" dirty="0"/>
                  <a:t>Ri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b="1" dirty="0"/>
                  <a:t>Charakterisierung</a:t>
                </a:r>
                <a:r>
                  <a:rPr lang="de-CH" sz="1600" dirty="0"/>
                  <a:t xml:space="preserve"> durch zwei der drei Grössen:</a:t>
                </a:r>
                <a:endParaRPr lang="de-CH" sz="1600" dirty="0"/>
              </a:p>
              <a:p>
                <a:r>
                  <a:rPr lang="de-CH" sz="1600" dirty="0"/>
                  <a:t xml:space="preserve">Leerlaufspannung </a:t>
                </a:r>
                <a:r>
                  <a:rPr lang="de-CH" sz="1600" dirty="0"/>
                  <a:t>U0</a:t>
                </a:r>
                <a:endParaRPr lang="de-CH" sz="1600" dirty="0"/>
              </a:p>
              <a:p>
                <a:r>
                  <a:rPr lang="de-CH" sz="1600" dirty="0"/>
                  <a:t xml:space="preserve">Kurzschlussstrom </a:t>
                </a:r>
                <a:r>
                  <a:rPr lang="de-CH" sz="1600" dirty="0"/>
                  <a:t>IK</a:t>
                </a:r>
                <a:endParaRPr lang="de-CH" sz="1600" dirty="0"/>
              </a:p>
              <a:p>
                <a:r>
                  <a:rPr lang="de-CH" sz="1600" dirty="0"/>
                  <a:t xml:space="preserve">Innenwiderstand </a:t>
                </a:r>
                <a:r>
                  <a:rPr lang="de-CH" sz="1600" dirty="0"/>
                  <a:t>Ri=(U0)(IK)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Beide Ersatzschaltbilder verhalten sich von aussen gesehen </a:t>
                </a:r>
                <a:r>
                  <a:rPr lang="de-CH" sz="1600" b="1" dirty="0"/>
                  <a:t>identisch</a:t>
                </a:r>
                <a:r>
                  <a:rPr lang="de-CH" sz="1600" dirty="0"/>
                  <a:t>: Sie haben dasselbe Klemmenverhalten.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Unterschied: Verlustleistung am Innenwiderstand. «Von aussen» ist dieser Unterschied aber nicht feststellbar.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 dirty="0"/>
          </a:p>
        </p:txBody>
      </p:sp>
      <p:pic>
        <p:nvPicPr>
          <p:cNvPr id="10" name="Grafik 10" descr="Lineare Spannungsquel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42" y="1412875"/>
            <a:ext cx="4318192" cy="2350000"/>
          </a:xfrm>
          <a:prstGeom prst="rect">
            <a:avLst/>
          </a:prstGeom>
        </p:spPr>
      </p:pic>
      <p:pic>
        <p:nvPicPr>
          <p:cNvPr id="11" name="Grafik 11" descr="Lineare Stromqu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42" y="3922875"/>
            <a:ext cx="4318192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Reale Quellen – Kenngrössen bestimmen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b="1" dirty="0"/>
                  <a:t>Leerlaufspannung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: Klemmen A und B offen lassen (Leerlauf) und die Spannung zwischen den Klemmen berechnen.</a:t>
                </a:r>
              </a:p>
              <a:p>
                <a:r>
                  <a:rPr lang="de-CH" sz="1600" b="1" dirty="0"/>
                  <a:t>Kurzschlussstrom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CH" sz="1600" dirty="0"/>
                  <a:t>: Kurzschluss zwischen A und B einfügen und den Strom darüber berechnen.</a:t>
                </a:r>
              </a:p>
              <a:p>
                <a:r>
                  <a:rPr lang="de-CH" sz="1600" b="1" dirty="0"/>
                  <a:t>Innenwiderstand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: Alle Quellen «ausschalten» und den Widerstand zwischen den Klemmen A und B berechnen.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Zwei der drei Grössen definieren die Quelle vollständig: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Reale Spannungs- und Stromquellen und deren Ersatzschaltbilder (Kap. 3.6)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b="1" dirty="0"/>
                  <a:t>Leerlaufspannung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U0</a:t>
                </a:r>
                <a:r>
                  <a:rPr lang="de-CH" sz="1600" dirty="0"/>
                  <a:t>: Klemmen A und B offen lassen (Leerlauf) und die Spannung zwischen den Klemmen berechnen.</a:t>
                </a:r>
                <a:endParaRPr lang="de-CH" sz="1600" dirty="0"/>
              </a:p>
              <a:p>
                <a:r>
                  <a:rPr lang="de-CH" sz="1600" b="1" dirty="0"/>
                  <a:t>Kurzschlussstrom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IK</a:t>
                </a:r>
                <a:r>
                  <a:rPr lang="de-CH" sz="1600" dirty="0"/>
                  <a:t>: Kurzschluss zwischen A und B einfügen und den Strom darüber berechnen.</a:t>
                </a:r>
                <a:endParaRPr lang="de-CH" sz="1600" dirty="0"/>
              </a:p>
              <a:p>
                <a:r>
                  <a:rPr lang="de-CH" sz="1600" b="1" dirty="0"/>
                  <a:t>Innenwiderstand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Ri</a:t>
                </a:r>
                <a:r>
                  <a:rPr lang="de-CH" sz="1600" dirty="0"/>
                  <a:t>: Alle Quellen «ausschalten» und den Widerstand zwischen den Klemmen A und B berechnen.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Zwei der drei Grössen definieren die Quelle vollständig: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U0=Ri⋅ IK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 dirty="0"/>
          </a:p>
        </p:txBody>
      </p:sp>
      <p:pic>
        <p:nvPicPr>
          <p:cNvPr id="10" name="Grafik 10" descr="Leerlaufspannu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36" y="1412875"/>
            <a:ext cx="4563603" cy="2350000"/>
          </a:xfrm>
          <a:prstGeom prst="rect">
            <a:avLst/>
          </a:prstGeom>
        </p:spPr>
      </p:pic>
      <p:pic>
        <p:nvPicPr>
          <p:cNvPr id="11" name="Grafik 11" descr="Kurzschlussstr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36" y="3922875"/>
            <a:ext cx="4563603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3.1 – Leistungsanpassung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Eine Autobatterie hat die Leerlaufspannung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 = 12 V und den Kurzschlussstrom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CH" sz="1600" dirty="0"/>
                  <a:t> = 560 A.</a:t>
                </a:r>
              </a:p>
              <a:p>
                <a:pPr marL="0" indent="0">
                  <a:buNone/>
                </a:pPr>
                <a:r>
                  <a:rPr lang="de-CH" sz="1600" dirty="0"/>
                  <a:t>An die Batterie wird eine Lichterkette aus vielen parallel geschalteten Glühbirnen mit dem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 angeschlossen.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>Berechnet den 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 der Batterie.</a:t>
                </a:r>
              </a:p>
              <a:p>
                <a:r>
                  <a:rPr lang="de-CH" sz="1600" dirty="0"/>
                  <a:t>Bei welchem Lastwiderstand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 wird die Leistung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 der Lichterkette maximal?</a:t>
                </a:r>
              </a:p>
              <a:p>
                <a:r>
                  <a:rPr lang="de-CH" sz="1600" dirty="0"/>
                  <a:t>Wie gross sind in diesem Fall die Leistung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, die Verlustleistung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 in der Batterie und der Wirkungsgrad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de-CH" sz="16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 dirty="0"/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3627D95D-C1DE-E2F3-0121-ADB761422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449" y="1412875"/>
            <a:ext cx="4318777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3.1 – Leistungsanpassung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Innenwiderstand: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560 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≈21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Leistungsanpassung: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 ≈ 21 mΩ</a:t>
                </a:r>
              </a:p>
              <a:p>
                <a:r>
                  <a:rPr lang="de-CH" sz="1600" dirty="0"/>
                  <a:t>Strom und Leistung an der Last: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=280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Sup>
                        <m:sSub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≈1.7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kW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Verluste in der Batterie: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⋅ </m:t>
                    </m:r>
                    <m:sSubSup>
                      <m:sSubSup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  <m:sup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 ≈ 1.7 kW</a:t>
                </a:r>
              </a:p>
              <a:p>
                <a:r>
                  <a:rPr lang="de-CH" sz="1600" dirty="0"/>
                  <a:t>Wirkungsgrad: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η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 = 50 %</a:t>
                </a:r>
              </a:p>
              <a:p>
                <a:pPr marL="0" indent="0">
                  <a:buNone/>
                </a:pPr>
                <a:r>
                  <a:rPr lang="de-CH" sz="1200" i="1" dirty="0"/>
                  <a:t>Die Batterie setzt gleich viel Leistung um wie die Last: Sie wird sehr heiss.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Innenwiderstand: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Ri=(U0)(IK)=(12 V)(560 A)≈21 mΩ</a:t>
                </a:r>
                <a:endParaRPr lang="de-CH" sz="1600" dirty="0"/>
              </a:p>
              <a:p>
                <a:r>
                  <a:rPr lang="de-CH" sz="1600" dirty="0"/>
                  <a:t xml:space="preserve">Leistungsanpassung: </a:t>
                </a:r>
                <a:r>
                  <a:rPr lang="de-CH" sz="1600" dirty="0"/>
                  <a:t>RL=Ri</a:t>
                </a:r>
                <a:r>
                  <a:rPr lang="de-CH" sz="1600" dirty="0"/>
                  <a:t xml:space="preserve"> ≈ 21 mΩ</a:t>
                </a:r>
                <a:endParaRPr lang="de-CH" sz="1600" dirty="0"/>
              </a:p>
              <a:p>
                <a:r>
                  <a:rPr lang="de-CH" sz="1600" dirty="0"/>
                  <a:t>Strom und Leistung an der Last: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IL=(U0)(Ri+RL)=(U0)(2Ri)=(IK)(2)=280 A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PL=RL⋅ IL2=(U02)(4Ri)=(U0⋅ IK)(4)≈1.7 kW</a:t>
                </a:r>
                <a:endParaRPr lang="de-CH" sz="1600" dirty="0"/>
              </a:p>
              <a:p>
                <a:r>
                  <a:rPr lang="de-CH" sz="1600" dirty="0"/>
                  <a:t xml:space="preserve">Verluste in der Batterie: </a:t>
                </a:r>
                <a:r>
                  <a:rPr lang="de-CH" sz="1600" dirty="0"/>
                  <a:t>Pi=Ri⋅ IL2=PL</a:t>
                </a:r>
                <a:r>
                  <a:rPr lang="de-CH" sz="1600" dirty="0"/>
                  <a:t xml:space="preserve"> ≈ 1.7 kW</a:t>
                </a:r>
                <a:endParaRPr lang="de-CH" sz="1600" dirty="0"/>
              </a:p>
              <a:p>
                <a:r>
                  <a:rPr lang="de-CH" sz="1600" dirty="0"/>
                  <a:t xml:space="preserve">Wirkungsgrad: </a:t>
                </a:r>
                <a:r>
                  <a:rPr lang="de-CH" sz="1600" dirty="0"/>
                  <a:t>η=(PL)(PL+Pi)</a:t>
                </a:r>
                <a:r>
                  <a:rPr lang="de-CH" sz="1600" dirty="0"/>
                  <a:t xml:space="preserve"> = 50 %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Die Batterie setzt gleich viel Leistung um wie die Last: Sie wird sehr heiss.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 dirty="0"/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D214DA7B-5048-422A-CDBC-70B7007E2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449" y="1412875"/>
            <a:ext cx="4318777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Leistung an realen Quellen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Leistung an der Last: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Spannungsteiler: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⋅ 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sub>
                                  </m:s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Die Leistung an der Last ist genau dann maximal, wenn der Lastwiderstand gleich gross ist wie der Innenwiderstand: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  ⇒ 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Wirkungsgrad: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η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, bei Leistungsanpassung also nur 50 %.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213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 dirty="0"/>
          </a:p>
        </p:txBody>
      </p:sp>
      <p:pic>
        <p:nvPicPr>
          <p:cNvPr id="10" name="Grafik 10" descr="Reale Spannungsquelle mit La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36" y="1412875"/>
            <a:ext cx="4563603" cy="2350000"/>
          </a:xfrm>
          <a:prstGeom prst="rect">
            <a:avLst/>
          </a:prstGeom>
        </p:spPr>
      </p:pic>
      <p:pic>
        <p:nvPicPr>
          <p:cNvPr id="11" name="Grafik 11" descr="Leistung an der Last in Funktion des Lastwiderstan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380" y="3922875"/>
            <a:ext cx="4000915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3.2 – Leistungsanpassung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An die Klemmen A und B wird eine Last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de-CH" sz="1600" dirty="0"/>
                  <a:t> angeschlossen. Aus Beispiel 2.1 ist die Ersatzstromquelle bekannt: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>Berechnet den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de-CH" sz="1600" dirty="0"/>
                  <a:t>, für den die Leistung an der Last maximal wird.</a:t>
                </a:r>
              </a:p>
              <a:p>
                <a:r>
                  <a:rPr lang="de-CH" sz="1600" dirty="0"/>
                  <a:t>Berechnet die maximale Leistung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Ist der Wirkungsgrad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de-CH" sz="1600" dirty="0"/>
                  <a:t> bei maximaler Leistung grösser als 50 %, gleich 50 % oder kleiner als 50 %? Begründet am Originalnetzwerk (oben).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 r="-220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 dirty="0"/>
          </a:p>
        </p:txBody>
      </p:sp>
      <p:pic>
        <p:nvPicPr>
          <p:cNvPr id="10" name="Grafik 10" descr="Netzwerk mit La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1" name="Grafik 11" descr="Ersatzstromquelle mit La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3.2 – Leistungsanpassung – Lösung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Bezüglich der Klemmen verhält sich das Netzwerk wie die Ersatzstromquelle. Leistungsanpassung: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Ersatzstromquelle: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de-CH" sz="1600" dirty="0"/>
                  <a:t> sind gleich gross, der Strom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teilt sich je zur Hälfte auf: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Leistung an der Last: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Sup>
                        <m:sSub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Bezüglich der Klemmen verhält sich das Netzwerk wie die Ersatzstromquelle. Leistungsanpassung: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R(Last)=Ri=(R1R2)(R1+R2)</a:t>
                </a:r>
                <a:endParaRPr lang="de-CH" sz="1600" dirty="0"/>
              </a:p>
              <a:p>
                <a:r>
                  <a:rPr lang="de-CH" sz="1600" dirty="0"/>
                  <a:t xml:space="preserve">Ersatzstromquelle: </a:t>
                </a:r>
                <a:r>
                  <a:rPr lang="de-CH" sz="1600" dirty="0"/>
                  <a:t>Ri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R(Last)</a:t>
                </a:r>
                <a:r>
                  <a:rPr lang="de-CH" sz="1600" dirty="0"/>
                  <a:t xml:space="preserve"> sind gleich gross, der Strom </a:t>
                </a:r>
                <a:r>
                  <a:rPr lang="de-CH" sz="1600" dirty="0"/>
                  <a:t>I</a:t>
                </a:r>
                <a:r>
                  <a:rPr lang="de-CH" sz="1600" dirty="0"/>
                  <a:t xml:space="preserve"> teilt sich je zur Hälfte auf: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I(Last)=(I)(2)=(U)(2R1)</a:t>
                </a:r>
                <a:endParaRPr lang="de-CH" sz="1600" dirty="0"/>
              </a:p>
              <a:p>
                <a:r>
                  <a:rPr lang="de-CH" sz="1600" dirty="0"/>
                  <a:t>Leistung an der Last: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P(max)=R(Last)⋅ I(Last)2=(R1R2)(R1+R2)⋅ (U2)(4R12)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P(max)=(U2R2)(4R1(R1+R2))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 dirty="0"/>
          </a:p>
        </p:txBody>
      </p:sp>
      <p:pic>
        <p:nvPicPr>
          <p:cNvPr id="10" name="Grafik 10" descr="Netzwerk mit La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1" name="Grafik 11" descr="Ersatzstromquelle mit La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3.2 – Leistungsanpassung – Lösung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Leistungsanpassung (Kap. 3.7.2)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Am </a:t>
                </a:r>
                <a:r>
                  <a:rPr lang="de-CH" sz="1600" b="1" dirty="0"/>
                  <a:t>Originalnetzwerk</a:t>
                </a:r>
                <a:r>
                  <a:rPr lang="de-CH" sz="1600" dirty="0"/>
                  <a:t> liefert die 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die Leistung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Last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Last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ist grösser 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Last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und durch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fliesst mehr Strom als durch die Last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de-CH" sz="1600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Sup>
                        <m:sSub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Sup>
                        <m:sSub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Last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Dazu kommen die Verluste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⇒ Der Wirkungsgrad ist </a:t>
                </a:r>
                <a:r>
                  <a:rPr lang="de-CH" sz="1600" b="1" dirty="0"/>
                  <a:t>kleiner als 50 %</a:t>
                </a:r>
                <a:r>
                  <a:rPr lang="de-CH" sz="1600" dirty="0"/>
                  <a:t>.</a:t>
                </a:r>
              </a:p>
              <a:p>
                <a:pPr marL="0" indent="0">
                  <a:buNone/>
                </a:pPr>
                <a:r>
                  <a:rPr lang="de-CH" sz="1600" b="1" dirty="0"/>
                  <a:t>Merke:</a:t>
                </a:r>
                <a:r>
                  <a:rPr lang="de-CH" sz="1600" dirty="0"/>
                  <a:t> Die Ersatzquelle stimmt nur an den Klemmen. Verluste im Inneren am Originalnetzwerk bestimmen den Wirkungsgrad.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 r="-150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 dirty="0"/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9302DED8-7AF6-7354-07AE-2E444216F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543" y="1414795"/>
            <a:ext cx="4838589" cy="2346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4.1 – Netzwerkanalyse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Gegeben ist das nebenstehende Widerstandsnetzwerk mit zwei idealen Spannungsquellen. Die Zählrichtungen der Ströme sind vorgegeben.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>Wie viele Knoten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CH" sz="1600" dirty="0"/>
                  <a:t> und Zweige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de-CH" sz="1600" dirty="0"/>
                  <a:t> besitzt das Netzwerk?</a:t>
                </a:r>
              </a:p>
              <a:p>
                <a:r>
                  <a:rPr lang="de-CH" sz="1600" dirty="0"/>
                  <a:t>Wie viele Unbekannte liegen vor?</a:t>
                </a:r>
              </a:p>
              <a:p>
                <a:r>
                  <a:rPr lang="de-CH" sz="1600" dirty="0"/>
                  <a:t>Wie viele linear unabhängige Knoten- und Maschengleichungen werden benötigt?</a:t>
                </a:r>
              </a:p>
              <a:p>
                <a:r>
                  <a:rPr lang="de-CH" sz="1600" dirty="0"/>
                  <a:t>Wählt einen Bezugsknoten und nummeriert die Knoten.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 dirty="0"/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455003D3-A567-F481-0C62-BB1707E9C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838" y="1567076"/>
            <a:ext cx="5040000" cy="20415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4.1 – Netzwerkanalyse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CH" sz="1600" dirty="0"/>
                  <a:t> = 4 Knoten: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 (Bezugsknoten),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de-CH" sz="16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de-CH" sz="1600" dirty="0"/>
                  <a:t> = 6 Zweige: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sowie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600" dirty="0"/>
                  <a:t> in Serie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CH" sz="1600" dirty="0"/>
              </a:p>
              <a:p>
                <a:r>
                  <a:rPr lang="de-CH" sz="1600" dirty="0"/>
                  <a:t>Unbekannte: pro Zweig ein Strom und eine Spannung. Die Quellenspannungen sind bekannt, und mit dem Ohm’schen Gesetz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lassen sich die Spannungen an den Widerständen durch die Ströme ausdrücken. Es bleiben die 6 Zweigströme.</a:t>
                </a:r>
              </a:p>
              <a:p>
                <a:r>
                  <a:rPr lang="de-CH" sz="1600" dirty="0"/>
                  <a:t>Knotengleichungen: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CH" sz="1600" dirty="0"/>
                  <a:t> = 3 (die vierte ist linear abhängig)</a:t>
                </a:r>
              </a:p>
              <a:p>
                <a:r>
                  <a:rPr lang="de-CH" sz="1600" dirty="0"/>
                  <a:t>Maschengleichungen: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de-CH" sz="1600" dirty="0"/>
                  <a:t> = 6 − 3 = 3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k</a:t>
                </a:r>
                <a:r>
                  <a:rPr lang="de-CH" sz="1600" dirty="0"/>
                  <a:t xml:space="preserve"> = 4 Knoten: </a:t>
                </a:r>
                <a:r>
                  <a:rPr lang="de-CH" sz="1600" dirty="0"/>
                  <a:t>K0</a:t>
                </a:r>
                <a:r>
                  <a:rPr lang="de-CH" sz="1600" dirty="0"/>
                  <a:t xml:space="preserve"> (Bezugsknoten), </a:t>
                </a:r>
                <a:r>
                  <a:rPr lang="de-CH" sz="1600" dirty="0"/>
                  <a:t>K1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K2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K3</a:t>
                </a:r>
                <a:endParaRPr lang="de-CH" sz="1600" dirty="0"/>
              </a:p>
              <a:p>
                <a:r>
                  <a:rPr lang="de-CH" sz="1600" dirty="0"/>
                  <a:t>z</a:t>
                </a:r>
                <a:r>
                  <a:rPr lang="de-CH" sz="1600" dirty="0"/>
                  <a:t xml:space="preserve"> = 6 Zweige: </a:t>
                </a:r>
                <a:r>
                  <a:rPr lang="de-CH" sz="1600" dirty="0"/>
                  <a:t>U(q1)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R3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R4</a:t>
                </a:r>
                <a:r>
                  <a:rPr lang="de-CH" sz="1600" dirty="0"/>
                  <a:t xml:space="preserve"> sowie </a:t>
                </a:r>
                <a:r>
                  <a:rPr lang="de-CH" sz="1600" dirty="0"/>
                  <a:t>R5</a:t>
                </a:r>
                <a:r>
                  <a:rPr lang="de-CH" sz="1600" dirty="0"/>
                  <a:t xml:space="preserve"> in Serie mit </a:t>
                </a:r>
                <a:r>
                  <a:rPr lang="de-CH" sz="1600" dirty="0"/>
                  <a:t>U(q2)</a:t>
                </a:r>
                <a:endParaRPr lang="de-CH" sz="1600" dirty="0"/>
              </a:p>
              <a:p>
                <a:r>
                  <a:rPr lang="de-CH" sz="1600" dirty="0"/>
                  <a:t xml:space="preserve">Unbekannte: pro Zweig ein Strom und eine Spannung. Die Quellenspannungen sind bekannt, und mit dem Ohm’schen Gesetz </a:t>
                </a:r>
                <a:r>
                  <a:rPr lang="de-CH" sz="1600" dirty="0"/>
                  <a:t>U=R⋅ I</a:t>
                </a:r>
                <a:r>
                  <a:rPr lang="de-CH" sz="1600" dirty="0"/>
                  <a:t xml:space="preserve"> lassen sich die Spannungen an den Widerständen durch die Ströme ausdrücken. Es bleiben die 6 Zweigströme.</a:t>
                </a:r>
                <a:endParaRPr lang="de-CH" sz="1600" dirty="0"/>
              </a:p>
              <a:p>
                <a:r>
                  <a:rPr lang="de-CH" sz="1600" dirty="0"/>
                  <a:t xml:space="preserve">Knotengleichungen: </a:t>
                </a:r>
                <a:r>
                  <a:rPr lang="de-CH" sz="1600" dirty="0"/>
                  <a:t>k−1</a:t>
                </a:r>
                <a:r>
                  <a:rPr lang="de-CH" sz="1600" dirty="0"/>
                  <a:t xml:space="preserve"> = 3 (die vierte ist linear abhängig)</a:t>
                </a:r>
                <a:endParaRPr lang="de-CH" sz="1600" dirty="0"/>
              </a:p>
              <a:p>
                <a:r>
                  <a:rPr lang="de-CH" sz="1600" dirty="0"/>
                  <a:t xml:space="preserve">Maschengleichungen: </a:t>
                </a:r>
                <a:r>
                  <a:rPr lang="de-CH" sz="1600" dirty="0"/>
                  <a:t>m=z−(k−1)</a:t>
                </a:r>
                <a:r>
                  <a:rPr lang="de-CH" sz="1600" dirty="0"/>
                  <a:t xml:space="preserve"> = 6 − 3 = 3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 dirty="0"/>
          </a:p>
        </p:txBody>
      </p:sp>
      <p:pic>
        <p:nvPicPr>
          <p:cNvPr id="7" name="Grafik 10" descr="Netzwerk mit nummerierten Knoten">
            <a:extLst>
              <a:ext uri="{FF2B5EF4-FFF2-40B4-BE49-F238E27FC236}">
                <a16:creationId xmlns:a16="http://schemas.microsoft.com/office/drawing/2014/main" id="{DFE1DB54-3B6F-91B1-9F3C-AFC6B34F7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4.2 – Netzwerkanalyse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Analyse von umfangreichen Netzwerken (Kap. 3.10)</a:t>
            </a:r>
          </a:p>
          <a:p>
            <a:pPr marL="0" indent="0">
              <a:buNone/>
            </a:pPr>
            <a:endParaRPr lang="de-CH" sz="1000" dirty="0"/>
          </a:p>
          <a:p>
            <a:r>
              <a:rPr lang="de-CH" sz="1600" dirty="0"/>
              <a:t>Zeichnet den Netzwerkgraphen mit den Zählrichtungen der Ströme.</a:t>
            </a:r>
          </a:p>
          <a:p>
            <a:r>
              <a:rPr lang="de-CH" sz="1600" dirty="0"/>
              <a:t>Stellt die linear unabhängigen Knotengleichungen auf.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 dirty="0"/>
          </a:p>
        </p:txBody>
      </p:sp>
      <p:pic>
        <p:nvPicPr>
          <p:cNvPr id="7" name="Grafik 10" descr="Netzwerk mit nummerierten Knoten">
            <a:extLst>
              <a:ext uri="{FF2B5EF4-FFF2-40B4-BE49-F238E27FC236}">
                <a16:creationId xmlns:a16="http://schemas.microsoft.com/office/drawing/2014/main" id="{51F905F2-D51D-BF10-0A07-0FF6BDFA5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4.2 – Netzwerkanalyse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Netzwerkgraph: nur Knoten und Zweige, ohne Bauteile. Die Zählrichtungen der Ströme werden aus dem Netzwerk übernommen.</a:t>
                </a:r>
              </a:p>
              <a:p>
                <a:r>
                  <a:rPr lang="de-CH" sz="1600" dirty="0"/>
                  <a:t>Knotengleichungen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(zufliessende Ströme positiv, abfliessende negativ):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Warum wird die Gleichung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 nicht benötigt?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CH" sz="1600" dirty="0"/>
                  <a:t> ist die (negative) Summe der anderen drei Gleichungen und liefert keine neue Information.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Netzwerkgraph: nur Knoten und Zweige, ohne Bauteile. Die Zählrichtungen der Ströme werden aus dem Netzwerk übernommen.</a:t>
                </a:r>
                <a:endParaRPr lang="de-CH" sz="1600" dirty="0"/>
              </a:p>
              <a:p>
                <a:r>
                  <a:rPr lang="de-CH" sz="1600" dirty="0"/>
                  <a:t xml:space="preserve">Knotengleichungen für </a:t>
                </a:r>
                <a:r>
                  <a:rPr lang="de-CH" sz="1600" dirty="0"/>
                  <a:t>K1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K2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K3</a:t>
                </a:r>
                <a:r>
                  <a:rPr lang="de-CH" sz="1600" dirty="0"/>
                  <a:t xml:space="preserve"> (zufliessende Ströme positiv, abfliessende negativ):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K1:   −I(q1)+I1−I2=0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K2:   I(q1)−I1−I3=0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K3:   I3−I4+I5=0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Warum wird die Gleichung für </a:t>
                </a:r>
                <a:r>
                  <a:rPr lang="de-CH" sz="1600" dirty="0"/>
                  <a:t>K0</a:t>
                </a:r>
                <a:r>
                  <a:rPr lang="de-CH" sz="1600" dirty="0"/>
                  <a:t xml:space="preserve"> nicht benötigt?</a:t>
                </a:r>
                <a:endParaRPr lang="de-CH" sz="1600" dirty="0"/>
              </a:p>
              <a:p>
                <a:r>
                  <a:rPr lang="de-CH" sz="1600" dirty="0"/>
                  <a:t>K0</a:t>
                </a:r>
                <a:r>
                  <a:rPr lang="de-CH" sz="1600" dirty="0"/>
                  <a:t xml:space="preserve">: </a:t>
                </a:r>
                <a:r>
                  <a:rPr lang="de-CH" sz="1600" dirty="0"/>
                  <a:t>I2+I4−I5=0</a:t>
                </a:r>
                <a:r>
                  <a:rPr lang="de-CH" sz="1600" dirty="0"/>
                  <a:t xml:space="preserve"> ist die (negative) Summe der anderen drei Gleichungen und liefert keine neue Information.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 dirty="0"/>
          </a:p>
        </p:txBody>
      </p:sp>
      <p:pic>
        <p:nvPicPr>
          <p:cNvPr id="10" name="Grafik 10" descr="Netzwerk mit nummerierten Knot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  <p:pic>
        <p:nvPicPr>
          <p:cNvPr id="11" name="Grafik 11" descr="Netzwerkgraph mit Zählrichtun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076910"/>
            <a:ext cx="5040000" cy="2041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4.3 – Netzwerkanalyse: Vollständiger Baum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Analyse von umfangreichen Netzwerken (Kap. 3.10)</a:t>
            </a:r>
          </a:p>
          <a:p>
            <a:pPr marL="0" indent="0">
              <a:buNone/>
            </a:pPr>
            <a:endParaRPr lang="de-CH" sz="1000" dirty="0"/>
          </a:p>
          <a:p>
            <a:pPr marL="0" indent="0">
              <a:buNone/>
            </a:pPr>
            <a:r>
              <a:rPr lang="de-CH" sz="1600" dirty="0"/>
              <a:t>Die Zählpfeile der Spannungen sind in der Grafik vorgegeben.</a:t>
            </a:r>
          </a:p>
          <a:p>
            <a:pPr marL="0" indent="0">
              <a:buNone/>
            </a:pPr>
            <a:endParaRPr lang="de-CH" sz="600" dirty="0"/>
          </a:p>
          <a:p>
            <a:pPr marL="0" indent="0">
              <a:buNone/>
            </a:pPr>
            <a:r>
              <a:rPr lang="de-CH" sz="1600" dirty="0"/>
              <a:t>Stellt die Maschengleichungen mit dem Verfahren des </a:t>
            </a:r>
            <a:r>
              <a:rPr lang="de-CH" sz="1600" b="1" dirty="0"/>
              <a:t>vollständigen Baumes</a:t>
            </a:r>
            <a:r>
              <a:rPr lang="de-CH" sz="1600" dirty="0"/>
              <a:t> auf.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 dirty="0"/>
          </a:p>
        </p:txBody>
      </p:sp>
      <p:pic>
        <p:nvPicPr>
          <p:cNvPr id="7" name="Grafik 10" descr="Netzwerk mit Knoten und Spannungszählpfeilen">
            <a:extLst>
              <a:ext uri="{FF2B5EF4-FFF2-40B4-BE49-F238E27FC236}">
                <a16:creationId xmlns:a16="http://schemas.microsoft.com/office/drawing/2014/main" id="{F1EB5390-2B11-DDC8-C0B7-2A6DF779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4.3 – Netzwerkanalyse: Vollständiger Baum – Lösung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Vollständiger Baum: Alle Knoten so über Zweige verbinden, dass keine geschlossene Masche entsteht (hier eine mögliche Wahl).</a:t>
                </a:r>
              </a:p>
              <a:p>
                <a:r>
                  <a:rPr lang="de-CH" sz="1600" dirty="0"/>
                  <a:t>Die nicht im Baum enthaltenen Zweige sind die Verbindungszweige: hier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Anzahl Verbindungszweige = Anzahl Maschengleichungen = 3</a:t>
                </a:r>
              </a:p>
              <a:p>
                <a:r>
                  <a:rPr lang="de-CH" sz="1600" dirty="0"/>
                  <a:t>Jede Masche enthält genau einen Verbindungszweig und wird sonst über den Baum geschlossen. So sind alle Maschengleichungen linear unabhängig.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Vollständiger Baum: Alle Knoten so über Zweige verbinden, dass keine geschlossene Masche entsteht (hier eine mögliche Wahl).</a:t>
                </a:r>
                <a:endParaRPr lang="de-CH" sz="1600" dirty="0"/>
              </a:p>
              <a:p>
                <a:r>
                  <a:rPr lang="de-CH" sz="1600" dirty="0"/>
                  <a:t xml:space="preserve">Die nicht im Baum enthaltenen Zweige sind die Verbindungszweige: hier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R4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R2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r>
                  <a:rPr lang="de-CH" sz="1600" dirty="0"/>
                  <a:t>Anzahl Verbindungszweige = Anzahl Maschengleichungen = 3</a:t>
                </a:r>
                <a:endParaRPr lang="de-CH" sz="1600" dirty="0"/>
              </a:p>
              <a:p>
                <a:r>
                  <a:rPr lang="de-CH" sz="1600" dirty="0"/>
                  <a:t>Jede Masche enthält genau einen Verbindungszweig und wird sonst über den Baum geschlossen. So sind alle Maschengleichungen linear unabhängig.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 dirty="0"/>
          </a:p>
        </p:txBody>
      </p:sp>
      <p:pic>
        <p:nvPicPr>
          <p:cNvPr id="10" name="Grafik 10" descr="Netzwerk mit Knoten und Spannungszählpfeil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  <p:pic>
        <p:nvPicPr>
          <p:cNvPr id="11" name="Grafik 11" descr="Vollständiger Ba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076910"/>
            <a:ext cx="5040000" cy="2041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4.3 – Netzwerkanalyse: Vollständiger Baum – Lösung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Umlaufsinn im Uhrzeigersinn: Spannungen in Umlaufrichtung positiv, entgegen der Umlaufrichtung negativ.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Mit dem Ohm’schen Gesetz die Spannungen durch die Ströme ersetzen: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 dirty="0"/>
          </a:p>
        </p:txBody>
      </p:sp>
      <p:pic>
        <p:nvPicPr>
          <p:cNvPr id="10" name="Grafik 10" descr="Masche M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600" y="1412875"/>
            <a:ext cx="3850476" cy="1560000"/>
          </a:xfrm>
          <a:prstGeom prst="rect">
            <a:avLst/>
          </a:prstGeom>
        </p:spPr>
      </p:pic>
      <p:pic>
        <p:nvPicPr>
          <p:cNvPr id="11" name="Grafik 11" descr="Masche M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00" y="3032875"/>
            <a:ext cx="3850476" cy="1560000"/>
          </a:xfrm>
          <a:prstGeom prst="rect">
            <a:avLst/>
          </a:prstGeom>
        </p:spPr>
      </p:pic>
      <p:pic>
        <p:nvPicPr>
          <p:cNvPr id="12" name="Grafik 12" descr="Masche M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600" y="4652875"/>
            <a:ext cx="3850476" cy="15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4.4 – Netzwerkanalyse: Auftrennung der Maschen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Analyse von umfangreichen Netzwerken (Kap. 3.10)</a:t>
            </a:r>
          </a:p>
          <a:p>
            <a:pPr marL="0" indent="0">
              <a:buNone/>
            </a:pPr>
            <a:endParaRPr lang="de-CH" sz="1000" dirty="0"/>
          </a:p>
          <a:p>
            <a:pPr marL="0" indent="0">
              <a:buNone/>
            </a:pPr>
            <a:r>
              <a:rPr lang="de-CH" sz="1600" dirty="0"/>
              <a:t>Stellt die Maschengleichungen mit dem Verfahren der </a:t>
            </a:r>
            <a:r>
              <a:rPr lang="de-CH" sz="1600" b="1" dirty="0"/>
              <a:t>Auftrennung der Maschen</a:t>
            </a:r>
            <a:r>
              <a:rPr lang="de-CH" sz="1600" dirty="0"/>
              <a:t> auf.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 dirty="0"/>
          </a:p>
        </p:txBody>
      </p:sp>
      <p:pic>
        <p:nvPicPr>
          <p:cNvPr id="7" name="Grafik 10" descr="Netzwerk mit Knoten und Spannungszählpfeilen">
            <a:extLst>
              <a:ext uri="{FF2B5EF4-FFF2-40B4-BE49-F238E27FC236}">
                <a16:creationId xmlns:a16="http://schemas.microsoft.com/office/drawing/2014/main" id="{FA687017-491F-B477-3E10-5C17E7F36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4.4 – Netzwerkanalyse: Auftrennung der Maschen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Analyse von umfangreichen Netzwerken (Kap. 3.10)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Eine beliebige Masche wählen und die Gleichung aufstellen. Danach die Masche an einem Zweig auftrennen: Dieser Zweig darf in den weiteren Maschen nicht mehr vorkommen.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Danach den Zweig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200" i="1" dirty="0"/>
                  <a:t> auftrennen.</a:t>
                </a:r>
                <a:endParaRPr lang="de-CH" sz="1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Danach den Zweig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200" i="1" dirty="0"/>
                  <a:t> auftrennen.</a:t>
                </a:r>
                <a:endParaRPr lang="de-CH" sz="1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Die beiden Verfahren liefern unterschiedliche Gleichungssysteme. Ist das ein Problem?</a:t>
                </a:r>
              </a:p>
              <a:p>
                <a:r>
                  <a:rPr lang="de-CH" sz="1600" dirty="0"/>
                  <a:t>Nein: Beide Systeme sind linear unabhängig und führen zusammen mit den Knotengleichungen auf dieselben Ströme und Spannungen.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213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 dirty="0"/>
          </a:p>
        </p:txBody>
      </p:sp>
      <p:pic>
        <p:nvPicPr>
          <p:cNvPr id="10" name="Grafik 10" descr="Masche M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600" y="1412875"/>
            <a:ext cx="3850476" cy="1560000"/>
          </a:xfrm>
          <a:prstGeom prst="rect">
            <a:avLst/>
          </a:prstGeom>
        </p:spPr>
      </p:pic>
      <p:pic>
        <p:nvPicPr>
          <p:cNvPr id="11" name="Grafik 11" descr="Masche M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00" y="3032875"/>
            <a:ext cx="3850476" cy="1560000"/>
          </a:xfrm>
          <a:prstGeom prst="rect">
            <a:avLst/>
          </a:prstGeom>
        </p:spPr>
      </p:pic>
      <p:pic>
        <p:nvPicPr>
          <p:cNvPr id="12" name="Grafik 12" descr="Masche M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600" y="4652875"/>
            <a:ext cx="3850476" cy="15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Übungsaufgabe Moodle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6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sz="1600" dirty="0"/>
                  <a:t>Bestimmt die Spannungen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sz="1600" dirty="0"/>
                  <a:t xml:space="preserve">Bestimmt die Spannungen </a:t>
                </a:r>
                <a:r>
                  <a:rPr lang="de-CH" sz="1600" dirty="0"/>
                  <a:t>U1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U2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U3</a:t>
                </a:r>
                <a:r>
                  <a:rPr lang="de-CH" sz="1600" dirty="0"/>
                  <a:t>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32</a:t>
            </a:fld>
            <a:endParaRPr lang="de-CH" noProof="0" dirty="0"/>
          </a:p>
        </p:txBody>
      </p:sp>
      <p:pic>
        <p:nvPicPr>
          <p:cNvPr id="10" name="Grafik 10" descr="Moodle-Aufgab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227621"/>
            <a:ext cx="5040000" cy="323050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6 (1/2)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Masche links (112 V, 12 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10 V):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112 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=12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+10 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=112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−12 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−10 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=90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Masche Mitte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16 V oben,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=16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=90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−16 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=74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Masche rechts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16 V unten):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+16 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=74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−16 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=58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 xml:space="preserve">Masche links (112 V, 12 V, </a:t>
                </a:r>
                <a:r>
                  <a:rPr lang="de-CH" sz="1600" dirty="0"/>
                  <a:t>U1</a:t>
                </a:r>
                <a:r>
                  <a:rPr lang="de-CH" sz="1600" dirty="0"/>
                  <a:t>, 10 V):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112 V=12 V+U1+10 V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U1=112 V−12 V−10 V=90 V</a:t>
                </a:r>
                <a:endParaRPr lang="de-CH" sz="1600" dirty="0"/>
              </a:p>
              <a:p>
                <a:r>
                  <a:rPr lang="de-CH" sz="1600" dirty="0"/>
                  <a:t>Masche Mitte (</a:t>
                </a:r>
                <a:r>
                  <a:rPr lang="de-CH" sz="1600" dirty="0"/>
                  <a:t>U1</a:t>
                </a:r>
                <a:r>
                  <a:rPr lang="de-CH" sz="1600" dirty="0"/>
                  <a:t xml:space="preserve">, 16 V oben, </a:t>
                </a:r>
                <a:r>
                  <a:rPr lang="de-CH" sz="1600" dirty="0"/>
                  <a:t>U2</a:t>
                </a:r>
                <a:r>
                  <a:rPr lang="de-CH" sz="1600" dirty="0"/>
                  <a:t>):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U1=16 V+U2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U2=90 V−16 V=74 V</a:t>
                </a:r>
                <a:endParaRPr lang="de-CH" sz="1600" dirty="0"/>
              </a:p>
              <a:p>
                <a:r>
                  <a:rPr lang="de-CH" sz="1600" dirty="0"/>
                  <a:t>Masche rechts (</a:t>
                </a:r>
                <a:r>
                  <a:rPr lang="de-CH" sz="1600" dirty="0"/>
                  <a:t>U2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U3</a:t>
                </a:r>
                <a:r>
                  <a:rPr lang="de-CH" sz="1600" dirty="0"/>
                  <a:t>, 16 V unten):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U2=U3+16 V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U3=74 V−16 V=58 V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33</a:t>
            </a:fld>
            <a:endParaRPr lang="de-CH" noProof="0" dirty="0"/>
          </a:p>
        </p:txBody>
      </p:sp>
      <p:pic>
        <p:nvPicPr>
          <p:cNvPr id="10" name="Grafik 10" descr="Moodle-Aufgab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227621"/>
            <a:ext cx="5040000" cy="3230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6 (2/2)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34</a:t>
            </a:fld>
            <a:endParaRPr lang="de-CH" noProof="0" dirty="0"/>
          </a:p>
        </p:txBody>
      </p:sp>
      <p:pic>
        <p:nvPicPr>
          <p:cNvPr id="10" name="Grafik 10" descr="Moodle-Aufgab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6488223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6 (2/2)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liegt direkt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direkt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 Ohm’sches Gesetz: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−1.56 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≈−71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μA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0.564 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≈26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μA</m:t>
                      </m:r>
                    </m:oMath>
                  </m:oMathPara>
                </a14:m>
                <a:endParaRPr lang="de-CH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liegt zwischen der obersten und der untersten Klemme. Maschengleichung: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liegt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−1.56 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+0.564 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≈−45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μA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Negatives Vorzeichen: Der Strom fliesst entgegen der Zählpfeilrichtung.</a:t>
                </a:r>
              </a:p>
              <a:p>
                <a:pPr marL="0" indent="0">
                  <a:buNone/>
                </a:pPr>
                <a:r>
                  <a:rPr lang="de-CH" sz="1200" i="1" dirty="0"/>
                  <a:t>22 kΩ hat zwei signifikante Stellen, also werden auch die Ergebnisse so angegeben.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R1</a:t>
                </a:r>
                <a:r>
                  <a:rPr lang="de-CH" sz="1600" dirty="0"/>
                  <a:t xml:space="preserve"> liegt direkt an </a:t>
                </a:r>
                <a:r>
                  <a:rPr lang="de-CH" sz="1600" dirty="0"/>
                  <a:t>U1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 direkt an </a:t>
                </a:r>
                <a:r>
                  <a:rPr lang="de-CH" sz="1600" dirty="0"/>
                  <a:t>U2</a:t>
                </a:r>
                <a:r>
                  <a:rPr lang="de-CH" sz="1600" dirty="0"/>
                  <a:t>. Ohm’sches Gesetz: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I1=(U1)(R1)=(−1.56 V)(22 kΩ)≈−71 μA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I2=(U2)(R2)=(0.564 V)(22 kΩ)≈26 μA</a:t>
                </a:r>
                <a:endParaRPr lang="de-CH" sz="1600" dirty="0"/>
              </a:p>
              <a:p>
                <a:r>
                  <a:rPr lang="de-CH" sz="1600" dirty="0"/>
                  <a:t>R3</a:t>
                </a:r>
                <a:r>
                  <a:rPr lang="de-CH" sz="1600" dirty="0"/>
                  <a:t xml:space="preserve"> liegt zwischen der obersten und der untersten Klemme. Maschengleichung: An </a:t>
                </a:r>
                <a:r>
                  <a:rPr lang="de-CH" sz="1600" dirty="0"/>
                  <a:t>R3</a:t>
                </a:r>
                <a:r>
                  <a:rPr lang="de-CH" sz="1600" dirty="0"/>
                  <a:t xml:space="preserve"> liegt die Spannung </a:t>
                </a:r>
                <a:r>
                  <a:rPr lang="de-CH" sz="1600" dirty="0"/>
                  <a:t>U1+U2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I3=(U1+U2)(R3)=(−1.56 V+0.564 V)(22 kΩ)≈−45 μA</a:t>
                </a:r>
                <a:endParaRPr lang="de-CH" sz="1600" dirty="0"/>
              </a:p>
              <a:p>
                <a:r>
                  <a:rPr lang="de-CH" sz="1600" dirty="0"/>
                  <a:t>Negatives Vorzeichen: Der Strom fliesst entgegen der Zählpfeilrichtung.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22 kΩ hat zwei signifikante Stellen, also werden auch die Ergebnisse so angegeben.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35</a:t>
            </a:fld>
            <a:endParaRPr lang="de-CH" noProof="0" dirty="0"/>
          </a:p>
        </p:txBody>
      </p:sp>
      <p:pic>
        <p:nvPicPr>
          <p:cNvPr id="10" name="Grafik 10" descr="Moodle-Aufgab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3775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U_Template.potx" id="{11673716-FB81-4392-B2DC-68DDA437F931}" vid="{03D18D2F-5578-46DC-A982-D3FF1019311F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2339</Words>
  <Application>Microsoft Office PowerPoint</Application>
  <PresentationFormat>Widescreen</PresentationFormat>
  <Paragraphs>358</Paragraphs>
  <Slides>35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ETH Zürich</vt:lpstr>
      <vt:lpstr>Netzwerke und Schaltungen Übungsstunde Woche 6</vt:lpstr>
      <vt:lpstr>Offene Fragen von letzter Woche?</vt:lpstr>
      <vt:lpstr>Theoriebeispiele zu Schlüsselkonzepten</vt:lpstr>
      <vt:lpstr>Überlagerungsprinzip</vt:lpstr>
      <vt:lpstr>Überlagerungsprinzip – Quellen ausschalten</vt:lpstr>
      <vt:lpstr>Überlagerungsprinzip – Rezept</vt:lpstr>
      <vt:lpstr>Beispiel 1.1 – Überlagerungsprinzip</vt:lpstr>
      <vt:lpstr>Beispiel 1.1 – Überlagerungsprinzip – Lösung (1/2)</vt:lpstr>
      <vt:lpstr>Beispiel 1.1 – Überlagerungsprinzip – Lösung (2/2)</vt:lpstr>
      <vt:lpstr>Beispiel 2.1 – Ersatzstromquelle</vt:lpstr>
      <vt:lpstr>Beispiel 2.1 – Ersatzstromquelle – Lösung (1/3)</vt:lpstr>
      <vt:lpstr>Beispiel 2.1 – Ersatzstromquelle – Lösung (2/3)</vt:lpstr>
      <vt:lpstr>Beispiel 2.1 – Ersatzstromquelle – Lösung (3/3)</vt:lpstr>
      <vt:lpstr>Reale Quellen – Ersatzschaltbilder</vt:lpstr>
      <vt:lpstr>Reale Quellen – Kenngrössen bestimmen</vt:lpstr>
      <vt:lpstr>Beispiel 3.1 – Leistungsanpassung</vt:lpstr>
      <vt:lpstr>Beispiel 3.1 – Leistungsanpassung – Lösung</vt:lpstr>
      <vt:lpstr>Leistung an realen Quellen</vt:lpstr>
      <vt:lpstr>Beispiel 3.2 – Leistungsanpassung</vt:lpstr>
      <vt:lpstr>Beispiel 3.2 – Leistungsanpassung – Lösung (1/2)</vt:lpstr>
      <vt:lpstr>Beispiel 3.2 – Leistungsanpassung – Lösung (2/2)</vt:lpstr>
      <vt:lpstr>Beispiel 4.1 – Netzwerkanalyse</vt:lpstr>
      <vt:lpstr>Beispiel 4.1 – Netzwerkanalyse – Lösung</vt:lpstr>
      <vt:lpstr>Beispiel 4.2 – Netzwerkanalyse</vt:lpstr>
      <vt:lpstr>Beispiel 4.2 – Netzwerkanalyse – Lösung</vt:lpstr>
      <vt:lpstr>Beispiel 4.3 – Netzwerkanalyse: Vollständiger Baum</vt:lpstr>
      <vt:lpstr>Beispiel 4.3 – Netzwerkanalyse: Vollständiger Baum – Lösung (1/2)</vt:lpstr>
      <vt:lpstr>Beispiel 4.3 – Netzwerkanalyse: Vollständiger Baum – Lösung (2/2)</vt:lpstr>
      <vt:lpstr>Beispiel 4.4 – Netzwerkanalyse: Auftrennung der Maschen</vt:lpstr>
      <vt:lpstr>Beispiel 4.4 – Netzwerkanalyse: Auftrennung der Maschen – Lösung</vt:lpstr>
      <vt:lpstr>Übungsaufgabe Moodle</vt:lpstr>
      <vt:lpstr>Moodle Übungsstunde Woche 6 (1/2)</vt:lpstr>
      <vt:lpstr>Moodle Übungsstunde Woche 6 (1/2) – Lösung</vt:lpstr>
      <vt:lpstr>Moodle Übungsstunde Woche 6 (2/2)</vt:lpstr>
      <vt:lpstr>Moodle Übungsstunde Woche 6 (2/2) – Lösung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Gfrörer  Tino</dc:creator>
  <cp:lastModifiedBy>Gfrörer  Tino</cp:lastModifiedBy>
  <cp:revision>159</cp:revision>
  <dcterms:created xsi:type="dcterms:W3CDTF">2026-09-04T10:51:08Z</dcterms:created>
  <dcterms:modified xsi:type="dcterms:W3CDTF">2026-10-20T19:50:04Z</dcterms:modified>
</cp:coreProperties>
</file>