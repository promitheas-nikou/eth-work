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01" r:id="rId2"/>
    <p:sldId id="302" r:id="rId3"/>
    <p:sldId id="303" r:id="rId4"/>
    <p:sldId id="304" r:id="rId5"/>
    <p:sldId id="306" r:id="rId6"/>
    <p:sldId id="305" r:id="rId7"/>
    <p:sldId id="307" r:id="rId8"/>
    <p:sldId id="308" r:id="rId9"/>
    <p:sldId id="309" r:id="rId10"/>
    <p:sldId id="317" r:id="rId11"/>
    <p:sldId id="311" r:id="rId12"/>
    <p:sldId id="312" r:id="rId13"/>
    <p:sldId id="318" r:id="rId14"/>
    <p:sldId id="314" r:id="rId15"/>
    <p:sldId id="319" r:id="rId16"/>
    <p:sldId id="31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7387D-CEB4-42A6-B6BD-77D5A8C0C8DB}" v="2" dt="2026-10-28T18:57:24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4355" autoAdjust="0"/>
  </p:normalViewPr>
  <p:slideViewPr>
    <p:cSldViewPr snapToGrid="0" showGuides="1">
      <p:cViewPr varScale="1">
        <p:scale>
          <a:sx n="107" d="100"/>
          <a:sy n="10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28.10.2026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28.10.2026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28.10.2026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max-academy.de/contentPlayer/60425210c81eb7006fab3ef6/60211de8f2666c0065f6ecb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max-academy.de/contentPlayer/60425210c81eb7006fab3ef6/60211de8f2666c0065f6ecb5" TargetMode="Externa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max-academy.de/contentPlayer/60425210c81eb7006fab3ef6/60211de8f2666c0065f6ecb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2800" noProof="0" dirty="0"/>
              <a:t>Netzwerke und Schaltungen Übungsstunde Woche 7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 b="1" noProof="0" dirty="0"/>
              <a:t>Name</a:t>
            </a:r>
          </a:p>
          <a:p>
            <a:r>
              <a:rPr lang="de-CH"/>
              <a:t>pnikou</a:t>
            </a:r>
            <a:r>
              <a:rPr lang="de-CH" noProof="0"/>
              <a:t>@student.ethz.ch</a:t>
            </a:r>
            <a:endParaRPr lang="de-CH" noProof="0">
              <a:cs typeface="Arial"/>
            </a:endParaRPr>
          </a:p>
          <a:p>
            <a:r>
              <a:rPr lang="de-CH" noProof="0" dirty="0"/>
              <a:t>29. Oktober 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Quiz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Offene Fragen von der ersten Semesterhälfte?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Theoriebeispiele zu Schlüsselkonzepten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Stern-Dreieck-Umwandlung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Hilft, wenn Serie- und Parallelschaltungen nicht weiterführen. An den Knoten 1, 2, 3 verhalten sich beide Schaltungen gleich.</a:t>
                </a:r>
              </a:p>
              <a:p>
                <a:pPr marL="0" indent="0">
                  <a:buNone/>
                </a:pPr>
                <a:r>
                  <a:rPr lang="de-CH" sz="1600" b="1" dirty="0"/>
                  <a:t>Dreieck → Stern:</a:t>
                </a:r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Analog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2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200" i="1" dirty="0"/>
                  <a:t>: Produkt der anliegenden durch Summe aller Dreieckswiderstände.</a:t>
                </a:r>
                <a:endParaRPr lang="de-CH" sz="1200" dirty="0"/>
              </a:p>
              <a:p>
                <a:pPr marL="0" indent="0">
                  <a:buNone/>
                </a:pPr>
                <a:r>
                  <a:rPr lang="de-CH" sz="1600" b="1" dirty="0"/>
                  <a:t>Stern → Dreieck:</a:t>
                </a:r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Analog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de-CH" sz="12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de-CH" sz="1200" i="1" dirty="0"/>
                  <a:t> (im Nenner der gegenüberliegende Sternwiderstand).</a:t>
                </a:r>
                <a:endParaRPr lang="de-CH" sz="1200" dirty="0"/>
              </a:p>
              <a:p>
                <a:pPr marL="0" indent="0">
                  <a:buNone/>
                </a:pPr>
                <a:r>
                  <a:rPr lang="de-CH" sz="1600" dirty="0"/>
                  <a:t>Drei gleiche Widerstände: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sub>
                        </m:sSub>
                      </m:num>
                      <m:den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Hilft, wenn Serie- und Parallelschaltungen nicht weiterführen. An den Knoten 1, 2, 3 verhalten sich beide Schaltungen gleich.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b="1" dirty="0"/>
                  <a:t>Dreieck → Stern: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R1=(R(12)R(31))(R(12)+R(23)+R(31))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 xml:space="preserve">Analog </a:t>
                </a:r>
                <a:r>
                  <a:rPr lang="de-CH" sz="1200" dirty="0"/>
                  <a:t>R2</a:t>
                </a:r>
                <a:r>
                  <a:rPr lang="de-CH" sz="1200" i="1" dirty="0"/>
                  <a:t xml:space="preserve">, </a:t>
                </a:r>
                <a:r>
                  <a:rPr lang="de-CH" sz="1200" dirty="0"/>
                  <a:t>R3</a:t>
                </a:r>
                <a:r>
                  <a:rPr lang="de-CH" sz="1200" i="1" dirty="0"/>
                  <a:t>: Produkt der anliegenden durch Summe aller Dreieckswiderstände.</a:t>
                </a:r>
                <a:endParaRPr lang="de-CH" sz="1200" dirty="0"/>
              </a:p>
              <a:p>
                <a:pPr marL="0" indent="0">
                  <a:buNone/>
                </a:pPr>
                <a:r>
                  <a:rPr lang="de-CH" sz="1600" b="1" dirty="0"/>
                  <a:t>Stern → Dreieck: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R(12)=R1+R2+(R1R2)(R3)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 xml:space="preserve">Analog </a:t>
                </a:r>
                <a:r>
                  <a:rPr lang="de-CH" sz="1200" dirty="0"/>
                  <a:t>R(23)</a:t>
                </a:r>
                <a:r>
                  <a:rPr lang="de-CH" sz="1200" i="1" dirty="0"/>
                  <a:t xml:space="preserve">, </a:t>
                </a:r>
                <a:r>
                  <a:rPr lang="de-CH" sz="1200" dirty="0"/>
                  <a:t>R(31)</a:t>
                </a:r>
                <a:r>
                  <a:rPr lang="de-CH" sz="1200" i="1" dirty="0"/>
                  <a:t xml:space="preserve"> (im Nenner der gegenüberliegende Sternwiderstand).</a:t>
                </a:r>
                <a:endParaRPr lang="de-CH" sz="1200" dirty="0"/>
              </a:p>
              <a:p>
                <a:pPr marL="0" indent="0">
                  <a:buNone/>
                </a:pPr>
                <a:r>
                  <a:rPr lang="de-CH" sz="1600" dirty="0"/>
                  <a:t xml:space="preserve">Drei gleiche Widerstände: </a:t>
                </a:r>
                <a:r>
                  <a:rPr lang="de-CH" sz="1600" dirty="0"/>
                  <a:t>RY=(RΔ)(3)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  <p:pic>
        <p:nvPicPr>
          <p:cNvPr id="10" name="Grafik 10" descr="Dreieckschaltung und äquivalente Sternschaltu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758444"/>
            <a:ext cx="5040000" cy="2168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 – Stern-Dreieck-Umwandlung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Gegeben ist das nebenstehende Netzwerk mit den Klemmen A und B.</a:t>
                </a:r>
              </a:p>
              <a:p>
                <a:pPr marL="0" indent="0">
                  <a:buNone/>
                </a:pPr>
                <a:endParaRPr lang="de-CH" sz="600" dirty="0"/>
              </a:p>
              <a:p>
                <a:r>
                  <a:rPr lang="de-CH" sz="1600" dirty="0"/>
                  <a:t>Welcher Ansatz sollte zur Berechnung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gewählt werden?</a:t>
                </a:r>
              </a:p>
              <a:p>
                <a:r>
                  <a:rPr lang="de-CH" sz="1600" dirty="0"/>
                  <a:t>Berechnet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 r="-104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 dirty="0"/>
          </a:p>
        </p:txBody>
      </p:sp>
      <p:pic>
        <p:nvPicPr>
          <p:cNvPr id="10" name="Grafik 10" descr="Brückenschaltung mit R1 bis R5 zwischen den Klemmen A und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2920480"/>
            <a:ext cx="5040000" cy="1844790"/>
          </a:xfrm>
          <a:prstGeom prst="rect">
            <a:avLst/>
          </a:prstGeom>
        </p:spPr>
      </p:pic>
      <p:sp>
        <p:nvSpPr>
          <p:cNvPr id="40" name="Quelle 40"/>
          <p:cNvSpPr txBox="1"/>
          <p:nvPr/>
        </p:nvSpPr>
        <p:spPr>
          <a:xfrm>
            <a:off x="731838" y="4805270"/>
            <a:ext cx="5040000" cy="26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CH" sz="1000" i="1" dirty="0">
                <a:hlinkClick r:id="rId4"/>
              </a:rPr>
              <a:t>Netzwerk: M. Strohrmann (H.ErT.Z-Online), max-academy.de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 – Stern-Dreieck-Umwandlung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Ansatz: Keine Serie- oder Parallelschaltung (Brückenschaltung). Das Dreieck aus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(oben) in einen Stern umwandeln.</a:t>
                </a:r>
              </a:p>
              <a:p>
                <a:r>
                  <a:rPr lang="de-CH" sz="1600" dirty="0"/>
                  <a:t>Sternwiderstände (unten):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in Serie, diese Zweige parallel,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in Serie dazu: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52" t="-1380" r="-81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 dirty="0"/>
          </a:p>
        </p:txBody>
      </p:sp>
      <p:pic>
        <p:nvPicPr>
          <p:cNvPr id="10" name="Grafik 10" descr="Dreieck aus R1, R2 und R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665480"/>
            <a:ext cx="5040000" cy="1844790"/>
          </a:xfrm>
          <a:prstGeom prst="rect">
            <a:avLst/>
          </a:prstGeom>
        </p:spPr>
      </p:pic>
      <p:pic>
        <p:nvPicPr>
          <p:cNvPr id="11" name="Grafik 11" descr="Netzwerk nach der Umwandlung in den Stern RA, RC, 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4175480"/>
            <a:ext cx="5040000" cy="1844790"/>
          </a:xfrm>
          <a:prstGeom prst="rect">
            <a:avLst/>
          </a:prstGeom>
        </p:spPr>
      </p:pic>
      <p:sp>
        <p:nvSpPr>
          <p:cNvPr id="40" name="Quelle 40"/>
          <p:cNvSpPr txBox="1"/>
          <p:nvPr/>
        </p:nvSpPr>
        <p:spPr>
          <a:xfrm>
            <a:off x="731838" y="3550270"/>
            <a:ext cx="5040000" cy="26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CH" sz="1000" i="1" dirty="0">
                <a:hlinkClick r:id="rId5"/>
              </a:rPr>
              <a:t>Netzwerk: M. Strohrmann (H.ErT.Z-Online), max-academy.de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Beispiel 1 – Stern-Dreieck-Umwandlung – Lösung (Alternative)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600" dirty="0"/>
                  <a:t> bilden ein Dreieck, zwischen C, D und B (oben). Umwandlung in einen Stern (unten):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R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R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de-CH" sz="1600" dirty="0"/>
                  <a:t> in Serie, diese Zweige parallel,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de-CH" sz="1600" dirty="0"/>
                  <a:t> in Serie dazu: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Beide Wege führen auf denselben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2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200" i="1" dirty="0"/>
                  <a:t>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sz="1600" dirty="0"/>
                  <a:t>Stern-Dreieck-Umwandlung (Kap. 3.8.2)</a:t>
                </a: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 xml:space="preserve">Auch </a:t>
                </a:r>
                <a:r>
                  <a:rPr lang="de-CH" sz="1600" dirty="0"/>
                  <a:t>R3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R4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R5</a:t>
                </a:r>
                <a:r>
                  <a:rPr lang="de-CH" sz="1600" dirty="0"/>
                  <a:t xml:space="preserve"> bilden ein Dreieck, zwischen C, D und B (oben). Umwandlung in einen Stern (unten):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RB=(R4R5)(R3+R4+R5)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R′C=(R3R4)(R3+R4+R5)   R′D=(R3R5)(R3+R4+R5)</a:t>
                </a:r>
                <a:endParaRPr lang="de-CH" sz="1600" dirty="0"/>
              </a:p>
              <a:p>
                <a:r>
                  <a:rPr lang="de-CH" sz="1600" dirty="0"/>
                  <a:t>R1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R′C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R′D</a:t>
                </a:r>
                <a:r>
                  <a:rPr lang="de-CH" sz="1600" dirty="0"/>
                  <a:t xml:space="preserve"> in Serie, diese Zweige parallel, </a:t>
                </a:r>
                <a:r>
                  <a:rPr lang="de-CH" sz="1600" dirty="0"/>
                  <a:t>RB</a:t>
                </a:r>
                <a:r>
                  <a:rPr lang="de-CH" sz="1600" dirty="0"/>
                  <a:t xml:space="preserve"> in Serie dazu: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R(AB)=((R1+R′C)∥ (R2+R′D))+RB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 xml:space="preserve">Beide Wege führen auf denselben Widerstand </a:t>
                </a:r>
                <a:r>
                  <a:rPr lang="de-CH" sz="1200" dirty="0"/>
                  <a:t>R(AB)</a:t>
                </a:r>
                <a:r>
                  <a:rPr lang="de-CH" sz="1200" i="1" dirty="0"/>
                  <a:t>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pic>
        <p:nvPicPr>
          <p:cNvPr id="10" name="Grafik 10" descr="Dreieck aus R3, R4 und R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665480"/>
            <a:ext cx="5040000" cy="1844790"/>
          </a:xfrm>
          <a:prstGeom prst="rect">
            <a:avLst/>
          </a:prstGeom>
        </p:spPr>
      </p:pic>
      <p:pic>
        <p:nvPicPr>
          <p:cNvPr id="11" name="Grafik 11" descr="Netzwerk nach der Umwandlung in den Stern RB, R'C, R'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175480"/>
            <a:ext cx="5040000" cy="1844790"/>
          </a:xfrm>
          <a:prstGeom prst="rect">
            <a:avLst/>
          </a:prstGeom>
        </p:spPr>
      </p:pic>
      <p:sp>
        <p:nvSpPr>
          <p:cNvPr id="40" name="Quelle 40"/>
          <p:cNvSpPr txBox="1"/>
          <p:nvPr/>
        </p:nvSpPr>
        <p:spPr>
          <a:xfrm>
            <a:off x="731838" y="3550270"/>
            <a:ext cx="5040000" cy="26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CH" sz="1000" i="1" dirty="0">
                <a:hlinkClick r:id="rId4"/>
              </a:rPr>
              <a:t>Netzwerk: M. Strohrmann (H.ErT.Z-Online), max-academy.de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Übungsaufgabe Moodle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4870-5535-2EB3-882E-A0829A93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35CC-3591-B903-CC30-3933EFE2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</a:t>
            </a:r>
            <a:r>
              <a:rPr lang="de-CH" dirty="0"/>
              <a:t> (1/3) </a:t>
            </a:r>
            <a:endParaRPr lang="de-CH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F453-32DB-5D8D-4F7F-9600A4EE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F7D0A-65A7-98B3-6180-4052B731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0" name="Grafik 10" descr="Moodle-Aufgabe 1">
            <a:extLst>
              <a:ext uri="{FF2B5EF4-FFF2-40B4-BE49-F238E27FC236}">
                <a16:creationId xmlns:a16="http://schemas.microsoft.com/office/drawing/2014/main" id="{2E1465BE-E680-F765-0D6D-1C2EC714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1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95476554-BE84-9A3D-6D76-8ECF2AF79305}"/>
                  </a:ext>
                </a:extLst>
              </p:cNvPr>
              <p:cNvSpPr txBox="1"/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indent="0">
                  <a:buNone/>
                </a:pPr>
                <a:r>
                  <a:rPr lang="de-CH" sz="1400" dirty="0"/>
                  <a:t>Ersetzt die gegebenen Zusammenschaltungen a) und b) aktiver und passiver Elemente durch eine Ersatzspannungsquelle c) zwischen den Klemmen A und B und bestimmt jeweils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qers</m:t>
                        </m:r>
                      </m:sub>
                    </m:sSub>
                  </m:oMath>
                </a14:m>
                <a:r>
                  <a:rPr lang="de-CH" sz="14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ers</m:t>
                        </m:r>
                      </m:sub>
                    </m:sSub>
                  </m:oMath>
                </a14:m>
                <a:r>
                  <a:rPr lang="de-CH" sz="1400" dirty="0"/>
                  <a:t>.</a:t>
                </a:r>
              </a:p>
              <a:p>
                <a:pPr marL="0" indent="0">
                  <a:buNone/>
                </a:pPr>
                <a:endParaRPr lang="de-CH" sz="1400" dirty="0"/>
              </a:p>
              <a:p>
                <a:pPr marL="0" indent="0">
                  <a:buNone/>
                </a:pPr>
                <a:r>
                  <a:rPr lang="de-CH" sz="1400" dirty="0"/>
                  <a:t>Es gilt dabei: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12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400" dirty="0"/>
                  <a:t> = 6.0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24 V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46 V.</a:t>
                </a:r>
              </a:p>
            </p:txBody>
          </p:sp>
        </mc:Choice>
        <mc:Fallback xmlns="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95476554-BE84-9A3D-6D76-8ECF2AF7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blipFill>
                <a:blip r:embed="rId3"/>
                <a:stretch>
                  <a:fillRect l="-2177" t="-735" r="-2177" b="-183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73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(1/3) – Lösung 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Leerlaufspannung: An den offenen Klemmen fliesst kein Strom. Spannungsteiler aus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6.0 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+6.0 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24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=8.0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Innenwiderstand: Quelle ausschalten (Kurzschluss). Von den Klemmen aus sind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parallel: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6.0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12 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+6.0 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=4.0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 xml:space="preserve">Leerlaufspannung: An den offenen Klemmen fliesst kein Strom. Spannungsteiler aus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R3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U(qers)=(R3)(R1+R3)⋅ U(q1)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U(qers)=(6.0 Ω)(12 Ω+6.0 Ω)⋅ 24 V=8.0 V</a:t>
                </a:r>
                <a:endParaRPr lang="de-CH" sz="1600" dirty="0"/>
              </a:p>
              <a:p>
                <a:r>
                  <a:rPr lang="de-CH" sz="1600" dirty="0"/>
                  <a:t xml:space="preserve">Innenwiderstand: Quelle ausschalten (Kurzschluss). Von den Klemmen aus sind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R3</a:t>
                </a:r>
                <a:r>
                  <a:rPr lang="de-CH" sz="1600" dirty="0"/>
                  <a:t xml:space="preserve"> parallel: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R(ers)=R1∥ R3=(R1R3)(R1+R3)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R(ers)=(12 Ω⋅ 6.0 Ω)(12 Ω+6.0 Ω)=4.0 Ω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1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/>
              <p:cNvSpPr txBox="1"/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indent="0">
                  <a:buNone/>
                </a:pPr>
                <a:r>
                  <a:rPr lang="de-CH" sz="1400" dirty="0"/>
                  <a:t>Ersetzt die gegebenen Zusammenschaltungen a) und b) aktiver und passiver Elemente durch eine Ersatzspannungsquelle c) zwischen den Klemmen A und B und bestimmt jeweils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qers</m:t>
                        </m:r>
                      </m:sub>
                    </m:sSub>
                  </m:oMath>
                </a14:m>
                <a:r>
                  <a:rPr lang="de-CH" sz="14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ers</m:t>
                        </m:r>
                      </m:sub>
                    </m:sSub>
                  </m:oMath>
                </a14:m>
                <a:r>
                  <a:rPr lang="de-CH" sz="1400" dirty="0"/>
                  <a:t>.</a:t>
                </a:r>
              </a:p>
              <a:p>
                <a:pPr marL="0" indent="0">
                  <a:buNone/>
                </a:pPr>
                <a:endParaRPr lang="de-CH" sz="1400" dirty="0"/>
              </a:p>
              <a:p>
                <a:pPr marL="0" indent="0">
                  <a:buNone/>
                </a:pPr>
                <a:r>
                  <a:rPr lang="de-CH" sz="1400" dirty="0"/>
                  <a:t>Es gilt dabei: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12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400" dirty="0"/>
                  <a:t> = 6.0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24 V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46 V.</a:t>
                </a:r>
              </a:p>
            </p:txBody>
          </p:sp>
        </mc:Choice>
        <mc:Fallback xmlns="">
          <p:sp>
            <p:nvSpPr>
              <p:cNvPr id="60" name="Aufgabentex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blipFill>
                <a:blip r:embed="rId3"/>
                <a:stretch>
                  <a:fillRect l="-2177" t="-735" r="-2177" b="-183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(1/3) – Lösung 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Überlagerungsprinzip: Leerlaufspannung für jede Quelle einzeln berechnen und addieren.</a:t>
                </a:r>
              </a:p>
              <a:p>
                <a:r>
                  <a:rPr lang="de-CH" sz="1600" dirty="0"/>
                  <a:t>Nur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aktiv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kurzgeschlossen): Spannungsteiler aus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d>
                      <m:d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zeigt entgegen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qers</m:t>
                        </m:r>
                      </m:sub>
                    </m:sSub>
                  </m:oMath>
                </a14:m>
                <a:r>
                  <a:rPr lang="de-CH" sz="1600" dirty="0"/>
                  <a:t>, daher negativ: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∥ </m:t>
                              </m:r>
                              <m:d>
                                <m:d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de-CH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aktiv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kurzgeschlossen): Spannungsteiler aus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∥ 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⋅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qers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≈7.3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Innenwiderstand: beide Quellen kurzschliessen: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ers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∥ 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=4.0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Drei gleiche Widerstände (12 Ω) parallel ergeben einen Drittel des Werts.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Überlagerungsprinzip: Leerlaufspannung für jede Quelle einzeln berechnen und addieren.</a:t>
                </a:r>
                <a:endParaRPr lang="de-CH" sz="1600" dirty="0"/>
              </a:p>
              <a:p>
                <a:r>
                  <a:rPr lang="de-CH" sz="1600" dirty="0"/>
                  <a:t xml:space="preserve">Nur </a:t>
                </a:r>
                <a:r>
                  <a:rPr lang="de-CH" sz="1600" dirty="0"/>
                  <a:t>U(q1)</a:t>
                </a:r>
                <a:r>
                  <a:rPr lang="de-CH" sz="1600" dirty="0"/>
                  <a:t xml:space="preserve"> aktiv (</a:t>
                </a:r>
                <a:r>
                  <a:rPr lang="de-CH" sz="1600" dirty="0"/>
                  <a:t>U(q3)</a:t>
                </a:r>
                <a:r>
                  <a:rPr lang="de-CH" sz="1600" dirty="0"/>
                  <a:t xml:space="preserve"> kurzgeschlossen): Spannungsteiler aus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R2∥ (R3+R4)</a:t>
                </a:r>
                <a:r>
                  <a:rPr lang="de-CH" sz="1600" dirty="0"/>
                  <a:t xml:space="preserve">. </a:t>
                </a:r>
                <a:r>
                  <a:rPr lang="de-CH" sz="1600" dirty="0"/>
                  <a:t>U(q1)</a:t>
                </a:r>
                <a:r>
                  <a:rPr lang="de-CH" sz="1600" dirty="0"/>
                  <a:t xml:space="preserve"> zeigt entgegen </a:t>
                </a:r>
                <a:r>
                  <a:rPr lang="de-CH" sz="1600" dirty="0"/>
                  <a:t>U(qers)</a:t>
                </a:r>
                <a:r>
                  <a:rPr lang="de-CH" sz="1600" dirty="0"/>
                  <a:t>, daher negativ: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U(qers1)=−(R2∥ (R3+R4))(R1+(R2∥ (R3+R4)))⋅ U(q1)</a:t>
                </a:r>
                <a:endParaRPr lang="de-CH" sz="1600" dirty="0"/>
              </a:p>
              <a:p>
                <a:r>
                  <a:rPr lang="de-CH" sz="1600" dirty="0"/>
                  <a:t xml:space="preserve">Nur </a:t>
                </a:r>
                <a:r>
                  <a:rPr lang="de-CH" sz="1600" dirty="0"/>
                  <a:t>U(q3)</a:t>
                </a:r>
                <a:r>
                  <a:rPr lang="de-CH" sz="1600" dirty="0"/>
                  <a:t xml:space="preserve"> aktiv (</a:t>
                </a:r>
                <a:r>
                  <a:rPr lang="de-CH" sz="1600" dirty="0"/>
                  <a:t>U(q1)</a:t>
                </a:r>
                <a:r>
                  <a:rPr lang="de-CH" sz="1600" dirty="0"/>
                  <a:t xml:space="preserve"> kurzgeschlossen): Spannungsteiler aus </a:t>
                </a:r>
                <a:r>
                  <a:rPr lang="de-CH" sz="1600" dirty="0"/>
                  <a:t>R3+R4</a:t>
                </a:r>
                <a:r>
                  <a:rPr lang="de-CH" sz="1600" dirty="0"/>
                  <a:t xml:space="preserve"> und </a:t>
                </a:r>
                <a:r>
                  <a:rPr lang="de-CH" sz="1600" dirty="0"/>
                  <a:t>R1∥ R2</a:t>
                </a:r>
                <a:r>
                  <a:rPr lang="de-CH" sz="1600" dirty="0"/>
                  <a:t>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U(qers3)=(R1∥ R2)((R3+R4)+(R1∥ R2))⋅ U(q3)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U(qers)=U(qers1)+U(qers3)≈7.3 V</a:t>
                </a:r>
                <a:endParaRPr lang="de-CH" sz="1600" dirty="0"/>
              </a:p>
              <a:p>
                <a:r>
                  <a:rPr lang="de-CH" sz="1600" dirty="0"/>
                  <a:t>Innenwiderstand: beide Quellen kurzschliessen: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R(ers)=R1∥ R2∥ (R3+R4)=4.0 Ω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Drei gleiche Widerstände (12 Ω) parallel ergeben einen Drittel des Werts.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 dirty="0"/>
          </a:p>
        </p:txBody>
      </p:sp>
      <p:pic>
        <p:nvPicPr>
          <p:cNvPr id="10" name="Grafik 10" descr="Moodle-Aufgab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1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/>
              <p:cNvSpPr txBox="1"/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de-CH" sz="1400" dirty="0"/>
                  <a:t>Ersetzt die gegebenen Zusammenschaltungen a) und b) aktiver und passiver Elemente durch eine Ersatzspannungsquelle c) zwischen den Klemmen A und B und bestimmt jeweils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qers</m:t>
                        </m:r>
                      </m:sub>
                    </m:sSub>
                  </m:oMath>
                </a14:m>
                <a:r>
                  <a:rPr lang="de-CH" sz="14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ers</m:t>
                        </m:r>
                      </m:sub>
                    </m:sSub>
                  </m:oMath>
                </a14:m>
                <a:r>
                  <a:rPr lang="de-CH" sz="1400" dirty="0"/>
                  <a:t>.</a:t>
                </a:r>
              </a:p>
              <a:p>
                <a:endParaRPr lang="de-CH" sz="1400" dirty="0"/>
              </a:p>
              <a:p>
                <a:r>
                  <a:rPr lang="de-CH" sz="1400" dirty="0"/>
                  <a:t>Es gilt dabei: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12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400" dirty="0"/>
                  <a:t> = 6.0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24 V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46 V.</a:t>
                </a:r>
              </a:p>
            </p:txBody>
          </p:sp>
        </mc:Choice>
        <mc:Fallback xmlns="">
          <p:sp>
            <p:nvSpPr>
              <p:cNvPr id="60" name="Aufgabentex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012875"/>
                <a:ext cx="5040000" cy="1657954"/>
              </a:xfrm>
              <a:prstGeom prst="rect">
                <a:avLst/>
              </a:prstGeom>
              <a:blipFill>
                <a:blip r:embed="rId3"/>
                <a:stretch>
                  <a:fillRect l="-2177" t="-735" r="-2177" b="-183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F1A1-BA20-2C89-2F1F-46E48BF5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952B-C778-8F12-C1CB-DFA85425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(2/3)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87FD-095E-2666-CA77-9D30B3B9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A73D6-E059-CEA1-41CE-97DDBDB5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 dirty="0"/>
          </a:p>
        </p:txBody>
      </p:sp>
      <p:pic>
        <p:nvPicPr>
          <p:cNvPr id="10" name="Grafik 10" descr="Moodle-Aufgabe 2">
            <a:extLst>
              <a:ext uri="{FF2B5EF4-FFF2-40B4-BE49-F238E27FC236}">
                <a16:creationId xmlns:a16="http://schemas.microsoft.com/office/drawing/2014/main" id="{975EC6D0-260D-77D5-D0E4-4DABB59A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1975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9B4819E5-1729-C4B2-2973-2BB8E085B82D}"/>
                  </a:ext>
                </a:extLst>
              </p:cNvPr>
              <p:cNvSpPr txBox="1"/>
              <p:nvPr/>
            </p:nvSpPr>
            <p:spPr>
              <a:xfrm>
                <a:off x="731838" y="3588277"/>
                <a:ext cx="5040000" cy="1836208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indent="0">
                  <a:buNone/>
                </a:pPr>
                <a:r>
                  <a:rPr lang="de-CH" sz="1400" dirty="0"/>
                  <a:t>Drei Gleichspannungsquellen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7.0 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5.0 V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4.0 V mit Innenwiderständen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3.0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0.25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1.5 Ω sind in Reihe geschaltet. Wie gross ist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400" dirty="0"/>
                  <a:t> zwischen den Klemmen A und B? </a:t>
                </a:r>
              </a:p>
              <a:p>
                <a:pPr marL="0" indent="0">
                  <a:buNone/>
                </a:pPr>
                <a:r>
                  <a:rPr lang="de-CH" sz="1400" dirty="0"/>
                  <a:t>Welchen Wert hat der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iges</m:t>
                        </m:r>
                      </m:sub>
                    </m:sSub>
                  </m:oMath>
                </a14:m>
                <a:r>
                  <a:rPr lang="de-CH" sz="1400" dirty="0"/>
                  <a:t> der resultierenden Ersatzspannungsquelle zwischen den Klemmen A und B?</a:t>
                </a:r>
              </a:p>
              <a:p>
                <a:pPr marL="0" indent="0">
                  <a:buNone/>
                </a:pPr>
                <a:r>
                  <a:rPr lang="de-CH" sz="1400" i="1" dirty="0"/>
                  <a:t>Hinweis: Überlegt, wie das Schaltbild der Ersatzspannungsquelle aussehen könnte.</a:t>
                </a:r>
              </a:p>
            </p:txBody>
          </p:sp>
        </mc:Choice>
        <mc:Fallback xmlns="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9B4819E5-1729-C4B2-2973-2BB8E085B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588277"/>
                <a:ext cx="5040000" cy="1836208"/>
              </a:xfrm>
              <a:prstGeom prst="rect">
                <a:avLst/>
              </a:prstGeom>
              <a:blipFill>
                <a:blip r:embed="rId3"/>
                <a:stretch>
                  <a:fillRect l="-2177" t="-664" r="-1935" b="-265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D19B0E-9D30-A438-E14C-8D5ED4DAF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61515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(2/3)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Im Leerlauf fliesst kein Strom: An den Innenwiderständen liegt keine Spannung.</a:t>
                </a:r>
              </a:p>
              <a:p>
                <a:r>
                  <a:rPr lang="de-CH" sz="1600" dirty="0"/>
                  <a:t>Umlauf von A nach B: Quellenspannungen in Richtung von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positiv, entgegen negativ: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=7.0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−5.0 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−4.0 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=−2.0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Negatives Vorzeichen: Klemme A ist negativ gegenüber Klemme B.</a:t>
                </a:r>
              </a:p>
              <a:p>
                <a:r>
                  <a:rPr lang="de-CH" sz="1600" dirty="0"/>
                  <a:t>Innenwiderstände in Serie: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iges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iges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=3.0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+0.25 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+1.5 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≈4.8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Wie sieht die Ersatzspannungsquelle aus?</a:t>
                </a:r>
              </a:p>
              <a:p>
                <a:r>
                  <a:rPr lang="de-CH" sz="1600" dirty="0"/>
                  <a:t>Quelle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in Serie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iges</m:t>
                        </m:r>
                      </m:sub>
                    </m:sSub>
                  </m:oMath>
                </a14:m>
                <a:r>
                  <a:rPr lang="de-CH" sz="1600" dirty="0"/>
                  <a:t> zwischen A und B.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Im Leerlauf fliesst kein Strom: An den Innenwiderständen liegt keine Spannung.</a:t>
                </a:r>
                <a:endParaRPr lang="de-CH" sz="1600" dirty="0"/>
              </a:p>
              <a:p>
                <a:r>
                  <a:rPr lang="de-CH" sz="1600" dirty="0"/>
                  <a:t xml:space="preserve">Umlauf von A nach B: Quellenspannungen in Richtung von </a:t>
                </a:r>
                <a:r>
                  <a:rPr lang="de-CH" sz="1600" dirty="0"/>
                  <a:t>U(AB)</a:t>
                </a:r>
                <a:r>
                  <a:rPr lang="de-CH" sz="1600" dirty="0"/>
                  <a:t xml:space="preserve"> positiv, entgegen negativ: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U(AB)=U1−U2−U3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U(AB)=7.0 V−5.0 V−4.0 V=−2.0 V</a:t>
                </a:r>
                <a:endParaRPr lang="de-CH" sz="1600" dirty="0"/>
              </a:p>
              <a:p>
                <a:r>
                  <a:rPr lang="de-CH" sz="1600" dirty="0"/>
                  <a:t>Negatives Vorzeichen: Klemme A ist negativ gegenüber Klemme B.</a:t>
                </a:r>
                <a:endParaRPr lang="de-CH" sz="1600" dirty="0"/>
              </a:p>
              <a:p>
                <a:r>
                  <a:rPr lang="de-CH" sz="1600" dirty="0"/>
                  <a:t>Innenwiderstände in Serie: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R(iges)=R(i1)+R(i2)+R(i3)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R(iges)=3.0 Ω+0.25 Ω+1.5 Ω≈4.8 Ω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Wie sieht die Ersatzspannungsquelle aus?</a:t>
                </a:r>
                <a:endParaRPr lang="de-CH" sz="1600" dirty="0"/>
              </a:p>
              <a:p>
                <a:r>
                  <a:rPr lang="de-CH" sz="1600" dirty="0"/>
                  <a:t xml:space="preserve">Quelle mit </a:t>
                </a:r>
                <a:r>
                  <a:rPr lang="de-CH" sz="1600" dirty="0"/>
                  <a:t>U(AB)</a:t>
                </a:r>
                <a:r>
                  <a:rPr lang="de-CH" sz="1600" dirty="0"/>
                  <a:t xml:space="preserve"> in Serie mit </a:t>
                </a:r>
                <a:r>
                  <a:rPr lang="de-CH" sz="1600" dirty="0"/>
                  <a:t>R(iges)</a:t>
                </a:r>
                <a:r>
                  <a:rPr lang="de-CH" sz="1600" dirty="0"/>
                  <a:t xml:space="preserve"> zwischen A und B.</a:t>
                </a:r>
                <a:endParaRPr lang="de-CH" sz="16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 dirty="0"/>
          </a:p>
        </p:txBody>
      </p:sp>
      <p:pic>
        <p:nvPicPr>
          <p:cNvPr id="10" name="Grafik 10" descr="Moodle-Aufgab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5040000" cy="19754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/>
              <p:cNvSpPr txBox="1"/>
              <p:nvPr/>
            </p:nvSpPr>
            <p:spPr>
              <a:xfrm>
                <a:off x="731838" y="3588277"/>
                <a:ext cx="5040000" cy="1836208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de-CH" sz="1400" dirty="0"/>
                  <a:t>Drei Gleichspannungsquellen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7.0 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5.0 V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4.0 V mit Innenwiderständen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3.0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0.25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1.5 Ω sind in Reihe geschaltet. Wie gross ist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400" dirty="0"/>
                  <a:t> zwischen den Klemmen A und B? </a:t>
                </a:r>
              </a:p>
              <a:p>
                <a:r>
                  <a:rPr lang="de-CH" sz="1400" dirty="0"/>
                  <a:t>Welchen Wert hat der Innenwiderstand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iges</m:t>
                        </m:r>
                      </m:sub>
                    </m:sSub>
                  </m:oMath>
                </a14:m>
                <a:r>
                  <a:rPr lang="de-CH" sz="1400" dirty="0"/>
                  <a:t> der resultierenden Ersatzspannungsquelle zwischen den Klemmen A und B?</a:t>
                </a:r>
              </a:p>
              <a:p>
                <a:r>
                  <a:rPr lang="de-CH" sz="1400" i="1" dirty="0"/>
                  <a:t>Hinweis: Überlegt, wie das Schaltbild der Ersatzspannungsquelle aussehen könnte.</a:t>
                </a:r>
              </a:p>
            </p:txBody>
          </p:sp>
        </mc:Choice>
        <mc:Fallback xmlns="">
          <p:sp>
            <p:nvSpPr>
              <p:cNvPr id="60" name="Aufgabentex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588277"/>
                <a:ext cx="5040000" cy="1836208"/>
              </a:xfrm>
              <a:prstGeom prst="rect">
                <a:avLst/>
              </a:prstGeom>
              <a:blipFill>
                <a:blip r:embed="rId3"/>
                <a:stretch>
                  <a:fillRect l="-2177" t="-664" r="-1935" b="-265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7D12-A3B1-1E35-EC37-69B46204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C35A-9D46-A33C-20A5-DCE471DD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(3/3)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9B70-34D8-E9C6-E31E-77B46431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D3F77-1554-5262-9C85-8CEC4F88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 dirty="0"/>
          </a:p>
        </p:txBody>
      </p:sp>
      <p:pic>
        <p:nvPicPr>
          <p:cNvPr id="10" name="Grafik 10" descr="Moodle-Aufgabe 3">
            <a:extLst>
              <a:ext uri="{FF2B5EF4-FFF2-40B4-BE49-F238E27FC236}">
                <a16:creationId xmlns:a16="http://schemas.microsoft.com/office/drawing/2014/main" id="{EB5C0115-E097-2024-A158-21BD990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3586374" cy="20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CB234FB1-FBC8-0DFC-4594-E153F844A1A7}"/>
                  </a:ext>
                </a:extLst>
              </p:cNvPr>
              <p:cNvSpPr txBox="1"/>
              <p:nvPr/>
            </p:nvSpPr>
            <p:spPr>
              <a:xfrm>
                <a:off x="731838" y="3612875"/>
                <a:ext cx="5040000" cy="75899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indent="0">
                  <a:buNone/>
                </a:pPr>
                <a:r>
                  <a:rPr lang="de-CH" sz="1400" dirty="0"/>
                  <a:t>Die obige Schaltung enthält die Widerstände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55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40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45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400" dirty="0"/>
                  <a:t> = 50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400" dirty="0"/>
                  <a:t> = 60 Ω. Bestimmt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b="0" i="1" noProof="0" smtClean="0">
                            <a:latin typeface="Cambria Math" panose="02040503050406030204" pitchFamily="18" charset="0"/>
                          </a:rPr>
                          <m:t>ges</m:t>
                        </m:r>
                      </m:sub>
                    </m:sSub>
                  </m:oMath>
                </a14:m>
                <a:r>
                  <a:rPr lang="de-CH" sz="1400" dirty="0"/>
                  <a:t> der Anordnung.</a:t>
                </a:r>
              </a:p>
            </p:txBody>
          </p:sp>
        </mc:Choice>
        <mc:Fallback xmlns="">
          <p:sp>
            <p:nvSpPr>
              <p:cNvPr id="60" name="Aufgabentext 60">
                <a:extLst>
                  <a:ext uri="{FF2B5EF4-FFF2-40B4-BE49-F238E27FC236}">
                    <a16:creationId xmlns:a16="http://schemas.microsoft.com/office/drawing/2014/main" id="{CB234FB1-FBC8-0DFC-4594-E153F844A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612875"/>
                <a:ext cx="5040000" cy="758990"/>
              </a:xfrm>
              <a:prstGeom prst="rect">
                <a:avLst/>
              </a:prstGeom>
              <a:blipFill>
                <a:blip r:embed="rId3"/>
                <a:stretch>
                  <a:fillRect l="-2177" t="-1613" r="-363" b="-483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14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</p:spPr>
        <p:txBody>
          <a:bodyPr anchor="t">
            <a:normAutofit/>
          </a:bodyPr>
          <a:lstStyle/>
          <a:p>
            <a:r>
              <a:rPr lang="de-CH" noProof="0" dirty="0"/>
              <a:t>Moodle Übungsstunde Woche 7 (3/3)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>Gleiche Brückenschaltung wie in Beispiel 1 (Knoten links A, oben C, unten D). Dreieck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600" dirty="0"/>
                  <a:t> in Stern umwandeln: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55 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40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140 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≈15.71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55 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45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140 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≈17.68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40 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⋅ 45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140 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≈12.86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Gesamtwiderstand: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ges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</m:t>
                          </m:r>
                          <m:d>
                            <m:dPr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de-CH" sz="1600" b="0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b="0" i="1" noProof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ges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≈15.71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67.68 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∥ 72.86 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ges</m:t>
                          </m:r>
                        </m:sub>
                      </m:sSub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≈15.71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+35.09 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≈51 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Mit ungerundeten Zwischenergebnissen weiterrechnen!</a:t>
                </a:r>
                <a:endParaRPr lang="de-CH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sz="1600" dirty="0"/>
                  <a:t xml:space="preserve">Gleiche Brückenschaltung wie in Beispiel 1 (Knoten links A, oben C, unten D). Dreieck </a:t>
                </a:r>
                <a:r>
                  <a:rPr lang="de-CH" sz="1600" dirty="0"/>
                  <a:t>R1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R2</a:t>
                </a:r>
                <a:r>
                  <a:rPr lang="de-CH" sz="1600" dirty="0"/>
                  <a:t xml:space="preserve">, </a:t>
                </a:r>
                <a:r>
                  <a:rPr lang="de-CH" sz="1600" dirty="0"/>
                  <a:t>R3</a:t>
                </a:r>
                <a:r>
                  <a:rPr lang="de-CH" sz="1600" dirty="0"/>
                  <a:t xml:space="preserve"> in Stern umwandeln: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RA=(R1R2)(R1+R2+R3)=(55 Ω⋅ 40 Ω)(140 Ω)≈15.71 Ω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RC=(R1R3)(R1+R2+R3)=(55 Ω⋅ 45 Ω)(140 Ω)≈17.68 Ω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RD=(R2R3)(R1+R2+R3)=(40 Ω⋅ 45 Ω)(140 Ω)≈12.86 Ω</a:t>
                </a:r>
                <a:endParaRPr lang="de-CH" sz="1600" dirty="0"/>
              </a:p>
              <a:p>
                <a:r>
                  <a:rPr lang="de-CH" sz="1600" dirty="0"/>
                  <a:t>Gesamtwiderstand: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R(ges)=RA+((RC+R4)∥ (RD+R5))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R(ges)≈15.71 Ω+(67.68 Ω∥ 72.86 Ω)</a:t>
                </a:r>
                <a:endParaRPr lang="de-CH" sz="1600" dirty="0"/>
              </a:p>
              <a:p>
                <a:pPr marL="0" indent="0" algn="ctr">
                  <a:buNone/>
                </a:pPr>
                <a:r>
                  <a:rPr lang="de-CH" sz="1600" dirty="0"/>
                  <a:t>R(ges)≈15.71 Ω+35.09 Ω≈51 Ω</a:t>
                </a:r>
                <a:endParaRPr lang="de-CH" sz="1600" dirty="0"/>
              </a:p>
              <a:p>
                <a:pPr marL="0" indent="0">
                  <a:buNone/>
                </a:pPr>
                <a:r>
                  <a:rPr lang="de-CH" sz="1200" i="1" dirty="0"/>
                  <a:t>Mit ungerundeten Zwischenergebnissen weiterrechnen!</a:t>
                </a:r>
                <a:endParaRPr lang="de-CH" sz="1200" dirty="0"/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28.10.2026</a:t>
            </a:fld>
            <a:endParaRPr lang="de-CH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 dirty="0"/>
          </a:p>
        </p:txBody>
      </p:sp>
      <p:pic>
        <p:nvPicPr>
          <p:cNvPr id="10" name="Grafik 10" descr="Moodle-Aufgab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1412875"/>
            <a:ext cx="3586374" cy="20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Aufgabentext 60"/>
              <p:cNvSpPr txBox="1"/>
              <p:nvPr/>
            </p:nvSpPr>
            <p:spPr>
              <a:xfrm>
                <a:off x="731838" y="3612875"/>
                <a:ext cx="5040000" cy="75899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de-CH" sz="1400" dirty="0"/>
                  <a:t>Die obige Schaltung enthält die Widerstände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400" dirty="0"/>
                  <a:t> = 55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400" dirty="0"/>
                  <a:t> = 40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CH" sz="1400" dirty="0"/>
                  <a:t> = 45 Ω,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400" dirty="0"/>
                  <a:t> = 50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CH" sz="1400" dirty="0"/>
                  <a:t> = 60 Ω. Bestimmt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400" i="1">
                            <a:latin typeface="Cambria Math" panose="02040503050406030204" pitchFamily="18" charset="0"/>
                          </a:rPr>
                          <m:t>ges</m:t>
                        </m:r>
                      </m:sub>
                    </m:sSub>
                  </m:oMath>
                </a14:m>
                <a:r>
                  <a:rPr lang="de-CH" sz="1400" dirty="0"/>
                  <a:t> der Anordnung.</a:t>
                </a:r>
              </a:p>
            </p:txBody>
          </p:sp>
        </mc:Choice>
        <mc:Fallback xmlns="">
          <p:sp>
            <p:nvSpPr>
              <p:cNvPr id="60" name="Aufgabentex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8" y="3612875"/>
                <a:ext cx="5040000" cy="758990"/>
              </a:xfrm>
              <a:prstGeom prst="rect">
                <a:avLst/>
              </a:prstGeom>
              <a:blipFill>
                <a:blip r:embed="rId3"/>
                <a:stretch>
                  <a:fillRect l="-2177" t="-1613" r="-363" b="-483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Grafik 61" descr="Schaltung nach der Umwandlung in den Stern RA, RC, 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4571865"/>
            <a:ext cx="4647188" cy="1701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1203</Words>
  <Application>Microsoft Office PowerPoint</Application>
  <PresentationFormat>Widescreen</PresentationFormat>
  <Paragraphs>143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ETH Zürich</vt:lpstr>
      <vt:lpstr>Netzwerke und Schaltungen Übungsstunde Woche 7</vt:lpstr>
      <vt:lpstr>Quiz</vt:lpstr>
      <vt:lpstr>Offene Fragen von der ersten Semesterhälfte?</vt:lpstr>
      <vt:lpstr>Theoriebeispiele zu Schlüsselkonzepten</vt:lpstr>
      <vt:lpstr>Stern-Dreieck-Umwandlung</vt:lpstr>
      <vt:lpstr>Beispiel 1 – Stern-Dreieck-Umwandlung</vt:lpstr>
      <vt:lpstr>Beispiel 1 – Stern-Dreieck-Umwandlung – Lösung</vt:lpstr>
      <vt:lpstr>Beispiel 1 – Stern-Dreieck-Umwandlung – Lösung (Alternative)</vt:lpstr>
      <vt:lpstr>Übungsaufgabe Moodle</vt:lpstr>
      <vt:lpstr>Moodle Übungsstunde Woche 7 (1/3) </vt:lpstr>
      <vt:lpstr>Moodle Übungsstunde Woche 7 (1/3) – Lösung a)</vt:lpstr>
      <vt:lpstr>Moodle Übungsstunde Woche 7 (1/3) – Lösung b)</vt:lpstr>
      <vt:lpstr>Moodle Übungsstunde Woche 7 (2/3)</vt:lpstr>
      <vt:lpstr>Moodle Übungsstunde Woche 7 (2/3) – Lösung</vt:lpstr>
      <vt:lpstr>Moodle Übungsstunde Woche 7 (3/3)</vt:lpstr>
      <vt:lpstr>Moodle Übungsstunde Woche 7 (3/3) – Lösung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Gfrörer  Tino</cp:lastModifiedBy>
  <cp:revision>162</cp:revision>
  <dcterms:created xsi:type="dcterms:W3CDTF">2026-09-04T10:51:08Z</dcterms:created>
  <dcterms:modified xsi:type="dcterms:W3CDTF">2026-10-28T18:57:37Z</dcterms:modified>
</cp:coreProperties>
</file>