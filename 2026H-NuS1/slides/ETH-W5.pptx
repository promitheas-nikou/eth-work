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1" r:id="rId31"/>
    <p:sldId id="332" r:id="rId32"/>
    <p:sldId id="330" r:id="rId33"/>
    <p:sldId id="333" r:id="rId34"/>
    <p:sldId id="334" r:id="rId35"/>
    <p:sldId id="335" r:id="rId36"/>
    <p:sldId id="336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BC273-EF38-4003-9AD2-B46CBFE7D31B}" v="2" dt="2026-10-20T19:42:37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355" autoAdjust="0"/>
  </p:normalViewPr>
  <p:slideViewPr>
    <p:cSldViewPr snapToGrid="0" showGuides="1">
      <p:cViewPr varScale="1">
        <p:scale>
          <a:sx n="103" d="100"/>
          <a:sy n="103" d="100"/>
        </p:scale>
        <p:origin x="150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20.10.2026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20.10.2026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20.10.2026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2800" noProof="0" dirty="0"/>
              <a:t>Netzwerke und Schaltungen Übungsstunde Woche 5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b="1" noProof="0" dirty="0"/>
              <a:t>Name</a:t>
            </a:r>
          </a:p>
          <a:p>
            <a:r>
              <a:rPr lang="de-CH"/>
              <a:t>pnikou</a:t>
            </a:r>
            <a:r>
              <a:rPr lang="de-CH" noProof="0"/>
              <a:t>@student.ethz.ch</a:t>
            </a:r>
            <a:endParaRPr lang="de-CH" noProof="0">
              <a:cs typeface="Arial"/>
            </a:endParaRPr>
          </a:p>
          <a:p>
            <a:r>
              <a:rPr lang="de-CH" noProof="0" dirty="0"/>
              <a:t>15. Oktober 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Offene Fragen von letzter Woche?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Theoriebeispiele zu Schlüsselkonzepten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1.1 – Kirchhoff’sche Gleichungen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Kirchhoff’sche Gleichungen (Kap. 3.4)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Gegeben ist das nebenstehende Netzwerk mit einer idealen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sz="1600" dirty="0"/>
                  <a:t> (Zählpfeil vorgegeben).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Zeichnet alle weiteren Zählpfeile für Strom und Spannung ein:</a:t>
                </a:r>
              </a:p>
              <a:p>
                <a:r>
                  <a:rPr lang="de-CH" sz="1600" dirty="0"/>
                  <a:t>an der Quelle nach dem Generatorzählpfeilsystem</a:t>
                </a:r>
              </a:p>
              <a:p>
                <a:r>
                  <a:rPr lang="de-CH" sz="1600" dirty="0"/>
                  <a:t>an den Widerständen nach dem Verbraucherzählpfeilsystem</a:t>
                </a:r>
              </a:p>
              <a:p>
                <a:r>
                  <a:rPr lang="de-CH" sz="1600" dirty="0"/>
                  <a:t>und zwar so, dass alle Spannungen und Ströme positiv sind.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0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 dirty="0"/>
          </a:p>
        </p:txBody>
      </p:sp>
      <p:pic>
        <p:nvPicPr>
          <p:cNvPr id="10" name="Grafik 10" descr="Brücken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1.1 – Kirchhoff’sche Gleichungen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Kirchhoff’sche Gleichungen (Kap. 3.4)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Quelle (Generatorzählpfeilsystem):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zeigt durch die Quelle entgegen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, d.h.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tritt oben aus der Quelle aus.</a:t>
                </a:r>
              </a:p>
              <a:p>
                <a:r>
                  <a:rPr lang="de-CH" sz="1600" dirty="0"/>
                  <a:t>Widerstände (Verbraucherzählpfeilsystem):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CH" sz="1600" dirty="0"/>
                  <a:t> zeigen am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CH" sz="1600" dirty="0"/>
                  <a:t> in dieselbe Richtung.</a:t>
                </a:r>
              </a:p>
              <a:p>
                <a:r>
                  <a:rPr lang="de-CH" sz="1600" dirty="0"/>
                  <a:t>Im Widerstand fliesst der Strom vom höheren zum tieferen Potential: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zeigen nach unten.</a:t>
                </a:r>
              </a:p>
              <a:p>
                <a:r>
                  <a:rPr lang="de-CH" sz="1600" dirty="0"/>
                  <a:t>Brücke: Ohne den mittleren Widerstand wäre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e-CH" sz="1600" dirty="0"/>
                  <a:t> (Bezug: unterster Knoten).</a:t>
                </a:r>
              </a:p>
              <a:p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⇒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zeigen von b nach 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 r="-92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  <p:pic>
        <p:nvPicPr>
          <p:cNvPr id="10" name="Grafik 10" descr="Brücken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  <p:pic>
        <p:nvPicPr>
          <p:cNvPr id="11" name="Grafik 11" descr="Brückennetzwerk mit Zählpfeil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1.2 – Kirchhoff’sche Gleichungen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Kirchhoff’sche Gleichungen (Kap. 3.4)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Stellt eine Maschengleichung auf, welche alle Widerstände mit dem Wert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die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enthält.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 dirty="0"/>
          </a:p>
        </p:txBody>
      </p:sp>
      <p:pic>
        <p:nvPicPr>
          <p:cNvPr id="10" name="Grafik 10" descr="Brückennetzwerk mit Zählpfeil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1.2 – Kirchhoff’sche Gleichungen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Kirchhoff’sche Gleichungen (Kap. 3.4)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Masche: Quelle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rechts oben → Brücke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Mitte unten → zurück zur Quelle</a:t>
                </a:r>
              </a:p>
              <a:p>
                <a:r>
                  <a:rPr lang="de-CH" sz="1600" dirty="0"/>
                  <a:t>Umlaufsinn wählen (hier im Uhrzeigersinn): Spannungen in Umlaufrichtung positiv, entgegen der Umlaufrichtung negativ.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 r="-116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 dirty="0"/>
          </a:p>
        </p:txBody>
      </p:sp>
      <p:pic>
        <p:nvPicPr>
          <p:cNvPr id="10" name="Grafik 10" descr="Brückennetzwerk mit Zählpfeil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  <p:pic>
        <p:nvPicPr>
          <p:cNvPr id="11" name="Grafik 11" descr="Masche durch Quelle und alle Widerstände 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1.3 – Kirchhoff’sche Gleichungen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dirty="0"/>
              <a:t>Schlüsselkonzepte</a:t>
            </a:r>
          </a:p>
          <a:p>
            <a:pPr marL="0" indent="0">
              <a:buNone/>
            </a:pPr>
            <a:r>
              <a:rPr lang="de-CH" sz="1600" dirty="0"/>
              <a:t>Kirchhoff’sche Gleichungen (Kap. 3.4)</a:t>
            </a:r>
          </a:p>
          <a:p>
            <a:pPr marL="0" indent="0">
              <a:buNone/>
            </a:pPr>
            <a:endParaRPr lang="de-CH" sz="600" dirty="0"/>
          </a:p>
          <a:p>
            <a:pPr marL="0" indent="0">
              <a:buNone/>
            </a:pPr>
            <a:r>
              <a:rPr lang="de-CH" sz="1600" dirty="0"/>
              <a:t>Stellt die Knotengleichung für den untersten Knoten des Netzwerkes auf.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pic>
        <p:nvPicPr>
          <p:cNvPr id="10" name="Grafik 10" descr="Brückennetzwerk mit Zählpfeil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1.3 – Kirchhoff’sche Gleichungen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Kirchhoff’sche Gleichungen (Kap. 3.4)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Der unterste Knoten umfasst die ganze untere Leitung (alle Punkte haben dasselbe Potential).</a:t>
                </a:r>
              </a:p>
              <a:p>
                <a:r>
                  <a:rPr lang="de-CH" sz="1600" dirty="0"/>
                  <a:t>Zufliessende Ströme: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. Abfliessender Strom: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(zurück in die Quelle).</a:t>
                </a:r>
              </a:p>
              <a:p>
                <a:r>
                  <a:rPr lang="de-CH" sz="1600" dirty="0"/>
                  <a:t>Summe der zufliessenden Ströme = Summe der abfliessenden Ströme: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⇔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 r="-139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  <p:pic>
        <p:nvPicPr>
          <p:cNvPr id="10" name="Grafik 10" descr="Brückennetzwerk mit Zählpfeil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  <p:pic>
        <p:nvPicPr>
          <p:cNvPr id="11" name="Grafik 11" descr="Unterster Knoten markie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22402"/>
            <a:ext cx="5040000" cy="3040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Einfache Widerstandsnetzwerke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Berechnet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zwischen den Klemmen A und B.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0" name="Grafik 10" descr="Widerstands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00" y="1412875"/>
            <a:ext cx="3391476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Einfache Widerstandsnetzwerke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Links: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Serie, rechts: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Serie. Die beiden Zweige sind parallel, dazu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)+3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=(4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)+3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Parallelschaltung zweier Widerstände: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 dirty="0"/>
          </a:p>
        </p:txBody>
      </p:sp>
      <p:pic>
        <p:nvPicPr>
          <p:cNvPr id="10" name="Grafik 10" descr="Widerstands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00" y="1412875"/>
            <a:ext cx="3391476" cy="48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Berechnet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zwischen den Klemmen A und B.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Berechnet den Gesamtwiderstand </a:t>
                </a:r>
                <a:r>
                  <a:rPr lang="de-CH" sz="1600" dirty="0"/>
                  <a:t>R(AB)</a:t>
                </a:r>
                <a:r>
                  <a:rPr lang="de-CH" sz="1600" dirty="0"/>
                  <a:t xml:space="preserve"> zwischen den Klemmen A und B.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 dirty="0"/>
          </a:p>
        </p:txBody>
      </p:sp>
      <p:pic>
        <p:nvPicPr>
          <p:cNvPr id="10" name="Grafik 10" descr="Widerstandsnetzwerk (Leiter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3037230"/>
            <a:ext cx="5040000" cy="1611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(1/9)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1:</a:t>
                </a:r>
                <a:r>
                  <a:rPr lang="de-CH" sz="1600" dirty="0"/>
                  <a:t> Auf der Seite beginnen, die den Klemmen gegenüberliegt: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ganz links sind in Serie (vom gleichen Strom durchflossen).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1:</a:t>
                </a:r>
                <a:r>
                  <a:rPr lang="de-CH" sz="1600" dirty="0"/>
                  <a:t xml:space="preserve"> Auf der Seite beginnen, die den Klemmen gegenüberliegt: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ganz links sind in Serie (vom gleichen Strom durchflossen).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R+2R+R=4R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1: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(2/9)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2:</a:t>
                </a:r>
                <a:r>
                  <a:rPr lang="de-CH" sz="1600" dirty="0"/>
                  <a:t> Die beiden Widerstände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parallel (gleiche Spannung).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4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200" i="1" dirty="0"/>
                  <a:t>Zwei gleiche Widerstände parallel ergeben den halben Wert.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2:</a:t>
                </a:r>
                <a:r>
                  <a:rPr lang="de-CH" sz="1600" dirty="0"/>
                  <a:t xml:space="preserve"> Die beiden Widerstände </a:t>
                </a:r>
                <a:r>
                  <a:rPr lang="de-CH" sz="1600" dirty="0"/>
                  <a:t>4R</a:t>
                </a:r>
                <a:r>
                  <a:rPr lang="de-CH" sz="1600" dirty="0"/>
                  <a:t xml:space="preserve"> sind parallel (gleiche Spannung).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4R∥ 4R=(4R⋅ 4R)(4R+4R)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=(16R2)(8R)=2R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200" i="1" dirty="0"/>
                  <a:t>Zwei gleiche Widerstände parallel ergeben den halben Wert.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2: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(3/9)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3: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der obere Widerstand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in Serie.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3: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und der obere Widerstand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sind in Serie.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2R+R=3R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3: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(4/9)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4: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parallel.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3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4: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3R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3R</a:t>
                </a:r>
                <a:r>
                  <a:rPr lang="de-CH" sz="1600" dirty="0"/>
                  <a:t xml:space="preserve"> sind parallel.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3R∥ 3R=(3R⋅ 3R)(3R+3R)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=(9R2)(6R)=(3)(2)R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4: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(5/9)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5: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der obere Widerstand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CH" sz="1600" dirty="0"/>
                  <a:t> sind in Serie.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5: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(6/9)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6: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parallel.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6: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sind parallel.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2R∥ 2R=(2R⋅ 2R)(2R+2R)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=(4R2)(4R)=R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6: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(7/9)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7: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der obere Widerstand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in Serie.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7: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und der obere Widerstand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sind in Serie.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R+R=2R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7: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(8/9)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8: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parallel.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2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8:</a:t>
                </a:r>
                <a:r>
                  <a:rPr lang="de-CH" sz="1600" dirty="0"/>
                  <a:t xml:space="preserve">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2R</a:t>
                </a:r>
                <a:r>
                  <a:rPr lang="de-CH" sz="1600" dirty="0"/>
                  <a:t xml:space="preserve"> sind parallel.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2R∥ 2R=(2R⋅ 2R)(2R+2R)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=(4R2)(4R)=R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8: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Einfache Widerstandsnetzwerke – Lösung (9/9)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9:</a:t>
                </a:r>
                <a:r>
                  <a:rPr lang="de-CH" sz="1600" dirty="0"/>
                  <a:t> Die letzten beiden Widerstände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sind parallel.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Zwischen den Klemmen bleibt ein einziger Widerstand übrig: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Einfache Widerstandsnetzwerke (Kap. 3.5, S. 125–126)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b="1" dirty="0"/>
                  <a:t>Schritt 9:</a:t>
                </a:r>
                <a:r>
                  <a:rPr lang="de-CH" sz="1600" dirty="0"/>
                  <a:t xml:space="preserve"> Die letzten beiden Widerstände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 sind parallel.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R∥ R=(R⋅ R)(R+R)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=(R2)(2R)=(R)(2)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Zwischen den Klemmen bleibt ein einziger Widerstand übrig: </a:t>
                </a:r>
                <a:r>
                  <a:rPr lang="de-CH" sz="1600" dirty="0"/>
                  <a:t>R(AB)=(R)(2)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 dirty="0"/>
          </a:p>
        </p:txBody>
      </p:sp>
      <p:pic>
        <p:nvPicPr>
          <p:cNvPr id="10" name="Grafik 10" descr="Original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792875"/>
            <a:ext cx="5040000" cy="1611290"/>
          </a:xfrm>
          <a:prstGeom prst="rect">
            <a:avLst/>
          </a:prstGeom>
        </p:spPr>
      </p:pic>
      <p:pic>
        <p:nvPicPr>
          <p:cNvPr id="11" name="Grafik 11" descr="Netzwerk nach Schrit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92875"/>
            <a:ext cx="5040000" cy="16112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31838" y="14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Original: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838" y="3912875"/>
            <a:ext cx="3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CH" sz="1600" dirty="0"/>
              <a:t>Nach Schritt 9: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 – Spannungsteiler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Spannungs- und Stromteiler (Kap. 3.5.1 und 3.5.4)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Beim I²C-Bus ist die Datenleitung SDA über einen Pull-up-Widerstand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de-CH" sz="1600" dirty="0"/>
                  <a:t> = 10 kΩ mit der Versorgung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de-CH" sz="1600" dirty="0"/>
                  <a:t> = 3.3 V verbunden.</a:t>
                </a:r>
              </a:p>
              <a:p>
                <a:pPr marL="0" indent="0">
                  <a:buNone/>
                </a:pPr>
                <a:r>
                  <a:rPr lang="de-CH" sz="1600" dirty="0"/>
                  <a:t>Um eine logische 0 zu senden, schaltet ein Teilnehmer seinen Open-Collector-Ausgang durch. Dieser wird hier als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de-CH" sz="1600" dirty="0"/>
                  <a:t> = 1.0 kΩ gegen Masse modelliert.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Berechnet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</m:oMath>
                </a14:m>
                <a:r>
                  <a:rPr lang="de-CH" sz="1600" dirty="0"/>
                  <a:t> der Leitung, wenn der Treiber durchgeschaltet ist.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Spannungs- und Stromteiler (Kap. 3.5.1 und 3.5.4)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Beim I²C-Bus ist die Datenleitung SDA über einen Pull-up-Widerstand </a:t>
                </a:r>
                <a:r>
                  <a:rPr lang="de-CH" sz="1600" dirty="0"/>
                  <a:t>RP</a:t>
                </a:r>
                <a:r>
                  <a:rPr lang="de-CH" sz="1600" dirty="0"/>
                  <a:t xml:space="preserve"> = 10 kΩ mit der Versorgung </a:t>
                </a:r>
                <a:r>
                  <a:rPr lang="de-CH" sz="1600" dirty="0"/>
                  <a:t>U(DD)</a:t>
                </a:r>
                <a:r>
                  <a:rPr lang="de-CH" sz="1600" dirty="0"/>
                  <a:t xml:space="preserve"> = 3.3 V verbunden.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Um eine logische 0 zu senden, schaltet ein Teilnehmer seinen Open-Collector-Ausgang durch. Dieser wird hier als Widerstand </a:t>
                </a:r>
                <a:r>
                  <a:rPr lang="de-CH" sz="1600" dirty="0"/>
                  <a:t>RT</a:t>
                </a:r>
                <a:r>
                  <a:rPr lang="de-CH" sz="1600" dirty="0"/>
                  <a:t xml:space="preserve"> = 1.0 kΩ gegen Masse modelliert.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Berechnet die Spannung </a:t>
                </a:r>
                <a:r>
                  <a:rPr lang="de-CH" sz="1600" dirty="0"/>
                  <a:t>U(SDA)</a:t>
                </a:r>
                <a:r>
                  <a:rPr lang="de-CH" sz="1600" dirty="0"/>
                  <a:t xml:space="preserve"> der Leitung, wenn der Treiber durchgeschaltet ist.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 dirty="0"/>
          </a:p>
        </p:txBody>
      </p:sp>
      <p:pic>
        <p:nvPicPr>
          <p:cNvPr id="10" name="Grafik 10" descr="I2C Pull-up als Spannungstei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150670"/>
            <a:ext cx="5040000" cy="33844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3 – Spannungsteiler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Spannungs- und Stromteiler (Kap. 3.5.1 und 3.5.4)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Die Eingänge der Busteilnehmer sind hochohmig: Über SDA fliesst kein Strom ab. ⇒ unbelasteter Spannungsteiler</a:t>
                </a:r>
              </a:p>
              <a:p>
                <a:r>
                  <a:rPr lang="de-CH" sz="1600" dirty="0"/>
                  <a:t>Die Spannungen verhalten sich wie die Widerstände: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SDA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DD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SDA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=3.3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11 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≈0.30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⇒ Die Leitung liegt nahe bei 0 V: logisch 0 (LOW).</a:t>
                </a:r>
              </a:p>
              <a:p>
                <a:pPr marL="0" indent="0">
                  <a:buNone/>
                </a:pPr>
                <a:r>
                  <a:rPr lang="de-CH" sz="1600" dirty="0"/>
                  <a:t>Wie ist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</m:oMath>
                </a14:m>
                <a:r>
                  <a:rPr lang="de-CH" sz="1600" dirty="0"/>
                  <a:t> bei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→ ∞</m:t>
                    </m:r>
                  </m:oMath>
                </a14:m>
                <a:r>
                  <a:rPr lang="de-CH" sz="1600" dirty="0"/>
                  <a:t>?</a:t>
                </a:r>
              </a:p>
              <a:p>
                <a:r>
                  <a:rPr lang="de-CH" sz="1600" dirty="0"/>
                  <a:t>Treiber gesperrt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→ ∞</m:t>
                    </m:r>
                  </m:oMath>
                </a14:m>
                <a:r>
                  <a:rPr lang="de-CH" sz="1600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de-CH" sz="1600" dirty="0"/>
                  <a:t> = 3.3 V, d.h. logisch 1 (HIGH).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04" t="-1631" r="-11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 dirty="0"/>
          </a:p>
        </p:txBody>
      </p:sp>
      <p:pic>
        <p:nvPicPr>
          <p:cNvPr id="10" name="Grafik 10" descr="I2C Pull-up als Spannungstei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150670"/>
            <a:ext cx="5040000" cy="33844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 – Stromteiler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Spannungs- und Stromteiler (Kap. 3.5.1 und 3.5.4)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An eine ideale Stromquelle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de-CH" sz="1600" dirty="0"/>
                  <a:t> = 5.0 A werden zwei Lasten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 = 4.0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 = 1.0 Ω parallel angeschlossen.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Berechnet die Ströme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in den beiden Widerständen.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 r="-17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 dirty="0"/>
          </a:p>
        </p:txBody>
      </p:sp>
      <p:pic>
        <p:nvPicPr>
          <p:cNvPr id="10" name="Grafik 10" descr="Stromteiler an Strom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62714"/>
            <a:ext cx="5040000" cy="29603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4 – Stromteiler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Spannungs- und Stromteiler (Kap. 3.5.1 und 3.5.4)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Stromteiler: Die Teilströme verhalten sich wie die Leitwerte: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=5.0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=5.0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=4.0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Der grössere Strom fliesst durch den kleineren Widerstand.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4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 dirty="0"/>
          </a:p>
        </p:txBody>
      </p:sp>
      <p:pic>
        <p:nvPicPr>
          <p:cNvPr id="10" name="Grafik 10" descr="Stromteiler an Stromqu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362714"/>
            <a:ext cx="5040000" cy="29603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5.1 – Spannungsrichtige Widerstandsmessung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Mit einem Ampèremeter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 = 1.000 Ω) und einem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 = 50.00 kΩ) soll der Nennwert eines Widerstandes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nachgemessen werden. Die Spannungsquelle liefert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Welche Werte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 werden gemessen?</a:t>
                </a:r>
              </a:p>
              <a:p>
                <a:r>
                  <a:rPr lang="de-CH" sz="1600" dirty="0"/>
                  <a:t>Wie gross ist der daraus berechnete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mess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 und der relative Fehler?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Mit einem Ampèremeter (</a:t>
                </a:r>
                <a:r>
                  <a:rPr lang="de-CH" sz="1600" dirty="0"/>
                  <a:t>RA</a:t>
                </a:r>
                <a:r>
                  <a:rPr lang="de-CH" sz="1600" dirty="0"/>
                  <a:t xml:space="preserve"> = 1.000 Ω) und einem Voltmeter (</a:t>
                </a:r>
                <a:r>
                  <a:rPr lang="de-CH" sz="1600" dirty="0"/>
                  <a:t>RV</a:t>
                </a:r>
                <a:r>
                  <a:rPr lang="de-CH" sz="1600" dirty="0"/>
                  <a:t xml:space="preserve"> = 50.00 kΩ) soll der Nennwert eines Widerstandes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 = 1.000 kΩ nachgemessen werden. Die Spannungsquelle liefert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 = 100.0 V.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 xml:space="preserve">Welche Werte </a:t>
                </a:r>
                <a:r>
                  <a:rPr lang="de-CH" sz="1600" dirty="0"/>
                  <a:t>IA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UV</a:t>
                </a:r>
                <a:r>
                  <a:rPr lang="de-CH" sz="1600" dirty="0"/>
                  <a:t xml:space="preserve"> werden gemessen?</a:t>
                </a:r>
                <a:endParaRPr lang="de-CH" sz="1600" dirty="0"/>
              </a:p>
              <a:p>
                <a:r>
                  <a:rPr lang="de-CH" sz="1600" dirty="0"/>
                  <a:t xml:space="preserve">Wie gross ist der daraus berechnete Widerstand </a:t>
                </a:r>
                <a:r>
                  <a:rPr lang="de-CH" sz="1600" dirty="0"/>
                  <a:t>R(mess)=(UV)(IA)</a:t>
                </a:r>
                <a:r>
                  <a:rPr lang="de-CH" sz="1600" dirty="0"/>
                  <a:t xml:space="preserve"> und der relative Fehler?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 dirty="0"/>
          </a:p>
        </p:txBody>
      </p:sp>
      <p:pic>
        <p:nvPicPr>
          <p:cNvPr id="10" name="Grafik 10" descr="Spannungsrichtige Messschalt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350530"/>
            <a:ext cx="5040000" cy="29846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5.1 – Spannungsrichtige Widerstandsmessung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Voltmeter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 (Spannung richtig), Ampèremeter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50.00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+50.00 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≈980.4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≈0.1019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(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)≈99.90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mess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≈980.4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Relativer Fehler: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mess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≈−1.961 %</m:t>
                    </m:r>
                  </m:oMath>
                </a14:m>
                <a:r>
                  <a:rPr lang="de-CH" sz="1600" dirty="0"/>
                  <a:t> (wegen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pPr marL="0" indent="0">
                  <a:buNone/>
                </a:pPr>
                <a:r>
                  <a:rPr lang="de-CH" sz="1200" i="1" dirty="0"/>
                  <a:t>Mit ungerundeten Zwischenergebnissen weiterrechnen!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 xml:space="preserve">Voltmeter misst </a:t>
                </a:r>
                <a:r>
                  <a:rPr lang="de-CH" sz="1600" dirty="0"/>
                  <a:t>UV=UR</a:t>
                </a:r>
                <a:r>
                  <a:rPr lang="de-CH" sz="1600" dirty="0"/>
                  <a:t xml:space="preserve"> (Spannung richtig), Ampèremeter misst </a:t>
                </a:r>
                <a:r>
                  <a:rPr lang="de-CH" sz="1600" dirty="0"/>
                  <a:t>IA=IR+IV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R∥ RV=(R RV)(R+RV)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=(1.000 kΩ⋅ 50.00 kΩ)(1.000 kΩ+50.00 kΩ)≈980.4 Ω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IA=(U)(RA+R∥ RV)≈0.1019 A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UV=IA⋅ (R∥ RV)≈99.90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R(mess)=(UV)(IA)=R∥ RV≈980.4 Ω</a:t>
                </a:r>
                <a:endParaRPr lang="de-CH" sz="1600" dirty="0"/>
              </a:p>
              <a:p>
                <a:r>
                  <a:rPr lang="de-CH" sz="1600" dirty="0"/>
                  <a:t xml:space="preserve">Relativer Fehler: </a:t>
                </a:r>
                <a:r>
                  <a:rPr lang="de-CH" sz="1600" dirty="0"/>
                  <a:t>(R(mess)−R)(R)≈−1.961 %</a:t>
                </a:r>
                <a:r>
                  <a:rPr lang="de-CH" sz="1600" dirty="0"/>
                  <a:t xml:space="preserve"> (wegen </a:t>
                </a:r>
                <a:r>
                  <a:rPr lang="de-CH" sz="1600" dirty="0"/>
                  <a:t>IV</a:t>
                </a:r>
                <a:r>
                  <a:rPr lang="de-CH" sz="1600" dirty="0"/>
                  <a:t>)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Mit ungerundeten Zwischenergebnissen weiterrechnen!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 dirty="0"/>
          </a:p>
        </p:txBody>
      </p:sp>
      <p:pic>
        <p:nvPicPr>
          <p:cNvPr id="10" name="Grafik 10" descr="Spannungsrichtige Messschalt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350530"/>
            <a:ext cx="5040000" cy="2984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5.2 – Stromrichtige Widerstandsmessung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Gleiche Messgeräte, gleicher Widerstand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 wie in 5.1, aber mit der nebenstehenden Schaltung.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Welche Werte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 werden gemessen?</a:t>
                </a:r>
              </a:p>
              <a:p>
                <a:r>
                  <a:rPr lang="de-CH" sz="1600" dirty="0"/>
                  <a:t>Wie gross 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mess</m:t>
                        </m:r>
                      </m:sub>
                    </m:sSub>
                  </m:oMath>
                </a14:m>
                <a:r>
                  <a:rPr lang="de-CH" sz="1600" dirty="0"/>
                  <a:t> und der relative Fehler?</a:t>
                </a:r>
              </a:p>
              <a:p>
                <a:r>
                  <a:rPr lang="de-CH" sz="1600" dirty="0"/>
                  <a:t>Welche Schaltung eignet sich für kleine, welche für grosse Widerstände?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Gleiche Messgeräte, gleicher Widerstand </a:t>
                </a:r>
                <a:r>
                  <a:rPr lang="de-CH" sz="1600" dirty="0"/>
                  <a:t>R</a:t>
                </a:r>
                <a:r>
                  <a:rPr lang="de-CH" sz="1600" dirty="0"/>
                  <a:t xml:space="preserve"> = 1.000 kΩ und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 = 100.0 V wie in 5.1, aber mit der nebenstehenden Schaltung.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 xml:space="preserve">Welche Werte </a:t>
                </a:r>
                <a:r>
                  <a:rPr lang="de-CH" sz="1600" dirty="0"/>
                  <a:t>IA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UV</a:t>
                </a:r>
                <a:r>
                  <a:rPr lang="de-CH" sz="1600" dirty="0"/>
                  <a:t xml:space="preserve"> werden gemessen?</a:t>
                </a:r>
                <a:endParaRPr lang="de-CH" sz="1600" dirty="0"/>
              </a:p>
              <a:p>
                <a:r>
                  <a:rPr lang="de-CH" sz="1600" dirty="0"/>
                  <a:t xml:space="preserve">Wie gross ist </a:t>
                </a:r>
                <a:r>
                  <a:rPr lang="de-CH" sz="1600" dirty="0"/>
                  <a:t>R(mess)</a:t>
                </a:r>
                <a:r>
                  <a:rPr lang="de-CH" sz="1600" dirty="0"/>
                  <a:t xml:space="preserve"> und der relative Fehler?</a:t>
                </a:r>
                <a:endParaRPr lang="de-CH" sz="1600" dirty="0"/>
              </a:p>
              <a:p>
                <a:r>
                  <a:rPr lang="de-CH" sz="1600" dirty="0"/>
                  <a:t>Welche Schaltung eignet sich für kleine, welche für grosse Widerstände?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 dirty="0"/>
          </a:p>
        </p:txBody>
      </p:sp>
      <p:pic>
        <p:nvPicPr>
          <p:cNvPr id="10" name="Grafik 10" descr="Stromrichtige Messschalt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425542"/>
            <a:ext cx="5040000" cy="28346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5.2 – Stromrichtige Widerstandsmessung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Ampèremeter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 (Strom richtig), Voltmeter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100.0 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+1.000 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≈0.09990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=100.0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mess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=1001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Relativer Fehler: +0.1000 % (zu gross, wegen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r>
                  <a:rPr lang="de-CH" sz="1600" dirty="0"/>
                  <a:t>Spannungsrichtig (5.1): gut für kleine Widerstände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≪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r>
                  <a:rPr lang="de-CH" sz="1600" dirty="0"/>
                  <a:t>Stromrichtig (5.2): gut für grosse Widerstände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≫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Strom- oder spannungsrichtige Widerstandsmessung (Kap. 3.5.6)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 xml:space="preserve">Ampèremeter misst </a:t>
                </a:r>
                <a:r>
                  <a:rPr lang="de-CH" sz="1600" dirty="0"/>
                  <a:t>IA=IR</a:t>
                </a:r>
                <a:r>
                  <a:rPr lang="de-CH" sz="1600" dirty="0"/>
                  <a:t xml:space="preserve"> (Strom richtig), Voltmeter misst </a:t>
                </a:r>
                <a:r>
                  <a:rPr lang="de-CH" sz="1600" dirty="0"/>
                  <a:t>UV=UA+UR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IA=(U)(RA+R)=(100.0 V)(1.000 Ω+1.000 kΩ)≈0.09990 A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UV=U=100.0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R(mess)=(UV)(IA)=RA+R=1001 Ω</a:t>
                </a:r>
                <a:endParaRPr lang="de-CH" sz="1600" dirty="0"/>
              </a:p>
              <a:p>
                <a:r>
                  <a:rPr lang="de-CH" sz="1600" dirty="0"/>
                  <a:t xml:space="preserve">Relativer Fehler: +0.1000 % (zu gross, wegen </a:t>
                </a:r>
                <a:r>
                  <a:rPr lang="de-CH" sz="1600" dirty="0"/>
                  <a:t>UA</a:t>
                </a:r>
                <a:r>
                  <a:rPr lang="de-CH" sz="1600" dirty="0"/>
                  <a:t>)</a:t>
                </a:r>
                <a:endParaRPr lang="de-CH" sz="1600" dirty="0"/>
              </a:p>
              <a:p>
                <a:r>
                  <a:rPr lang="de-CH" sz="1600" dirty="0"/>
                  <a:t>Spannungsrichtig (5.1): gut für kleine Widerstände (</a:t>
                </a:r>
                <a:r>
                  <a:rPr lang="de-CH" sz="1600" dirty="0"/>
                  <a:t>R≪ RV</a:t>
                </a:r>
                <a:r>
                  <a:rPr lang="de-CH" sz="1600" dirty="0"/>
                  <a:t>)</a:t>
                </a:r>
                <a:endParaRPr lang="de-CH" sz="1600" dirty="0"/>
              </a:p>
              <a:p>
                <a:r>
                  <a:rPr lang="de-CH" sz="1600" dirty="0"/>
                  <a:t>Stromrichtig (5.2): gut für grosse Widerstände (</a:t>
                </a:r>
                <a:r>
                  <a:rPr lang="de-CH" sz="1600" dirty="0"/>
                  <a:t>R≫ RA</a:t>
                </a:r>
                <a:r>
                  <a:rPr lang="de-CH" sz="1600" dirty="0"/>
                  <a:t>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 dirty="0"/>
          </a:p>
        </p:txBody>
      </p:sp>
      <p:pic>
        <p:nvPicPr>
          <p:cNvPr id="10" name="Grafik 10" descr="Stromrichtige Messschalt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425542"/>
            <a:ext cx="5040000" cy="2834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6 – Netzwerkanalyse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Lernziel</a:t>
                </a:r>
              </a:p>
              <a:p>
                <a:pPr marL="0" indent="0">
                  <a:buNone/>
                </a:pPr>
                <a:r>
                  <a:rPr lang="de-CH" sz="1600" dirty="0"/>
                  <a:t>Die Kirchhoff’schen Gleichungen anwenden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Gegeben ist das nebenstehende Netzwerk mit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und den 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>Berechnet den 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allgemein.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Lernziel</a:t>
                </a:r>
              </a:p>
              <a:p>
                <a:pPr marL="0" indent="0">
                  <a:buNone/>
                </a:pPr>
                <a:r>
                  <a:rPr lang="de-CH" sz="1600" dirty="0"/>
                  <a:t>Die Kirchhoff’schen Gleichungen anwenden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Gegeben ist das nebenstehende Netzwerk mit der Spannungsquelle </a:t>
                </a:r>
                <a:r>
                  <a:rPr lang="de-CH" sz="1600" dirty="0"/>
                  <a:t>U</a:t>
                </a:r>
                <a:r>
                  <a:rPr lang="de-CH" sz="1600" dirty="0"/>
                  <a:t xml:space="preserve"> und den Widerständen </a:t>
                </a:r>
                <a:r>
                  <a:rPr lang="de-CH" sz="1600" dirty="0"/>
                  <a:t>R1 … R4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6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Berechnet den Strom </a:t>
                </a:r>
                <a:r>
                  <a:rPr lang="de-CH" sz="1600" dirty="0"/>
                  <a:t>I4</a:t>
                </a:r>
                <a:r>
                  <a:rPr lang="de-CH" sz="1600" dirty="0"/>
                  <a:t xml:space="preserve"> allgemein.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 dirty="0"/>
          </a:p>
        </p:txBody>
      </p:sp>
      <p:pic>
        <p:nvPicPr>
          <p:cNvPr id="10" name="Grafik 10" descr="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136869"/>
            <a:ext cx="5040000" cy="34120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6 – Netzwerkanalyse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Lernziel</a:t>
                </a:r>
              </a:p>
              <a:p>
                <a:pPr marL="0" indent="0">
                  <a:buNone/>
                </a:pPr>
                <a:r>
                  <a:rPr lang="de-CH" sz="1600" dirty="0"/>
                  <a:t>Die Kirchhoff’schen Gleichungen anwenden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Knoten identifizieren und das Netzwerk übersichtlicher zeichnen (unten links).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liegt direkt parallel zur idealen Spannungsquelle ⇒ kein Einfluss auf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Strom durch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(in Serie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Stromteiler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Lernziel</a:t>
                </a:r>
              </a:p>
              <a:p>
                <a:pPr marL="0" indent="0">
                  <a:buNone/>
                </a:pPr>
                <a:r>
                  <a:rPr lang="de-CH" sz="1600" dirty="0"/>
                  <a:t>Die Kirchhoff’schen Gleichungen anwenden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Knoten identifizieren und das Netzwerk übersichtlicher zeichnen (unten links).</a:t>
                </a:r>
                <a:endParaRPr lang="de-CH" sz="1600" dirty="0"/>
              </a:p>
              <a:p>
                <a:r>
                  <a:rPr lang="de-CH" sz="1600" dirty="0"/>
                  <a:t>R1</a:t>
                </a:r>
                <a:r>
                  <a:rPr lang="de-CH" sz="1600" dirty="0"/>
                  <a:t xml:space="preserve"> liegt direkt parallel zur idealen Spannungsquelle ⇒ kein Einfluss auf </a:t>
                </a:r>
                <a:r>
                  <a:rPr lang="de-CH" sz="1600" dirty="0"/>
                  <a:t>I4</a:t>
                </a:r>
                <a:r>
                  <a:rPr lang="de-CH" sz="1600" dirty="0"/>
                  <a:t>.</a:t>
                </a:r>
                <a:endParaRPr lang="de-CH" sz="1600" dirty="0"/>
              </a:p>
              <a:p>
                <a:r>
                  <a:rPr lang="de-CH" sz="1600" dirty="0"/>
                  <a:t xml:space="preserve">Strom durch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 (in Serie mit </a:t>
                </a:r>
                <a:r>
                  <a:rPr lang="de-CH" sz="1600" dirty="0"/>
                  <a:t>R3∥ R4</a:t>
                </a:r>
                <a:r>
                  <a:rPr lang="de-CH" sz="1600" dirty="0"/>
                  <a:t>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I2=(U)(R2+(R3R4)(R3+R4))</a:t>
                </a:r>
                <a:endParaRPr lang="de-CH" sz="1600" dirty="0"/>
              </a:p>
              <a:p>
                <a:r>
                  <a:rPr lang="de-CH" sz="1600" dirty="0"/>
                  <a:t xml:space="preserve">Stromteiler an </a:t>
                </a:r>
                <a:r>
                  <a:rPr lang="de-CH" sz="1600" dirty="0"/>
                  <a:t>R3∥ R4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I4=I2⋅ (R3)(R3+R4)=(UR3)(R2(R3+R4)+R3R4)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 dirty="0"/>
          </a:p>
        </p:txBody>
      </p:sp>
      <p:pic>
        <p:nvPicPr>
          <p:cNvPr id="10" name="Grafik 10" descr="Netzwe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20" y="1412875"/>
            <a:ext cx="3692835" cy="2500000"/>
          </a:xfrm>
          <a:prstGeom prst="rect">
            <a:avLst/>
          </a:prstGeom>
        </p:spPr>
      </p:pic>
      <p:pic>
        <p:nvPicPr>
          <p:cNvPr id="11" name="Grafik 11" descr="Übersichtlicher gezeichnetes äquivalentes Netzwe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187643"/>
            <a:ext cx="5040000" cy="1950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Übungsaufgabe Moodle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32</a:t>
            </a:fld>
            <a:endParaRPr lang="de-CH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5 (1/2)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33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7004916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5 (1/2)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In Serie fliesst überall derselbe 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. Ohm’sches Gesetz: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523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mA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≈52.3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≈105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≈157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Maschenregel: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)≈314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Neuer Gesamtwiderstand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 = 250 mA bei gleicher Spannung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≈855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Ungerundetes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200" b="0" i="1" noProof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200" i="1" dirty="0"/>
                  <a:t> verwenden!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 xml:space="preserve">In Serie fliesst überall derselbe Strom </a:t>
                </a:r>
                <a:r>
                  <a:rPr lang="de-CH" sz="1600" dirty="0"/>
                  <a:t>I1</a:t>
                </a:r>
                <a:r>
                  <a:rPr lang="de-CH" sz="1600" dirty="0"/>
                  <a:t>. Ohm’sches Gesetz: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U1=R1I1=100 Ω⋅ 523 mA≈52.3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U2=R2I1≈105 V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U3=R3I1≈157 V</a:t>
                </a:r>
                <a:endParaRPr lang="de-CH" sz="1600" dirty="0"/>
              </a:p>
              <a:p>
                <a:r>
                  <a:rPr lang="de-CH" sz="1600" dirty="0"/>
                  <a:t>Maschenregel: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U=U1+U2+U3=I1(R1+R2+R3)≈314 V</a:t>
                </a:r>
                <a:endParaRPr lang="de-CH" sz="1600" dirty="0"/>
              </a:p>
              <a:p>
                <a:r>
                  <a:rPr lang="de-CH" sz="1600" dirty="0"/>
                  <a:t xml:space="preserve">Neuer Gesamtwiderstand für </a:t>
                </a:r>
                <a:r>
                  <a:rPr lang="de-CH" sz="1600" dirty="0"/>
                  <a:t>I2</a:t>
                </a:r>
                <a:r>
                  <a:rPr lang="de-CH" sz="1600" dirty="0"/>
                  <a:t xml:space="preserve"> = 250 mA bei gleicher Spannung </a:t>
                </a:r>
                <a:r>
                  <a:rPr lang="de-CH" sz="1600" dirty="0"/>
                  <a:t>U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R2=(U)(I2)−R1−R3≈855 Ω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 xml:space="preserve">Ungerundetes </a:t>
                </a:r>
                <a:r>
                  <a:rPr lang="de-CH" sz="1200" dirty="0"/>
                  <a:t>U</a:t>
                </a:r>
                <a:r>
                  <a:rPr lang="de-CH" sz="1200" i="1" dirty="0"/>
                  <a:t xml:space="preserve"> verwenden!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3496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5 (2/2)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 dirty="0"/>
          </a:p>
        </p:txBody>
      </p:sp>
      <p:pic>
        <p:nvPicPr>
          <p:cNvPr id="10" name="Grafik 10" descr="Moodle-Aufgab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10728325" cy="435578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5 (2/2)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Nullabgleich: Durch das Messinstrument fliesst kein Strom.</a:t>
                </a:r>
              </a:p>
              <a:p>
                <a:r>
                  <a:rPr lang="de-CH" sz="1600" dirty="0"/>
                  <a:t>⇒ Beide Zweige sind unbelastete Spannungsteiler mit gleichem Teilerverhältnis: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⇔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=153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200 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≈76.5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Nullabgleich: Durch das Messinstrument fliesst kein Strom.</a:t>
                </a:r>
                <a:endParaRPr lang="de-CH" sz="1600" dirty="0"/>
              </a:p>
              <a:p>
                <a:r>
                  <a:rPr lang="de-CH" sz="1600" dirty="0"/>
                  <a:t>⇒ Beide Zweige sind unbelastete Spannungsteiler mit gleichem Teilerverhältnis: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(Rx)(Rx+RN)=(R1)(R1+R2)⇔ (Rx)(RN)=(R1)(R2)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Rx=RN⋅ (R1)(R2)=153 Ω⋅ (100 Ω)(200 Ω)≈76.5 Ω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36</a:t>
            </a:fld>
            <a:endParaRPr lang="de-CH" noProof="0" dirty="0"/>
          </a:p>
        </p:txBody>
      </p:sp>
      <p:pic>
        <p:nvPicPr>
          <p:cNvPr id="10" name="Grafik 10" descr="Moodle-Aufgab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20462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1925</Words>
  <Application>Microsoft Office PowerPoint</Application>
  <PresentationFormat>Widescreen</PresentationFormat>
  <Paragraphs>335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ETH Zürich</vt:lpstr>
      <vt:lpstr>Netzwerke und Schaltungen Übungsstunde Woche 5</vt:lpstr>
      <vt:lpstr>Offene Fragen von letzter Woche?</vt:lpstr>
      <vt:lpstr>Theoriebeispiele zu Schlüsselkonzepten</vt:lpstr>
      <vt:lpstr>Beispiel 1.1 – Kirchhoff’sche Gleichungen</vt:lpstr>
      <vt:lpstr>Beispiel 1.1 – Kirchhoff’sche Gleichungen – Lösung</vt:lpstr>
      <vt:lpstr>Beispiel 1.2 – Kirchhoff’sche Gleichungen</vt:lpstr>
      <vt:lpstr>Beispiel 1.2 – Kirchhoff’sche Gleichungen – Lösung</vt:lpstr>
      <vt:lpstr>Beispiel 1.3 – Kirchhoff’sche Gleichungen</vt:lpstr>
      <vt:lpstr>Beispiel 1.3 – Kirchhoff’sche Gleichungen – Lösung</vt:lpstr>
      <vt:lpstr>Beispiel 2.1 – Einfache Widerstandsnetzwerke</vt:lpstr>
      <vt:lpstr>Beispiel 2.1 – Einfache Widerstandsnetzwerke – Lösung</vt:lpstr>
      <vt:lpstr>Beispiel 2.2 – Einfache Widerstandsnetzwerke</vt:lpstr>
      <vt:lpstr>Beispiel 2.2 – Einfache Widerstandsnetzwerke – Lösung (1/9)</vt:lpstr>
      <vt:lpstr>Beispiel 2.2 – Einfache Widerstandsnetzwerke – Lösung (2/9)</vt:lpstr>
      <vt:lpstr>Beispiel 2.2 – Einfache Widerstandsnetzwerke – Lösung (3/9)</vt:lpstr>
      <vt:lpstr>Beispiel 2.2 – Einfache Widerstandsnetzwerke – Lösung (4/9)</vt:lpstr>
      <vt:lpstr>Beispiel 2.2 – Einfache Widerstandsnetzwerke – Lösung (5/9)</vt:lpstr>
      <vt:lpstr>Beispiel 2.2 – Einfache Widerstandsnetzwerke – Lösung (6/9)</vt:lpstr>
      <vt:lpstr>Beispiel 2.2 – Einfache Widerstandsnetzwerke – Lösung (7/9)</vt:lpstr>
      <vt:lpstr>Beispiel 2.2 – Einfache Widerstandsnetzwerke – Lösung (8/9)</vt:lpstr>
      <vt:lpstr>Beispiel 2.2 – Einfache Widerstandsnetzwerke – Lösung (9/9)</vt:lpstr>
      <vt:lpstr>Beispiel 3 – Spannungsteiler</vt:lpstr>
      <vt:lpstr>Beispiel 3 – Spannungsteiler – Lösung</vt:lpstr>
      <vt:lpstr>Beispiel 4 – Stromteiler</vt:lpstr>
      <vt:lpstr>Beispiel 4 – Stromteiler – Lösung</vt:lpstr>
      <vt:lpstr>Beispiel 5.1 – Spannungsrichtige Widerstandsmessung</vt:lpstr>
      <vt:lpstr>Beispiel 5.1 – Spannungsrichtige Widerstandsmessung – Lösung</vt:lpstr>
      <vt:lpstr>Beispiel 5.2 – Stromrichtige Widerstandsmessung</vt:lpstr>
      <vt:lpstr>Beispiel 5.2 – Stromrichtige Widerstandsmessung – Lösung</vt:lpstr>
      <vt:lpstr>Beispiel 6 – Netzwerkanalyse</vt:lpstr>
      <vt:lpstr>Beispiel 6 – Netzwerkanalyse – Lösung</vt:lpstr>
      <vt:lpstr>Übungsaufgabe Moodle</vt:lpstr>
      <vt:lpstr>Moodle Übungsstunde Woche 5 (1/2)</vt:lpstr>
      <vt:lpstr>Moodle Übungsstunde Woche 5 (1/2) – Lösung</vt:lpstr>
      <vt:lpstr>Moodle Übungsstunde Woche 5 (2/2)</vt:lpstr>
      <vt:lpstr>Moodle Übungsstunde Woche 5 (2/2) – Lösung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Gfrörer  Tino</cp:lastModifiedBy>
  <cp:revision>154</cp:revision>
  <dcterms:created xsi:type="dcterms:W3CDTF">2026-09-04T10:51:08Z</dcterms:created>
  <dcterms:modified xsi:type="dcterms:W3CDTF">2026-10-20T19:42:49Z</dcterms:modified>
</cp:coreProperties>
</file>