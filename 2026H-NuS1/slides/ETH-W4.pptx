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300" r:id="rId3"/>
    <p:sldId id="339" r:id="rId4"/>
    <p:sldId id="294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31" r:id="rId14"/>
    <p:sldId id="330" r:id="rId15"/>
    <p:sldId id="332" r:id="rId16"/>
    <p:sldId id="333" r:id="rId17"/>
    <p:sldId id="334" r:id="rId18"/>
    <p:sldId id="336" r:id="rId19"/>
    <p:sldId id="337" r:id="rId20"/>
    <p:sldId id="338" r:id="rId21"/>
    <p:sldId id="311" r:id="rId22"/>
    <p:sldId id="319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B140A5C-BDD6-46B0-8A66-45FAD0FBC285}">
          <p14:sldIdLst>
            <p14:sldId id="256"/>
            <p14:sldId id="300"/>
            <p14:sldId id="339"/>
          </p14:sldIdLst>
        </p14:section>
        <p14:section name="Theoriebeispiele" id="{960AB6CA-67DE-4FDE-ADC2-51C8BFC50F2F}">
          <p14:sldIdLst>
            <p14:sldId id="294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31"/>
            <p14:sldId id="330"/>
            <p14:sldId id="332"/>
            <p14:sldId id="333"/>
            <p14:sldId id="334"/>
            <p14:sldId id="336"/>
            <p14:sldId id="337"/>
            <p14:sldId id="338"/>
            <p14:sldId id="311"/>
            <p14:sldId id="3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A05851-03ED-43FF-AF38-68B04922E2D5}" v="1" dt="2026-10-07T16:02:47.9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4355" autoAdjust="0"/>
  </p:normalViewPr>
  <p:slideViewPr>
    <p:cSldViewPr snapToGrid="0" showGuides="1">
      <p:cViewPr varScale="1">
        <p:scale>
          <a:sx n="107" d="100"/>
          <a:sy n="107" d="100"/>
        </p:scale>
        <p:origin x="636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4176" y="4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07.10.2026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07.10.2026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74255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33738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C7FC2-28FE-C5D2-FC77-EB671BDDF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2CC3BC-661D-F4FA-A5B9-4D1752677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A2E24-BA18-F685-82D0-77D9F06AD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F0B38-C59C-E0E7-0352-3FC97D5188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62533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C4267-2BFA-468A-4C3C-0F20EA671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FA8178-E6AB-B968-66BF-A47774BD9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BD551-7D68-1F45-8797-2DDCA0A5A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FDCB6-192B-9E94-56B7-278EBC0F0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29061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34743-0076-A2EA-DD77-4EEE74DA6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52B3A-1C20-B965-A66F-ABC000C99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6224FA-2517-B31A-97A7-8D59FA9D6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68F41-A056-E313-0C01-7697F5310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5099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A2FC0-B94E-9490-2D34-E28684E44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0DC9C-D388-4E31-51D1-D8C7D6D23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CF423-4632-DC54-9B22-CA14D1F31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381B4-1F9F-06BA-4CC3-D1176A962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51765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A0139-22D4-4E85-E51E-2194012DA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4390A5-278B-199D-936C-BAACE3BDE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3A277-9396-710A-BC0A-5BE0EE36B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D8202-1A37-FD23-99F8-CC3F6CDA1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72420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5427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636EB-452F-DAC4-D5D5-2C8CDA6B6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3130C-259B-5587-FD6A-2E9D52329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46E583-8FC6-7973-5B9F-4E283BFDE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591E9-7E3E-1FB1-1AAA-FC6662FD2E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17734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915A9-041C-CB18-D0E9-BD3DFC970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98C676-60C0-BD28-5E28-07FA8A861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29513-787C-8E83-9396-51F359616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8891C-D7F9-FF1F-2D7F-9D46A7DED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30621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FC2EF-0A7A-F782-9D84-E71CAFE2E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C4658E-42B7-2CB5-6F2A-B459452A7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CCA90-3B5A-A71C-20D2-70CDDA62C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5CCD2-BB37-26A7-AE63-ED348AF595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21770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BD429-705A-F749-04F7-2A5B69FA3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8DB3A-D012-68DC-DE35-FEBC28AFC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8E0D6F-95DE-3604-697A-BDEC5116B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D3C63-0D00-94F8-9046-852458188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57885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28DAE-F52A-437D-AF4F-0ECE0C643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C06F1-95D9-B04E-9C64-588BD016E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09BB2-80C1-3096-6963-0822B6321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2BF16-A4C5-6F1E-2504-383146CAE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27110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A884FE03-D03B-D605-7538-2F13D538DA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D2AF4BE6-5505-84B0-84F1-FE02019E7C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4" name="Picture Placeholder 14">
            <a:extLst>
              <a:ext uri="{FF2B5EF4-FFF2-40B4-BE49-F238E27FC236}">
                <a16:creationId xmlns:a16="http://schemas.microsoft.com/office/drawing/2014/main" id="{D6CEF0F1-CE6F-BE8A-3844-BFD085AAC5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3579C612-10BE-1EBE-D018-B0D032C144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3BF4C2FB-6615-B78A-B02E-8E60B52D6F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07.10.2026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E799E1B2-701E-9FC5-2CDC-43C2939091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07.10.2026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42242C32-D53C-B3C3-E0EA-9C0F765195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07.10.2026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D8DE6C5E-4745-1EF1-FA49-6358EFD116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07.10.2026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  <p:pic>
        <p:nvPicPr>
          <p:cNvPr id="7" name="Picture Placeholder 14">
            <a:extLst>
              <a:ext uri="{FF2B5EF4-FFF2-40B4-BE49-F238E27FC236}">
                <a16:creationId xmlns:a16="http://schemas.microsoft.com/office/drawing/2014/main" id="{3C0CA6CE-880C-7C54-9870-FFDA70F25E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" r="3523" b="5612"/>
          <a:stretch>
            <a:fillRect/>
          </a:stretch>
        </p:blipFill>
        <p:spPr>
          <a:xfrm>
            <a:off x="2300288" y="6452473"/>
            <a:ext cx="820032" cy="21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07.10.2026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8" name="Picture Placeholder 14">
            <a:extLst>
              <a:ext uri="{FF2B5EF4-FFF2-40B4-BE49-F238E27FC236}">
                <a16:creationId xmlns:a16="http://schemas.microsoft.com/office/drawing/2014/main" id="{A4054932-D157-98C3-08CB-8B67A37646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07.10.2026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53EBC0E6-6124-869C-FA2E-CD9D3D683C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07.10.2026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72073686-C6D1-0392-7EA6-5B450A9CDC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07.10.2026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pic>
        <p:nvPicPr>
          <p:cNvPr id="10" name="Picture Placeholder 14">
            <a:extLst>
              <a:ext uri="{FF2B5EF4-FFF2-40B4-BE49-F238E27FC236}">
                <a16:creationId xmlns:a16="http://schemas.microsoft.com/office/drawing/2014/main" id="{219A749E-EB56-70C9-92DA-5973901D7B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07.10.2026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11327ECB-0323-0F7E-02D3-F29F465F5D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07.10.2026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  <p:pic>
        <p:nvPicPr>
          <p:cNvPr id="10" name="Picture Placeholder 14">
            <a:extLst>
              <a:ext uri="{FF2B5EF4-FFF2-40B4-BE49-F238E27FC236}">
                <a16:creationId xmlns:a16="http://schemas.microsoft.com/office/drawing/2014/main" id="{8B34EBAD-E89E-4FE4-BCDC-4A3E84B14D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pic>
        <p:nvPicPr>
          <p:cNvPr id="2" name="Picture Placeholder 14">
            <a:extLst>
              <a:ext uri="{FF2B5EF4-FFF2-40B4-BE49-F238E27FC236}">
                <a16:creationId xmlns:a16="http://schemas.microsoft.com/office/drawing/2014/main" id="{6D1E3B3E-73DE-8C34-2C96-4FE6A8E57D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07.10.2026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jpeg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 descr="Ein Bild, das Gebäude, Stadt, Schloss, Turm enthält.&#10;&#10;Automatisch generierte Beschreibung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" b="461"/>
          <a:stretch>
            <a:fillRect/>
          </a:stretch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sz="2800" noProof="0" dirty="0"/>
              <a:t>Netzwerke und Schaltungen Übungsstunde Woche 4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CH" b="1" noProof="0" dirty="0"/>
              <a:t>Name</a:t>
            </a:r>
          </a:p>
          <a:p>
            <a:r>
              <a:rPr lang="de-CH"/>
              <a:t>pnikou</a:t>
            </a:r>
            <a:r>
              <a:rPr lang="de-CH" noProof="0"/>
              <a:t>@student.ethz.ch</a:t>
            </a:r>
            <a:endParaRPr lang="de-CH" noProof="0">
              <a:cs typeface="Arial"/>
            </a:endParaRPr>
          </a:p>
          <a:p>
            <a:r>
              <a:rPr lang="de-CH" noProof="0" dirty="0"/>
              <a:t>8. Oktober 2026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5A89567B-A643-B2E1-8CD0-816E3D9E98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5CABC-8004-C348-C09F-B9DF6C0EA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2604-35C4-2019-9992-090A87EC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Offene Fragen von letzter Woche?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D0857C-B80D-145D-D4F1-25C9FD5BD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07.10.2026</a:t>
            </a:fld>
            <a:endParaRPr lang="de-CH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B21BE-FB22-43F1-17AF-0CE31DCB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2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3665897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978161-16CB-E963-379A-9877B00D0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Beispielformelsammlung jetzt verfügbar auf moodle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7C27526-4601-7B59-9444-AE001CB396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0712" y="1160351"/>
            <a:ext cx="7338161" cy="46799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A9D424-BB30-933E-E92A-62539D3F0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07.10.2026</a:t>
            </a:fld>
            <a:endParaRPr lang="de-CH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A73C5-2122-5E8D-361D-78B0D55AC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3</a:t>
            </a:fld>
            <a:endParaRPr lang="de-CH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F15FE5-1C24-5687-5A2B-D74C868AEDED}"/>
              </a:ext>
            </a:extLst>
          </p:cNvPr>
          <p:cNvSpPr txBox="1"/>
          <p:nvPr/>
        </p:nvSpPr>
        <p:spPr>
          <a:xfrm>
            <a:off x="731837" y="1160351"/>
            <a:ext cx="3067586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Erlaubte Hilfsmittel an Prüfung:</a:t>
            </a:r>
          </a:p>
          <a:p>
            <a:endParaRPr lang="de-CH" dirty="0"/>
          </a:p>
          <a:p>
            <a:r>
              <a:rPr lang="en-US" sz="1400" dirty="0"/>
              <a:t>Buch Albach "</a:t>
            </a:r>
            <a:r>
              <a:rPr lang="en-US" sz="1400" dirty="0" err="1"/>
              <a:t>Elektrotechnik</a:t>
            </a:r>
            <a:r>
              <a:rPr lang="en-US" sz="1400" dirty="0"/>
              <a:t>"</a:t>
            </a:r>
          </a:p>
          <a:p>
            <a:endParaRPr lang="en-US" sz="1400" dirty="0"/>
          </a:p>
          <a:p>
            <a:r>
              <a:rPr lang="en-US" sz="1400" dirty="0" err="1"/>
              <a:t>Wörterbücher</a:t>
            </a:r>
            <a:r>
              <a:rPr lang="en-US" sz="1400" dirty="0"/>
              <a:t> </a:t>
            </a:r>
          </a:p>
          <a:p>
            <a:endParaRPr lang="en-US" sz="1400" dirty="0"/>
          </a:p>
          <a:p>
            <a:r>
              <a:rPr lang="en-US" sz="1400" dirty="0" err="1"/>
              <a:t>einfacher</a:t>
            </a:r>
            <a:r>
              <a:rPr lang="en-US" sz="1400" dirty="0"/>
              <a:t> </a:t>
            </a:r>
            <a:r>
              <a:rPr lang="en-US" sz="1400" dirty="0" err="1"/>
              <a:t>Taschenrechner</a:t>
            </a:r>
            <a:r>
              <a:rPr lang="en-US" sz="1400" dirty="0"/>
              <a:t> </a:t>
            </a:r>
            <a:r>
              <a:rPr lang="en-US" sz="1400" dirty="0" err="1"/>
              <a:t>erlaubt</a:t>
            </a:r>
            <a:endParaRPr lang="en-US" sz="1400" dirty="0"/>
          </a:p>
          <a:p>
            <a:endParaRPr lang="en-US" sz="1400" dirty="0"/>
          </a:p>
          <a:p>
            <a:r>
              <a:rPr lang="en-US" sz="1400" b="1" dirty="0" err="1"/>
              <a:t>Formelsammlung</a:t>
            </a:r>
            <a:r>
              <a:rPr lang="en-US" sz="1400" b="1" dirty="0"/>
              <a:t> (max. 2 Seiten A4 = 1 Blatt), - KEINE </a:t>
            </a:r>
            <a:r>
              <a:rPr lang="en-US" sz="1400" b="1" dirty="0" err="1"/>
              <a:t>Notizen</a:t>
            </a:r>
            <a:r>
              <a:rPr lang="en-US" sz="1400" b="1" dirty="0"/>
              <a:t> </a:t>
            </a:r>
            <a:r>
              <a:rPr lang="en-US" sz="1400" b="1" dirty="0" err="1"/>
              <a:t>zu</a:t>
            </a:r>
            <a:r>
              <a:rPr lang="en-US" sz="1400" b="1" dirty="0"/>
              <a:t> </a:t>
            </a:r>
            <a:r>
              <a:rPr lang="en-US" sz="1400" b="1" dirty="0" err="1"/>
              <a:t>Übungen</a:t>
            </a:r>
            <a:r>
              <a:rPr lang="en-US" sz="1400" b="1" dirty="0"/>
              <a:t> und </a:t>
            </a:r>
            <a:r>
              <a:rPr lang="en-US" sz="1400" b="1" dirty="0" err="1"/>
              <a:t>alten</a:t>
            </a:r>
            <a:r>
              <a:rPr lang="en-US" sz="1400" b="1" dirty="0"/>
              <a:t> </a:t>
            </a:r>
            <a:r>
              <a:rPr lang="en-US" sz="1400" b="1" dirty="0" err="1"/>
              <a:t>Klausuren</a:t>
            </a:r>
            <a:r>
              <a:rPr lang="en-US" sz="1400" b="1" dirty="0"/>
              <a:t> auf den </a:t>
            </a:r>
            <a:r>
              <a:rPr lang="en-US" sz="1400" b="1" dirty="0" err="1"/>
              <a:t>Hilfmitteln</a:t>
            </a:r>
            <a:r>
              <a:rPr lang="en-US" sz="1400" b="1" dirty="0"/>
              <a:t>.</a:t>
            </a:r>
            <a:endParaRPr lang="de-CH" sz="1400" b="1" dirty="0"/>
          </a:p>
        </p:txBody>
      </p:sp>
    </p:spTree>
    <p:extLst>
      <p:ext uri="{BB962C8B-B14F-4D97-AF65-F5344CB8AC3E}">
        <p14:creationId xmlns:p14="http://schemas.microsoft.com/office/powerpoint/2010/main" val="3688203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A680E-9257-B267-C53D-4534912B0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083B8-9678-1DF6-463C-EFCEDFCA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Theoriebeispiele zu Schlüsselkonzepten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68C2DA-E743-A601-797C-454629E1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07.10.2026</a:t>
            </a:fld>
            <a:endParaRPr lang="de-CH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C5633-B7D5-8004-49B7-3EC35630D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4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3297102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D7075-0D26-09CC-17F4-8CD483B6D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4BB5D-B692-F7BE-9775-C9AF7FDA1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Beispiel 1.1 – Stromdichteverteilung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848CFC-C5EE-6AB7-AFEC-7B24012F91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41989" y="1412875"/>
                <a:ext cx="4318173" cy="4860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CH" b="1" u="sng" noProof="0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noProof="0" dirty="0"/>
                  <a:t>Der elektrische Strom (Kap. 2.1)</a:t>
                </a:r>
              </a:p>
              <a:p>
                <a:pPr marL="0" indent="0">
                  <a:buNone/>
                </a:pPr>
                <a:endParaRPr lang="de-CH" noProof="0" dirty="0"/>
              </a:p>
              <a:p>
                <a:pPr marL="0" indent="0">
                  <a:buNone/>
                </a:pPr>
                <a:r>
                  <a:rPr lang="de-CH" sz="1600" noProof="0" dirty="0"/>
                  <a:t>Berechnet die Stromdichte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J</m:t>
                        </m:r>
                      </m:e>
                    </m:acc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CH" sz="1600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848CFC-C5EE-6AB7-AFEC-7B24012F91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41989" y="1412875"/>
                <a:ext cx="4318173" cy="4860000"/>
              </a:xfrm>
              <a:blipFill>
                <a:blip r:embed="rId3"/>
                <a:stretch>
                  <a:fillRect l="-3390" t="-1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FE714-653E-154D-6466-6E8D6DB6F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07.10.2026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2F3BAD-DB21-A683-4773-E8D69C5E4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74B776-04A0-0E53-3C5E-CF14763CD3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569" t="21769" r="21189" b="13181"/>
          <a:stretch>
            <a:fillRect/>
          </a:stretch>
        </p:blipFill>
        <p:spPr>
          <a:xfrm>
            <a:off x="731837" y="2169268"/>
            <a:ext cx="6111218" cy="410360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7DFA568-CA31-2574-2422-CAFE41A04A71}"/>
              </a:ext>
            </a:extLst>
          </p:cNvPr>
          <p:cNvSpPr txBox="1"/>
          <p:nvPr/>
        </p:nvSpPr>
        <p:spPr>
          <a:xfrm>
            <a:off x="731837" y="992221"/>
            <a:ext cx="6111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noProof="0" dirty="0"/>
              <a:t>Ein Blitzableiter ist in Form eines halbkugelförmigen Erders in den  Boden eingelassen worden.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B13ABE-8916-BE26-B251-FE3E3494481B}"/>
              </a:ext>
            </a:extLst>
          </p:cNvPr>
          <p:cNvSpPr/>
          <p:nvPr/>
        </p:nvSpPr>
        <p:spPr>
          <a:xfrm>
            <a:off x="5685576" y="4725909"/>
            <a:ext cx="932507" cy="47078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2250485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3475D-A884-831E-CA9C-B5C931F9C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1C4BD-758E-C699-3E89-113FB7A1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Beispiel 1.1 – Stromdichteverteilung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60F32B-938E-77B9-A4D2-CF4FCDC176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41989" y="1412875"/>
                <a:ext cx="4318173" cy="4860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CH" b="1" u="sng" noProof="0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noProof="0" dirty="0"/>
                  <a:t>Der elektrische Strom (Kap. 2.1)</a:t>
                </a:r>
              </a:p>
              <a:p>
                <a:pPr marL="0" indent="0">
                  <a:buNone/>
                </a:pPr>
                <a:endParaRPr lang="de-CH" noProof="0" dirty="0"/>
              </a:p>
              <a:p>
                <a:pPr marL="0" indent="0">
                  <a:buNone/>
                </a:pPr>
                <a:r>
                  <a:rPr lang="de-CH" sz="1600" noProof="0" dirty="0"/>
                  <a:t>Berechnet die Stromdichte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J</m:t>
                        </m:r>
                      </m:e>
                    </m:acc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CH" sz="1600" noProof="0" dirty="0"/>
              </a:p>
              <a:p>
                <a:pPr marL="0" indent="0">
                  <a:buNone/>
                </a:pPr>
                <a:endParaRPr lang="de-CH" sz="1600" noProof="0" dirty="0"/>
              </a:p>
              <a:p>
                <a:pPr marL="0" indent="0">
                  <a:buNone/>
                </a:pPr>
                <a:r>
                  <a:rPr lang="de-CH" sz="1600" noProof="0" dirty="0"/>
                  <a:t>Ansatz: Der Strom fliesst senkrecht zur Fläche und die Stromdichte ist homogen über die Fläche verteilt.</a:t>
                </a:r>
              </a:p>
              <a:p>
                <a:pPr marL="0" indent="0">
                  <a:buNone/>
                </a:pPr>
                <a:endParaRPr lang="de-CH" sz="16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)=2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CH" sz="1600" b="0" noProof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CH" sz="16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sz="1600" i="1" noProof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</m:acc>
                      <m:r>
                        <a:rPr lang="de-CH" sz="1600" i="1" noProof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de-CH" sz="16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sz="1600" i="1" noProof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acc>
                      <m:r>
                        <a:rPr lang="de-CH" sz="1600" i="1" noProof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num>
                        <m:den>
                          <m:r>
                            <a:rPr lang="de-CH" sz="16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CH" sz="16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⃗"/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e-CH" sz="1600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60F32B-938E-77B9-A4D2-CF4FCDC176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41989" y="1412875"/>
                <a:ext cx="4318173" cy="4860000"/>
              </a:xfrm>
              <a:blipFill>
                <a:blip r:embed="rId3"/>
                <a:stretch>
                  <a:fillRect l="-3390" t="-1631" r="-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384B9-16CE-45E7-B16A-F345BBD73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07.10.2026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2C3D6-2349-F4CC-E142-7259269CD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A2C427-CF9B-C3A7-9A2A-146CDE7D94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569" t="21769" r="21189" b="13181"/>
          <a:stretch>
            <a:fillRect/>
          </a:stretch>
        </p:blipFill>
        <p:spPr>
          <a:xfrm>
            <a:off x="731837" y="2169268"/>
            <a:ext cx="6111218" cy="410360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280AEC-235F-19FA-C076-8B3B6F9417E4}"/>
              </a:ext>
            </a:extLst>
          </p:cNvPr>
          <p:cNvSpPr txBox="1"/>
          <p:nvPr/>
        </p:nvSpPr>
        <p:spPr>
          <a:xfrm>
            <a:off x="731837" y="992221"/>
            <a:ext cx="6111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noProof="0" dirty="0"/>
              <a:t>Ein Blitzableiter ist in Form eines halbkugelförmigen Erders in den  Boden eingelassen worden.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439968-E6DD-B432-5F54-8510C50F6E39}"/>
              </a:ext>
            </a:extLst>
          </p:cNvPr>
          <p:cNvSpPr/>
          <p:nvPr/>
        </p:nvSpPr>
        <p:spPr>
          <a:xfrm>
            <a:off x="5685576" y="4725909"/>
            <a:ext cx="932507" cy="47078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160339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E0790-A43E-04DD-7438-383AA4D9C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7B37-6F28-805A-8D58-DA48AE4E9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Beispiel 1.2 – Das Ohm’sche Gesetz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AFFEB-6127-FC01-DB1E-2F33E5B87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989" y="1412875"/>
            <a:ext cx="4318173" cy="4860000"/>
          </a:xfrm>
        </p:spPr>
        <p:txBody>
          <a:bodyPr/>
          <a:lstStyle/>
          <a:p>
            <a:pPr marL="0" indent="0">
              <a:buNone/>
            </a:pPr>
            <a:r>
              <a:rPr lang="de-CH" b="1" u="sng" noProof="0" dirty="0"/>
              <a:t>Schlüsselkonzepte</a:t>
            </a:r>
          </a:p>
          <a:p>
            <a:pPr marL="0" indent="0">
              <a:buNone/>
            </a:pPr>
            <a:r>
              <a:rPr lang="de-CH" noProof="0" dirty="0"/>
              <a:t>Das Ohm‘sche Gesetz (Kap. 2.6)</a:t>
            </a:r>
          </a:p>
          <a:p>
            <a:pPr marL="0" indent="0">
              <a:buNone/>
            </a:pPr>
            <a:r>
              <a:rPr lang="de-CH" sz="1200" noProof="0" dirty="0"/>
              <a:t>(Differenzielle Form: </a:t>
            </a:r>
            <a:r>
              <a:rPr lang="de-CH" sz="1200" i="1" noProof="0" dirty="0"/>
              <a:t>Zusammenhang der differenziellen Grössen Spannung pro Länge und Strom pro Fläche</a:t>
            </a:r>
            <a:r>
              <a:rPr lang="de-CH" sz="1200" noProof="0" dirty="0"/>
              <a:t>)</a:t>
            </a:r>
          </a:p>
          <a:p>
            <a:pPr marL="0" indent="0">
              <a:buNone/>
            </a:pPr>
            <a:endParaRPr lang="de-CH" sz="1600" noProof="0" dirty="0"/>
          </a:p>
          <a:p>
            <a:pPr marL="0" indent="0">
              <a:buNone/>
            </a:pPr>
            <a:r>
              <a:rPr lang="de-CH" sz="1600" noProof="0" dirty="0"/>
              <a:t>Wie gross ist das elektrische Feld …</a:t>
            </a:r>
          </a:p>
          <a:p>
            <a:r>
              <a:rPr lang="de-CH" sz="1600" noProof="0" dirty="0"/>
              <a:t>… innerhalb des Blitzableiters?</a:t>
            </a:r>
          </a:p>
          <a:p>
            <a:r>
              <a:rPr lang="de-CH" sz="1600" noProof="0" dirty="0"/>
              <a:t>… im Erdreich?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D3109-A2B5-640D-E541-72E4C57EC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07.10.2026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2ABD7B-2EFE-E5C2-4538-573701D9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0A4050-2137-F35E-0471-14999C1D46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69" t="21769" r="21189" b="13181"/>
          <a:stretch>
            <a:fillRect/>
          </a:stretch>
        </p:blipFill>
        <p:spPr>
          <a:xfrm>
            <a:off x="731837" y="2169268"/>
            <a:ext cx="6111218" cy="410360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CF321EF-63D1-6C24-19FA-B2FEE03BCC03}"/>
              </a:ext>
            </a:extLst>
          </p:cNvPr>
          <p:cNvSpPr txBox="1"/>
          <p:nvPr/>
        </p:nvSpPr>
        <p:spPr>
          <a:xfrm>
            <a:off x="731837" y="992221"/>
            <a:ext cx="6111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noProof="0" dirty="0"/>
              <a:t>Ein Blitzableiter ist in Form eines halbkugelförmigen Erders in den  Boden eingelassen worden.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17D121-A70F-DD84-8734-42EAA370C646}"/>
                  </a:ext>
                </a:extLst>
              </p:cNvPr>
              <p:cNvSpPr txBox="1"/>
              <p:nvPr/>
            </p:nvSpPr>
            <p:spPr>
              <a:xfrm>
                <a:off x="3255163" y="2032187"/>
                <a:ext cx="1794849" cy="553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CH" sz="16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sz="1600" i="1" noProof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</m:acc>
                      <m:r>
                        <a:rPr lang="de-CH" sz="1600" i="1" noProof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de-CH" sz="16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sz="1600" i="1" noProof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acc>
                      <m:r>
                        <a:rPr lang="de-CH" sz="1600" i="1" noProof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num>
                        <m:den>
                          <m:r>
                            <a:rPr lang="de-CH" sz="16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CH" sz="16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⃗"/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e-CH" sz="1600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17D121-A70F-DD84-8734-42EAA370C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163" y="2032187"/>
                <a:ext cx="1794849" cy="5533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ED34E317-386C-754E-31DA-A217722879F4}"/>
              </a:ext>
            </a:extLst>
          </p:cNvPr>
          <p:cNvSpPr/>
          <p:nvPr/>
        </p:nvSpPr>
        <p:spPr>
          <a:xfrm>
            <a:off x="5685576" y="4725909"/>
            <a:ext cx="932507" cy="47078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809262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D1C5B-F7EC-DFD9-4DFB-70C7A3F54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37E8C-082A-9033-80E8-2313ACFD5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Beispiel 1.2 – Das Ohm’sche Gesetz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BC8ADD-2179-5F31-0AD7-54FFBA0B69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41989" y="1412875"/>
                <a:ext cx="4318173" cy="4860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CH" b="1" u="sng" noProof="0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noProof="0" dirty="0"/>
                  <a:t>Das Ohm‘sche Gesetz (Kap. 2.6)</a:t>
                </a:r>
              </a:p>
              <a:p>
                <a:pPr marL="0" indent="0">
                  <a:buNone/>
                </a:pPr>
                <a:r>
                  <a:rPr lang="de-CH" sz="1200" noProof="0" dirty="0"/>
                  <a:t>(Differenzielle Form)</a:t>
                </a:r>
              </a:p>
              <a:p>
                <a:pPr marL="0" indent="0">
                  <a:buNone/>
                </a:pPr>
                <a:endParaRPr lang="de-CH" sz="1600" noProof="0" dirty="0"/>
              </a:p>
              <a:p>
                <a:pPr marL="0" indent="0">
                  <a:buNone/>
                </a:pPr>
                <a:r>
                  <a:rPr lang="de-CH" sz="1600" noProof="0" dirty="0"/>
                  <a:t>Wie gross ist das elektrische Feld …</a:t>
                </a:r>
              </a:p>
              <a:p>
                <a:r>
                  <a:rPr lang="de-CH" sz="1600" noProof="0" dirty="0"/>
                  <a:t>… innerhalb des Blitzableiters?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acc>
                    <m:r>
                      <a:rPr lang="de-CH" sz="1600" i="1" noProof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de-CH" sz="16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i="1" noProof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de-CH" sz="1600" i="1" noProof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 = </m:t>
                    </m:r>
                    <m:acc>
                      <m:accPr>
                        <m:chr m:val="⃗"/>
                        <m:ctrlPr>
                          <a:rPr lang="de-CH" sz="16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i="1" noProof="0">
                            <a:latin typeface="Cambria Math" panose="02040503050406030204" pitchFamily="18" charset="0"/>
                          </a:rPr>
                          <m:t>J</m:t>
                        </m:r>
                      </m:e>
                    </m:acc>
                    <m:r>
                      <a:rPr lang="de-CH" sz="1600" i="1" noProof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de-CH" sz="16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i="1" noProof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de-CH" sz="1600" i="1" noProof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 / 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→0</m:t>
                    </m:r>
                  </m:oMath>
                </a14:m>
                <a:endParaRPr lang="de-CH" sz="1600" noProof="0" dirty="0"/>
              </a:p>
              <a:p>
                <a:r>
                  <a:rPr lang="de-CH" sz="1600" noProof="0" dirty="0"/>
                  <a:t>… im Erdreich?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CH" sz="16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i="1" noProof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acc>
                    <m:r>
                      <a:rPr lang="de-CH" sz="1600" i="1" noProof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de-CH" sz="16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i="1" noProof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de-CH" sz="1600" i="1" noProof="0">
                        <a:latin typeface="Cambria Math" panose="02040503050406030204" pitchFamily="18" charset="0"/>
                      </a:rPr>
                      <m:t>) = </m:t>
                    </m:r>
                    <m:acc>
                      <m:accPr>
                        <m:chr m:val="⃗"/>
                        <m:ctrlPr>
                          <a:rPr lang="de-CH" sz="16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i="1" noProof="0">
                            <a:latin typeface="Cambria Math" panose="02040503050406030204" pitchFamily="18" charset="0"/>
                          </a:rPr>
                          <m:t>J</m:t>
                        </m:r>
                      </m:e>
                    </m:acc>
                    <m:r>
                      <a:rPr lang="de-CH" sz="1600" i="1" noProof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de-CH" sz="16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i="1" noProof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de-CH" sz="1600" i="1" noProof="0">
                        <a:latin typeface="Cambria Math" panose="02040503050406030204" pitchFamily="18" charset="0"/>
                      </a:rPr>
                      <m:t>) / </m:t>
                    </m:r>
                    <m:sSub>
                      <m:sSubPr>
                        <m:ctrlPr>
                          <a:rPr lang="de-CH" sz="16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endParaRPr lang="de-CH" sz="1600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BC8ADD-2179-5F31-0AD7-54FFBA0B69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41989" y="1412875"/>
                <a:ext cx="4318173" cy="4860000"/>
              </a:xfrm>
              <a:blipFill>
                <a:blip r:embed="rId3"/>
                <a:stretch>
                  <a:fillRect l="-3390" t="-1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58A17-4134-6F0B-F32B-9C78CC5B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07.10.2026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B1FDF-B84F-63C6-67C1-8DB95E6B6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3D98D73-7366-BC65-0451-9A7FF8D77A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569" t="21769" r="21189" b="13181"/>
          <a:stretch>
            <a:fillRect/>
          </a:stretch>
        </p:blipFill>
        <p:spPr>
          <a:xfrm>
            <a:off x="731837" y="2169268"/>
            <a:ext cx="6111218" cy="410360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7786417-6ECC-3AEC-3109-BD75675C03D3}"/>
              </a:ext>
            </a:extLst>
          </p:cNvPr>
          <p:cNvSpPr txBox="1"/>
          <p:nvPr/>
        </p:nvSpPr>
        <p:spPr>
          <a:xfrm>
            <a:off x="731837" y="992221"/>
            <a:ext cx="6111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noProof="0" dirty="0"/>
              <a:t>Ein Blitzableiter ist in Form eines halbkugelförmigen Erders in den  Boden eingelassen worden.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63BBE0-EC8B-4F9C-B640-AD0BC7CF9200}"/>
                  </a:ext>
                </a:extLst>
              </p:cNvPr>
              <p:cNvSpPr txBox="1"/>
              <p:nvPr/>
            </p:nvSpPr>
            <p:spPr>
              <a:xfrm>
                <a:off x="3255163" y="2032187"/>
                <a:ext cx="1794849" cy="553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CH" sz="16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sz="1600" i="1" noProof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</m:acc>
                      <m:r>
                        <a:rPr lang="de-CH" sz="1600" i="1" noProof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de-CH" sz="16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sz="1600" i="1" noProof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acc>
                      <m:r>
                        <a:rPr lang="de-CH" sz="1600" i="1" noProof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num>
                        <m:den>
                          <m:r>
                            <a:rPr lang="de-CH" sz="16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CH" sz="16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⃗"/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e-CH" sz="1600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63BBE0-EC8B-4F9C-B640-AD0BC7CF9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163" y="2032187"/>
                <a:ext cx="1794849" cy="5533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8660842D-8719-7E9F-EBD2-CF3A6A4A84D6}"/>
              </a:ext>
            </a:extLst>
          </p:cNvPr>
          <p:cNvSpPr/>
          <p:nvPr/>
        </p:nvSpPr>
        <p:spPr>
          <a:xfrm>
            <a:off x="5685576" y="4725909"/>
            <a:ext cx="932507" cy="47078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15268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BCD93-93E5-1142-33F9-1412C6982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1066C-9B87-5458-17CD-00E0D3BC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Beispiel 1.3 – Das Ohm’sche Gesetz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FF143-5879-A88B-BB3E-4EA1E10E2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989" y="1412875"/>
            <a:ext cx="4318173" cy="4860000"/>
          </a:xfrm>
        </p:spPr>
        <p:txBody>
          <a:bodyPr/>
          <a:lstStyle/>
          <a:p>
            <a:pPr marL="0" indent="0">
              <a:buNone/>
            </a:pPr>
            <a:r>
              <a:rPr lang="de-CH" b="1" u="sng" noProof="0" dirty="0"/>
              <a:t>Schlüsselkonzepte</a:t>
            </a:r>
          </a:p>
          <a:p>
            <a:pPr marL="0" indent="0">
              <a:buNone/>
            </a:pPr>
            <a:r>
              <a:rPr lang="de-CH" noProof="0" dirty="0"/>
              <a:t>Das Ohm‘sche Gesetz (Kap. 2.6)</a:t>
            </a:r>
          </a:p>
          <a:p>
            <a:pPr marL="0" indent="0">
              <a:buNone/>
            </a:pPr>
            <a:r>
              <a:rPr lang="de-CH" sz="1200" noProof="0" dirty="0"/>
              <a:t>(Integrale Form: </a:t>
            </a:r>
            <a:r>
              <a:rPr lang="de-CH" sz="1200" i="1" noProof="0" dirty="0"/>
              <a:t>Zusammenhang der integralen Grössen E-Feld integriert über Länge (Spannung) und Stromdichte integriert über Fläche (Strom)</a:t>
            </a:r>
            <a:r>
              <a:rPr lang="de-CH" sz="1200" noProof="0" dirty="0"/>
              <a:t>)</a:t>
            </a:r>
          </a:p>
          <a:p>
            <a:pPr marL="0" indent="0">
              <a:buNone/>
            </a:pPr>
            <a:endParaRPr lang="de-CH" sz="1600" noProof="0" dirty="0"/>
          </a:p>
          <a:p>
            <a:pPr marL="0" indent="0">
              <a:buNone/>
            </a:pPr>
            <a:r>
              <a:rPr lang="de-CH" sz="1600" noProof="0" dirty="0"/>
              <a:t>Wie gross ist die Spannung vom Blitzableiter bis zur Person? </a:t>
            </a:r>
          </a:p>
          <a:p>
            <a:pPr marL="0" indent="0">
              <a:buNone/>
            </a:pPr>
            <a:r>
              <a:rPr lang="de-CH" sz="1600" noProof="0" dirty="0"/>
              <a:t>Wie gross ist der zugehörige Widerstand?</a:t>
            </a:r>
          </a:p>
          <a:p>
            <a:pPr marL="0" indent="0">
              <a:buNone/>
            </a:pPr>
            <a:endParaRPr lang="de-CH" sz="1600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FD9A7-7C19-5B31-C781-F4E929E9C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07.10.2026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574D16-4A6C-6E7A-09DA-2E956919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F1C9C7A-B983-A0B6-13A2-76FB68FFEA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69" t="21769" r="21189" b="13181"/>
          <a:stretch>
            <a:fillRect/>
          </a:stretch>
        </p:blipFill>
        <p:spPr>
          <a:xfrm>
            <a:off x="731837" y="2169268"/>
            <a:ext cx="6111218" cy="410360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1C176BA-87D4-F3A7-7793-B5C15A4EF65A}"/>
              </a:ext>
            </a:extLst>
          </p:cNvPr>
          <p:cNvSpPr txBox="1"/>
          <p:nvPr/>
        </p:nvSpPr>
        <p:spPr>
          <a:xfrm>
            <a:off x="731837" y="992221"/>
            <a:ext cx="6111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noProof="0" dirty="0"/>
              <a:t>Ein Blitzableiter ist in Form eines halbkugelförmigen Erders in den  Boden eingelassen worden.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B77575-D005-1B9C-7418-B40A793AD970}"/>
                  </a:ext>
                </a:extLst>
              </p:cNvPr>
              <p:cNvSpPr txBox="1"/>
              <p:nvPr/>
            </p:nvSpPr>
            <p:spPr>
              <a:xfrm>
                <a:off x="3255163" y="2032187"/>
                <a:ext cx="1794849" cy="553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CH" sz="16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sz="1600" i="1" noProof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</m:acc>
                      <m:r>
                        <a:rPr lang="de-CH" sz="1600" i="1" noProof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de-CH" sz="16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sz="1600" i="1" noProof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acc>
                      <m:r>
                        <a:rPr lang="de-CH" sz="1600" i="1" noProof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num>
                        <m:den>
                          <m:r>
                            <a:rPr lang="de-CH" sz="16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CH" sz="16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⃗"/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e-CH" sz="1600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B77575-D005-1B9C-7418-B40A793AD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163" y="2032187"/>
                <a:ext cx="1794849" cy="5533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0D2641B8-7BC7-4B65-3509-A033ED9F86BF}"/>
              </a:ext>
            </a:extLst>
          </p:cNvPr>
          <p:cNvSpPr/>
          <p:nvPr/>
        </p:nvSpPr>
        <p:spPr>
          <a:xfrm>
            <a:off x="5685576" y="4725909"/>
            <a:ext cx="932507" cy="47078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2262227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D8F73-684A-086C-56B0-B511553A9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0C5CA-4348-DA74-05B0-DE3B4BD3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Beispiel 1.3 – Das Ohm’sche Gesetz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B9F93B-68BE-DFB9-0EF9-90D70A31E8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41989" y="1412875"/>
                <a:ext cx="4318173" cy="4860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CH" b="1" u="sng" noProof="0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noProof="0" dirty="0"/>
                  <a:t>Das Ohm‘sche Gesetz (Kap. 2.6)</a:t>
                </a:r>
              </a:p>
              <a:p>
                <a:pPr marL="0" indent="0">
                  <a:buNone/>
                </a:pPr>
                <a:r>
                  <a:rPr lang="de-CH" sz="1200" noProof="0" dirty="0"/>
                  <a:t>(Integrale Form: </a:t>
                </a:r>
                <a:r>
                  <a:rPr lang="de-CH" sz="1200" i="1" noProof="0" dirty="0"/>
                  <a:t>Zusammenhang der integralen Grössen E-Feld integriert über Länge (Spannung) und Stromdichte integriert über Fläche (Strom)</a:t>
                </a:r>
                <a:r>
                  <a:rPr lang="de-CH" sz="1200" noProof="0" dirty="0"/>
                  <a:t>)</a:t>
                </a:r>
                <a:endParaRPr lang="de-CH" sz="1600" noProof="0" dirty="0"/>
              </a:p>
              <a:p>
                <a:pPr marL="0" indent="0">
                  <a:buNone/>
                </a:pPr>
                <a:r>
                  <a:rPr lang="de-CH" sz="1600" noProof="0" dirty="0"/>
                  <a:t>Wie gross ist die Spannung vom Blitzableiter bis zur Person?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</m:acc>
                          <m:r>
                            <a:rPr lang="de-CH" sz="1600" i="1" noProof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⃗"/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</m:acc>
                          <m:r>
                            <a:rPr lang="de-CH" sz="1600" i="1" noProof="0">
                              <a:latin typeface="Cambria Math" panose="02040503050406030204" pitchFamily="18" charset="0"/>
                            </a:rPr>
                            <m:t>)/ </m:t>
                          </m:r>
                          <m:sSub>
                            <m:sSubPr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</m:acc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f>
                        <m:fPr>
                          <m:ctrlPr>
                            <a:rPr lang="de-CH" sz="1600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i="1" noProof="0">
                              <a:latin typeface="Cambria Math" panose="02040503050406030204" pitchFamily="18" charset="0"/>
                            </a:rPr>
                            <m:t>I</m:t>
                          </m:r>
                        </m:num>
                        <m:den>
                          <m:r>
                            <a:rPr lang="de-CH" sz="16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CH" sz="16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p>
                        <m:e>
                          <m:f>
                            <m:f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dr</m:t>
                          </m:r>
                        </m:e>
                      </m:nary>
                    </m:oMath>
                  </m:oMathPara>
                </a14:m>
                <a:endParaRPr lang="de-CH" sz="1600" noProof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i="1" noProof="0">
                              <a:latin typeface="Cambria Math" panose="02040503050406030204" pitchFamily="18" charset="0"/>
                            </a:rPr>
                            <m:t>I</m:t>
                          </m:r>
                        </m:num>
                        <m:den>
                          <m:r>
                            <a:rPr lang="de-CH" sz="16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CH" sz="16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p>
                      </m:sSubSup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i="1" noProof="0">
                              <a:latin typeface="Cambria Math" panose="02040503050406030204" pitchFamily="18" charset="0"/>
                            </a:rPr>
                            <m:t>I</m:t>
                          </m:r>
                        </m:num>
                        <m:den>
                          <m:r>
                            <a:rPr lang="de-CH" sz="16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CH" sz="16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de-CH" sz="1600" i="0" noProof="0" smtClean="0"/>
                            <m:t>–</m:t>
                          </m:r>
                          <m:f>
                            <m:f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CH" sz="1600" noProof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de-CH" sz="1600" noProof="0" dirty="0"/>
                  <a:t>Wie gross ist der zugehörige Widerstand?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sz="16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CH" sz="16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de-CH" sz="16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de-CH" sz="1600" i="0" noProof="0" smtClean="0"/>
                            <m:t>–</m:t>
                          </m:r>
                          <m:f>
                            <m:fPr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CH" sz="1600" noProof="0" dirty="0"/>
              </a:p>
              <a:p>
                <a:pPr marL="0" indent="0">
                  <a:buNone/>
                </a:pPr>
                <a:endParaRPr lang="de-CH" sz="1600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B9F93B-68BE-DFB9-0EF9-90D70A31E8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41989" y="1412875"/>
                <a:ext cx="4318173" cy="4860000"/>
              </a:xfrm>
              <a:blipFill>
                <a:blip r:embed="rId3"/>
                <a:stretch>
                  <a:fillRect l="-3390" t="-1631" r="-2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CB84E-FA23-9A74-8C1C-A3B22CD13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07.10.2026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4650B-FAFF-5F38-0DAA-2C95C4F0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2CD3DEC-8F40-475F-8819-BB26E82F62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569" t="21769" r="21189" b="13181"/>
          <a:stretch>
            <a:fillRect/>
          </a:stretch>
        </p:blipFill>
        <p:spPr>
          <a:xfrm>
            <a:off x="731837" y="2169268"/>
            <a:ext cx="6111218" cy="410360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6C53323-183E-031C-6AF0-2E34D508799D}"/>
              </a:ext>
            </a:extLst>
          </p:cNvPr>
          <p:cNvSpPr txBox="1"/>
          <p:nvPr/>
        </p:nvSpPr>
        <p:spPr>
          <a:xfrm>
            <a:off x="731837" y="992221"/>
            <a:ext cx="6111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noProof="0" dirty="0"/>
              <a:t>Ein Blitzableiter ist in Form eines halbkugelförmigen Erders in den  Boden eingelassen worden.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E43021-4029-C554-7FD1-866352B7AD5D}"/>
                  </a:ext>
                </a:extLst>
              </p:cNvPr>
              <p:cNvSpPr txBox="1"/>
              <p:nvPr/>
            </p:nvSpPr>
            <p:spPr>
              <a:xfrm>
                <a:off x="3255163" y="2032187"/>
                <a:ext cx="1794849" cy="553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CH" sz="16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sz="1600" i="1" noProof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</m:acc>
                      <m:r>
                        <a:rPr lang="de-CH" sz="1600" i="1" noProof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de-CH" sz="16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sz="1600" i="1" noProof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acc>
                      <m:r>
                        <a:rPr lang="de-CH" sz="1600" i="1" noProof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num>
                        <m:den>
                          <m:r>
                            <a:rPr lang="de-CH" sz="16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CH" sz="16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⃗"/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e-CH" sz="1600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E43021-4029-C554-7FD1-866352B7A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163" y="2032187"/>
                <a:ext cx="1794849" cy="5533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EA9AB01-D5A0-43AB-D610-C4D9CE8F3190}"/>
              </a:ext>
            </a:extLst>
          </p:cNvPr>
          <p:cNvSpPr/>
          <p:nvPr/>
        </p:nvSpPr>
        <p:spPr>
          <a:xfrm>
            <a:off x="5685576" y="4725909"/>
            <a:ext cx="932507" cy="47078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348807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75A50-7337-24BB-1C6C-74E1D660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2.1 – Spezifische Leitfähigkeit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CC6CA-D943-F051-BEAD-0D37479AC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b="1" u="sng" noProof="0" dirty="0"/>
              <a:t>Schlüsselkonzepte</a:t>
            </a:r>
          </a:p>
          <a:p>
            <a:pPr marL="0" indent="0">
              <a:buNone/>
            </a:pPr>
            <a:r>
              <a:rPr lang="de-CH" noProof="0" dirty="0"/>
              <a:t>Spezifische Leitfähigkeit (inkl. Temperaturabhängigkeit)</a:t>
            </a:r>
          </a:p>
          <a:p>
            <a:pPr marL="0" indent="0">
              <a:buNone/>
            </a:pPr>
            <a:endParaRPr lang="de-CH" noProof="0" dirty="0"/>
          </a:p>
          <a:p>
            <a:pPr marL="0" indent="0">
              <a:buNone/>
            </a:pPr>
            <a:r>
              <a:rPr lang="de-CH" sz="1600" dirty="0"/>
              <a:t>Ein dünner Kupferleiter (</a:t>
            </a:r>
            <a:r>
              <a:rPr lang="de-CH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de-CH" sz="1600" dirty="0"/>
              <a:t> = 0.10 m lang, </a:t>
            </a:r>
            <a:r>
              <a:rPr lang="de-CH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w</a:t>
            </a:r>
            <a:r>
              <a:rPr lang="de-CH" sz="1600" dirty="0"/>
              <a:t> = 10 mm breit und </a:t>
            </a:r>
            <a:r>
              <a:rPr lang="de-CH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de-CH" sz="1600" dirty="0"/>
              <a:t> = 0.10 mm hoch) wird von 20°C auf 120°C erwärmt. </a:t>
            </a:r>
            <a:r>
              <a:rPr lang="de-CH" sz="1600" noProof="0" dirty="0"/>
              <a:t>Berechnet:</a:t>
            </a:r>
          </a:p>
          <a:p>
            <a:r>
              <a:rPr lang="de-CH" sz="1600" noProof="0" dirty="0"/>
              <a:t>Den Widerstand des Leiters bei 20°C</a:t>
            </a:r>
          </a:p>
          <a:p>
            <a:r>
              <a:rPr lang="de-CH" sz="1600" noProof="0" dirty="0"/>
              <a:t>Den Widerstand des Leiters bei 120°C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D0EE9-097F-4595-B185-B1A94EF0AB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8EF82BE-DF56-4719-B180-C3B0D509F71F}" type="datetime1">
              <a:rPr lang="de-CH" noProof="0" smtClean="0"/>
              <a:pPr>
                <a:spcAft>
                  <a:spcPts val="600"/>
                </a:spcAft>
              </a:pPr>
              <a:t>07.10.2026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D8026B-DCA5-EA65-F52D-052AF51F1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7585" y="6522444"/>
            <a:ext cx="322577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CA52AF-F19D-405C-AD5F-7D94B96A5CC3}" type="slidenum">
              <a:rPr lang="de-CH" noProof="0" smtClean="0"/>
              <a:pPr>
                <a:spcAft>
                  <a:spcPts val="600"/>
                </a:spcAft>
              </a:pPr>
              <a:t>11</a:t>
            </a:fld>
            <a:endParaRPr lang="de-CH" noProof="0" dirty="0"/>
          </a:p>
        </p:txBody>
      </p:sp>
      <p:pic>
        <p:nvPicPr>
          <p:cNvPr id="7" name="Picture 6" descr="https://thumb.wikimedia.org/wikipedia/commons/thumb/a/ae/Microstrip_scheme.svg/3840px-Microstrip_scheme.svg.png?utm_source=de.wikipedia.org&amp;utm_campaign=index&amp;utm_content=thumbnail">
            <a:extLst>
              <a:ext uri="{FF2B5EF4-FFF2-40B4-BE49-F238E27FC236}">
                <a16:creationId xmlns:a16="http://schemas.microsoft.com/office/drawing/2014/main" id="{120C6FF9-9E6E-0AE8-7046-F6BF232A2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7" y="4255611"/>
            <a:ext cx="5040000" cy="1663199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2748A1-E45C-249D-9B0E-6E4EC14E7E7E}"/>
              </a:ext>
            </a:extLst>
          </p:cNvPr>
          <p:cNvSpPr txBox="1"/>
          <p:nvPr/>
        </p:nvSpPr>
        <p:spPr>
          <a:xfrm>
            <a:off x="731836" y="6057431"/>
            <a:ext cx="28080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800" noProof="0" dirty="0"/>
              <a:t>https://de.wikipedia.org/wiki/Datei:Microstrip_scheme.svg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6689E8-13F1-2ADA-A20F-99700DBB43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7046"/>
          <a:stretch>
            <a:fillRect/>
          </a:stretch>
        </p:blipFill>
        <p:spPr>
          <a:xfrm>
            <a:off x="731836" y="1089782"/>
            <a:ext cx="5040000" cy="302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535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3C7CE-151F-6833-4B4E-498CF4F41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8F30C-26BC-3785-9D30-AC2D0367E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2.1 – Spezifische Leitfähigkeit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0471D3-A271-0ADD-8C38-92A9162F2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04163" y="1412875"/>
                <a:ext cx="5256000" cy="4860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noProof="0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noProof="0" dirty="0"/>
                  <a:t>Spezifische Leitfähigkeit (inkl. Temperaturabhängigkeit)</a:t>
                </a:r>
              </a:p>
              <a:p>
                <a:pPr marL="0" indent="0">
                  <a:buNone/>
                </a:pPr>
                <a:endParaRPr lang="de-CH" noProof="0" dirty="0"/>
              </a:p>
              <a:p>
                <a:pPr marL="0" indent="0">
                  <a:buNone/>
                </a:pPr>
                <a:r>
                  <a:rPr lang="de-CH" sz="1600" noProof="0" dirty="0"/>
                  <a:t>Ein dünner Kupferleiter (</a:t>
                </a:r>
                <a:r>
                  <a:rPr lang="de-CH" sz="1600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de-CH" sz="1600" noProof="0" dirty="0"/>
                  <a:t> = 0.10 m lang, </a:t>
                </a:r>
                <a:r>
                  <a:rPr lang="de-CH" sz="1600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</a:t>
                </a:r>
                <a:r>
                  <a:rPr lang="de-CH" sz="1600" noProof="0" dirty="0"/>
                  <a:t> = 10 mm breit und </a:t>
                </a:r>
                <a:r>
                  <a:rPr lang="de-CH" sz="1600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de-CH" sz="1600" noProof="0" dirty="0"/>
                  <a:t> = 0.10 mm hoch) wird von 20°C auf 120°C erwärmt. Berechnet:</a:t>
                </a:r>
              </a:p>
              <a:p>
                <a:r>
                  <a:rPr lang="de-CH" sz="1600" noProof="0" dirty="0"/>
                  <a:t>Den Widerstand des Leiters bei 20°C</a:t>
                </a:r>
              </a:p>
              <a:p>
                <a:pPr marL="2667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wt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≈1.8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de-CH" sz="1600" noProof="0" dirty="0"/>
              </a:p>
              <a:p>
                <a:r>
                  <a:rPr lang="de-CH" sz="1600" noProof="0" dirty="0"/>
                  <a:t>Den Widerstand des Leiters bei 120°C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i="1" noProof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i="1" noProof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i="1" noProof="0">
                              <a:latin typeface="Cambria Math" panose="02040503050406030204" pitchFamily="18" charset="0"/>
                            </a:rPr>
                            <m:t>l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CH" sz="1600" i="1" noProof="0">
                              <a:latin typeface="Cambria Math" panose="02040503050406030204" pitchFamily="18" charset="0"/>
                            </a:rPr>
                            <m:t>wt</m:t>
                          </m:r>
                        </m:den>
                      </m:f>
                      <m:sSub>
                        <m:sSubPr>
                          <m:ctrlPr>
                            <a:rPr lang="de-CH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noProof="0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ΔT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)≈2.5 </m:t>
                      </m:r>
                      <m:r>
                        <m:rPr>
                          <m:sty m:val="p"/>
                        </m:rPr>
                        <a:rPr lang="de-CH" sz="16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de-CH" sz="1600" noProof="0" dirty="0"/>
              </a:p>
              <a:p>
                <a:pPr marL="0" indent="0">
                  <a:buNone/>
                </a:pPr>
                <a:r>
                  <a:rPr lang="de-CH" sz="1600" noProof="0" dirty="0"/>
                  <a:t>Auf zwei signifikante Stellen runden (siehe moodle -&gt; Informationen -&gt; Infoblatt Signifikante Stellen)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0471D3-A271-0ADD-8C38-92A9162F2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04163" y="1412875"/>
                <a:ext cx="5256000" cy="4860000"/>
              </a:xfrm>
              <a:blipFill>
                <a:blip r:embed="rId3"/>
                <a:stretch>
                  <a:fillRect l="-2784" t="-1631" r="-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3D978-FEDA-7FDF-3AFD-E97F12E3E0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8EF82BE-DF56-4719-B180-C3B0D509F71F}" type="datetime1">
              <a:rPr lang="de-CH" noProof="0" smtClean="0"/>
              <a:pPr>
                <a:spcAft>
                  <a:spcPts val="600"/>
                </a:spcAft>
              </a:pPr>
              <a:t>07.10.2026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4D959-7DC1-996D-C2CE-A8332C815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7585" y="6522444"/>
            <a:ext cx="322577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CA52AF-F19D-405C-AD5F-7D94B96A5CC3}" type="slidenum">
              <a:rPr lang="de-CH" noProof="0" smtClean="0"/>
              <a:pPr>
                <a:spcAft>
                  <a:spcPts val="600"/>
                </a:spcAft>
              </a:pPr>
              <a:t>12</a:t>
            </a:fld>
            <a:endParaRPr lang="de-CH" noProof="0" dirty="0"/>
          </a:p>
        </p:txBody>
      </p:sp>
      <p:pic>
        <p:nvPicPr>
          <p:cNvPr id="7" name="Picture 6" descr="https://thumb.wikimedia.org/wikipedia/commons/thumb/a/ae/Microstrip_scheme.svg/3840px-Microstrip_scheme.svg.png?utm_source=de.wikipedia.org&amp;utm_campaign=index&amp;utm_content=thumbnail">
            <a:extLst>
              <a:ext uri="{FF2B5EF4-FFF2-40B4-BE49-F238E27FC236}">
                <a16:creationId xmlns:a16="http://schemas.microsoft.com/office/drawing/2014/main" id="{9B8B6B6F-A4CE-A611-8FAC-C7AECD99C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7" y="4255611"/>
            <a:ext cx="5040000" cy="1663199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F17DDF-39BA-8AF5-4B72-E0DBC9CF41D6}"/>
              </a:ext>
            </a:extLst>
          </p:cNvPr>
          <p:cNvSpPr txBox="1"/>
          <p:nvPr/>
        </p:nvSpPr>
        <p:spPr>
          <a:xfrm>
            <a:off x="731836" y="6057431"/>
            <a:ext cx="28080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800" noProof="0" dirty="0"/>
              <a:t>https://de.wikipedia.org/wiki/Datei:Microstrip_scheme.svg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6E9886-A278-67E5-20C7-1233133534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046"/>
          <a:stretch>
            <a:fillRect/>
          </a:stretch>
        </p:blipFill>
        <p:spPr>
          <a:xfrm>
            <a:off x="731836" y="1089782"/>
            <a:ext cx="5040000" cy="302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1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4CD61-1840-374F-7BE2-9F84B1CEA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3147-631E-6BB4-F59D-3E4D405F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2.2 – Energie und Leistung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0EE3C-CDA4-2E27-4AC9-A135DB248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b="1" u="sng" noProof="0" dirty="0"/>
              <a:t>Schlüsselkonzepte</a:t>
            </a:r>
          </a:p>
          <a:p>
            <a:pPr marL="0" indent="0">
              <a:buNone/>
            </a:pPr>
            <a:r>
              <a:rPr lang="de-CH" sz="1600" noProof="0" dirty="0"/>
              <a:t>Energie und Leistung (Kap. 2.9)</a:t>
            </a:r>
          </a:p>
          <a:p>
            <a:pPr marL="0" indent="0">
              <a:buNone/>
            </a:pPr>
            <a:r>
              <a:rPr lang="de-CH" sz="1600" noProof="0" dirty="0"/>
              <a:t>Über die 20°C warme Leiterbahn wird aus Versehen eine Spannungsquelle mit 5.0 V kurzgeschlossen. Die Leiterbahn erwärmt sich. Berechnet:</a:t>
            </a:r>
          </a:p>
          <a:p>
            <a:r>
              <a:rPr lang="de-CH" sz="1600" noProof="0" dirty="0"/>
              <a:t>Die maximale elektrische Leistung in der Leiterbahn</a:t>
            </a:r>
          </a:p>
          <a:p>
            <a:pPr lvl="1"/>
            <a:r>
              <a:rPr lang="de-CH" sz="1600" noProof="0" dirty="0"/>
              <a:t>Zwischenfrage: Welcher Widerstandswert wird in der Rechnung benutzt?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32059-C74C-4B12-D85D-61DDC08943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8EF82BE-DF56-4719-B180-C3B0D509F71F}" type="datetime1">
              <a:rPr lang="de-CH" noProof="0" smtClean="0"/>
              <a:pPr>
                <a:spcAft>
                  <a:spcPts val="600"/>
                </a:spcAft>
              </a:pPr>
              <a:t>07.10.2026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D7379-1F64-4497-FE79-2353495E4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7585" y="6522444"/>
            <a:ext cx="322577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CA52AF-F19D-405C-AD5F-7D94B96A5CC3}" type="slidenum">
              <a:rPr lang="de-CH" noProof="0" smtClean="0"/>
              <a:pPr>
                <a:spcAft>
                  <a:spcPts val="600"/>
                </a:spcAft>
              </a:pPr>
              <a:t>13</a:t>
            </a:fld>
            <a:endParaRPr lang="de-CH" noProof="0" dirty="0"/>
          </a:p>
        </p:txBody>
      </p:sp>
      <p:pic>
        <p:nvPicPr>
          <p:cNvPr id="7" name="Picture 6" descr="https://thumb.wikimedia.org/wikipedia/commons/thumb/a/ae/Microstrip_scheme.svg/3840px-Microstrip_scheme.svg.png?utm_source=de.wikipedia.org&amp;utm_campaign=index&amp;utm_content=thumbnail">
            <a:extLst>
              <a:ext uri="{FF2B5EF4-FFF2-40B4-BE49-F238E27FC236}">
                <a16:creationId xmlns:a16="http://schemas.microsoft.com/office/drawing/2014/main" id="{10918F96-9978-EC7B-7C53-876AB9FED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7" y="4255611"/>
            <a:ext cx="5040000" cy="1663199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11C6EB-F0C2-2F82-367C-DFD6F1B1A5E0}"/>
              </a:ext>
            </a:extLst>
          </p:cNvPr>
          <p:cNvSpPr txBox="1"/>
          <p:nvPr/>
        </p:nvSpPr>
        <p:spPr>
          <a:xfrm>
            <a:off x="731836" y="6057431"/>
            <a:ext cx="28080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800" noProof="0" dirty="0"/>
              <a:t>https://de.wikipedia.org/wiki/Datei:Microstrip_scheme.svg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E6F0AA-8118-DF35-3D47-6893057CCD16}"/>
                  </a:ext>
                </a:extLst>
              </p:cNvPr>
              <p:cNvSpPr txBox="1"/>
              <p:nvPr/>
            </p:nvSpPr>
            <p:spPr>
              <a:xfrm>
                <a:off x="1673755" y="2588942"/>
                <a:ext cx="3156163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CH" sz="1600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de-CH" sz="1600" noProof="0" dirty="0"/>
                  <a:t> = 0.10 m lang, </a:t>
                </a:r>
                <a:r>
                  <a:rPr lang="de-CH" sz="1600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</a:t>
                </a:r>
                <a:r>
                  <a:rPr lang="de-CH" sz="1600" noProof="0" dirty="0"/>
                  <a:t> = 10 mm breit und </a:t>
                </a:r>
                <a:r>
                  <a:rPr lang="de-CH" sz="1600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de-CH" sz="1600" noProof="0" dirty="0"/>
                  <a:t> = 0.10 mm hoch</a:t>
                </a:r>
              </a:p>
              <a:p>
                <a:pPr algn="ctr"/>
                <a:endParaRPr lang="de-CH" sz="1600" noProof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20°</m:t>
                          </m:r>
                          <m:r>
                            <m:rPr>
                              <m:sty m:val="p"/>
                            </m:rP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CH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de-CH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1.8 </m:t>
                      </m:r>
                      <m:r>
                        <m:rPr>
                          <m:sty m:val="p"/>
                        </m:rPr>
                        <a:rPr lang="de-CH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de-CH" noProof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i="1" noProof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e-CH" i="1" noProof="0">
                              <a:latin typeface="Cambria Math" panose="02040503050406030204" pitchFamily="18" charset="0"/>
                            </a:rPr>
                            <m:t>20°</m:t>
                          </m:r>
                          <m:r>
                            <m:rPr>
                              <m:sty m:val="p"/>
                            </m:rPr>
                            <a:rPr lang="de-CH" i="1" noProof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CH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2.5</m:t>
                      </m:r>
                      <m:r>
                        <a:rPr lang="de-CH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de-CH" noProof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E6F0AA-8118-DF35-3D47-6893057CC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755" y="2588942"/>
                <a:ext cx="3156163" cy="1384995"/>
              </a:xfrm>
              <a:prstGeom prst="rect">
                <a:avLst/>
              </a:prstGeom>
              <a:blipFill>
                <a:blip r:embed="rId4"/>
                <a:stretch>
                  <a:fillRect l="-193" t="-1762" r="-2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4641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A55D5-4A7C-587D-A39D-85674D5FD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B8918-7E48-4CEB-AE26-FDC6ADE6C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2.2 – Energie und Leistung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C19F6-D218-B55E-0CF2-4B7F015C4C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04163" y="1412875"/>
                <a:ext cx="5256000" cy="4860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noProof="0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noProof="0" dirty="0"/>
                  <a:t>Energie und Leistung (Kap. 2.9)</a:t>
                </a:r>
              </a:p>
              <a:p>
                <a:pPr marL="0" indent="0">
                  <a:buNone/>
                </a:pPr>
                <a:r>
                  <a:rPr lang="de-CH" sz="1600" noProof="0" dirty="0"/>
                  <a:t>Über die 20°C warme Leiterbahn </a:t>
                </a:r>
                <a:r>
                  <a:rPr lang="de-CH" sz="1600" noProof="0"/>
                  <a:t>wird aus Versehen </a:t>
                </a:r>
                <a:r>
                  <a:rPr lang="de-CH" sz="1600" noProof="0" dirty="0"/>
                  <a:t>eine Spannungsquelle mit 5.0 V kurzgeschlossen. Die Leiterbahn erwärmt sich. Berechnet:</a:t>
                </a:r>
              </a:p>
              <a:p>
                <a:r>
                  <a:rPr lang="de-CH" sz="1600" noProof="0" dirty="0"/>
                  <a:t>Die maximale elektrische Leistung in der Leiterbahn</a:t>
                </a:r>
              </a:p>
              <a:p>
                <a:pPr lvl="1"/>
                <a:r>
                  <a:rPr lang="de-CH" sz="1600" noProof="0" dirty="0"/>
                  <a:t>Zwischenfrage: Welcher Widerstandswert wird in der Rechnung benutzt?</a:t>
                </a:r>
              </a:p>
              <a:p>
                <a:pPr marL="0" indent="0">
                  <a:buNone/>
                </a:pPr>
                <a:endParaRPr lang="de-CH" sz="1600" noProof="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UI</m:t>
                    </m:r>
                  </m:oMath>
                </a14:m>
                <a:r>
                  <a:rPr lang="de-CH" sz="1600" noProof="0" dirty="0"/>
                  <a:t>    mit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RI</m:t>
                    </m:r>
                  </m:oMath>
                </a14:m>
                <a:endParaRPr lang="de-CH" sz="1600" noProof="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p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noProof="0" dirty="0"/>
              </a:p>
              <a:p>
                <a:r>
                  <a:rPr lang="de-CH" sz="1600" noProof="0" dirty="0"/>
                  <a:t>Der Term wird maximal, wenn der Widerstand klein ist.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p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  <m:t>20°</m:t>
                              </m:r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≈14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kW</m:t>
                      </m:r>
                    </m:oMath>
                  </m:oMathPara>
                </a14:m>
                <a:endParaRPr lang="de-CH" sz="1600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C19F6-D218-B55E-0CF2-4B7F015C4C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04163" y="1412875"/>
                <a:ext cx="5256000" cy="4860000"/>
              </a:xfrm>
              <a:blipFill>
                <a:blip r:embed="rId3"/>
                <a:stretch>
                  <a:fillRect l="-2784" t="-1631" r="-928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F8FAF-B381-EAF5-F04D-976296105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8EF82BE-DF56-4719-B180-C3B0D509F71F}" type="datetime1">
              <a:rPr lang="de-CH" noProof="0" smtClean="0"/>
              <a:pPr>
                <a:spcAft>
                  <a:spcPts val="600"/>
                </a:spcAft>
              </a:pPr>
              <a:t>07.10.2026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09A429-7127-F7CF-62DF-F309CF19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7585" y="6522444"/>
            <a:ext cx="322577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CA52AF-F19D-405C-AD5F-7D94B96A5CC3}" type="slidenum">
              <a:rPr lang="de-CH" noProof="0" smtClean="0"/>
              <a:pPr>
                <a:spcAft>
                  <a:spcPts val="600"/>
                </a:spcAft>
              </a:pPr>
              <a:t>14</a:t>
            </a:fld>
            <a:endParaRPr lang="de-CH" noProof="0" dirty="0"/>
          </a:p>
        </p:txBody>
      </p:sp>
      <p:pic>
        <p:nvPicPr>
          <p:cNvPr id="7" name="Picture 6" descr="https://thumb.wikimedia.org/wikipedia/commons/thumb/a/ae/Microstrip_scheme.svg/3840px-Microstrip_scheme.svg.png?utm_source=de.wikipedia.org&amp;utm_campaign=index&amp;utm_content=thumbnail">
            <a:extLst>
              <a:ext uri="{FF2B5EF4-FFF2-40B4-BE49-F238E27FC236}">
                <a16:creationId xmlns:a16="http://schemas.microsoft.com/office/drawing/2014/main" id="{EACC78D4-DD92-A311-EA18-406F1E2BF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7" y="4255611"/>
            <a:ext cx="5040000" cy="1663199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A9C4AA-4D20-0B27-B7C0-B266920A577E}"/>
              </a:ext>
            </a:extLst>
          </p:cNvPr>
          <p:cNvSpPr txBox="1"/>
          <p:nvPr/>
        </p:nvSpPr>
        <p:spPr>
          <a:xfrm>
            <a:off x="731836" y="6057431"/>
            <a:ext cx="28080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800" noProof="0" dirty="0"/>
              <a:t>https://de.wikipedia.org/wiki/Datei:Microstrip_scheme.svg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AAC282-34D6-DAE4-FACA-9B5101E1835D}"/>
                  </a:ext>
                </a:extLst>
              </p:cNvPr>
              <p:cNvSpPr txBox="1"/>
              <p:nvPr/>
            </p:nvSpPr>
            <p:spPr>
              <a:xfrm>
                <a:off x="1673755" y="2588942"/>
                <a:ext cx="3156163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CH" sz="1600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de-CH" sz="1600" noProof="0" dirty="0"/>
                  <a:t> = 0.10 m lang, </a:t>
                </a:r>
                <a:r>
                  <a:rPr lang="de-CH" sz="1600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</a:t>
                </a:r>
                <a:r>
                  <a:rPr lang="de-CH" sz="1600" noProof="0" dirty="0"/>
                  <a:t> = 10 mm breit und </a:t>
                </a:r>
                <a:r>
                  <a:rPr lang="de-CH" sz="1600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de-CH" sz="1600" noProof="0" dirty="0"/>
                  <a:t> = 0.10 mm hoch</a:t>
                </a:r>
              </a:p>
              <a:p>
                <a:pPr algn="ctr"/>
                <a:endParaRPr lang="de-CH" sz="1600" noProof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20°</m:t>
                          </m:r>
                          <m:r>
                            <m:rPr>
                              <m:sty m:val="p"/>
                            </m:rP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CH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de-CH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1.8 </m:t>
                      </m:r>
                      <m:r>
                        <m:rPr>
                          <m:sty m:val="p"/>
                        </m:rPr>
                        <a:rPr lang="de-CH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de-CH" noProof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i="1" noProof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e-CH" i="1" noProof="0">
                              <a:latin typeface="Cambria Math" panose="02040503050406030204" pitchFamily="18" charset="0"/>
                            </a:rPr>
                            <m:t>20°</m:t>
                          </m:r>
                          <m:r>
                            <m:rPr>
                              <m:sty m:val="p"/>
                            </m:rPr>
                            <a:rPr lang="de-CH" i="1" noProof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CH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2.5</m:t>
                      </m:r>
                      <m:r>
                        <a:rPr lang="de-CH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de-CH" noProof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AAC282-34D6-DAE4-FACA-9B5101E18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755" y="2588942"/>
                <a:ext cx="3156163" cy="1384995"/>
              </a:xfrm>
              <a:prstGeom prst="rect">
                <a:avLst/>
              </a:prstGeom>
              <a:blipFill>
                <a:blip r:embed="rId5"/>
                <a:stretch>
                  <a:fillRect l="-193" t="-1762" r="-2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4A49931-AE86-5B15-9794-B7B9DD363DDD}"/>
              </a:ext>
            </a:extLst>
          </p:cNvPr>
          <p:cNvSpPr txBox="1"/>
          <p:nvPr/>
        </p:nvSpPr>
        <p:spPr>
          <a:xfrm>
            <a:off x="6204163" y="6057431"/>
            <a:ext cx="3181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200" i="1" noProof="0" dirty="0"/>
              <a:t>Ungerundetes Zwischenergebnis einsetzen!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B832DA-ECDE-34AA-1EBD-F16313A75D41}"/>
              </a:ext>
            </a:extLst>
          </p:cNvPr>
          <p:cNvCxnSpPr/>
          <p:nvPr/>
        </p:nvCxnSpPr>
        <p:spPr>
          <a:xfrm flipV="1">
            <a:off x="8283388" y="5719482"/>
            <a:ext cx="206188" cy="199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21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636B6-36B2-D414-82CF-26DA111F1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1FFCA-F8D1-E853-5011-14989303C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2.3 – Energie und Leistung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0E0E4-A36F-2DA1-8BCB-79940C805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b="1" u="sng" noProof="0" dirty="0"/>
              <a:t>Schlüsselkonzepte</a:t>
            </a:r>
          </a:p>
          <a:p>
            <a:pPr marL="0" indent="0">
              <a:buNone/>
            </a:pPr>
            <a:r>
              <a:rPr lang="de-CH" sz="1600" noProof="0" dirty="0"/>
              <a:t>Energie und Leistung (Kap. 2.9)</a:t>
            </a:r>
          </a:p>
          <a:p>
            <a:pPr marL="0" indent="0">
              <a:buNone/>
            </a:pPr>
            <a:r>
              <a:rPr lang="de-CH" sz="1600" noProof="0" dirty="0"/>
              <a:t>Wie lange dauert es, bis die Leiterbahn sich auf 120°C erwärmt hat? Annahme: Leistung ist immer maximal. Die benötigte Energie für die Erwärmung ist 36 J.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2C8B4-D292-7904-E0FD-D241D0EF87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8EF82BE-DF56-4719-B180-C3B0D509F71F}" type="datetime1">
              <a:rPr lang="de-CH" noProof="0" smtClean="0"/>
              <a:pPr>
                <a:spcAft>
                  <a:spcPts val="600"/>
                </a:spcAft>
              </a:pPr>
              <a:t>07.10.2026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27839-FA48-FDCD-1280-F0A72C75D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7585" y="6522444"/>
            <a:ext cx="322577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CA52AF-F19D-405C-AD5F-7D94B96A5CC3}" type="slidenum">
              <a:rPr lang="de-CH" noProof="0" smtClean="0"/>
              <a:pPr>
                <a:spcAft>
                  <a:spcPts val="600"/>
                </a:spcAft>
              </a:pPr>
              <a:t>15</a:t>
            </a:fld>
            <a:endParaRPr lang="de-CH" noProof="0" dirty="0"/>
          </a:p>
        </p:txBody>
      </p:sp>
      <p:pic>
        <p:nvPicPr>
          <p:cNvPr id="7" name="Picture 6" descr="https://thumb.wikimedia.org/wikipedia/commons/thumb/a/ae/Microstrip_scheme.svg/3840px-Microstrip_scheme.svg.png?utm_source=de.wikipedia.org&amp;utm_campaign=index&amp;utm_content=thumbnail">
            <a:extLst>
              <a:ext uri="{FF2B5EF4-FFF2-40B4-BE49-F238E27FC236}">
                <a16:creationId xmlns:a16="http://schemas.microsoft.com/office/drawing/2014/main" id="{567EA4E9-AA9E-B503-8165-5FD4F1ADD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7" y="4255611"/>
            <a:ext cx="5040000" cy="1663199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5C3050-BCAC-0086-5FC6-FBDAA7092DB5}"/>
              </a:ext>
            </a:extLst>
          </p:cNvPr>
          <p:cNvSpPr txBox="1"/>
          <p:nvPr/>
        </p:nvSpPr>
        <p:spPr>
          <a:xfrm>
            <a:off x="731836" y="6057431"/>
            <a:ext cx="28080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800" noProof="0" dirty="0"/>
              <a:t>https://de.wikipedia.org/wiki/Datei:Microstrip_scheme.svg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AB86D0-BC5D-F109-5300-2CF16AB30EB3}"/>
                  </a:ext>
                </a:extLst>
              </p:cNvPr>
              <p:cNvSpPr txBox="1"/>
              <p:nvPr/>
            </p:nvSpPr>
            <p:spPr>
              <a:xfrm>
                <a:off x="1673755" y="1531399"/>
                <a:ext cx="3156163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CH" sz="1600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de-CH" sz="1600" noProof="0" dirty="0"/>
                  <a:t> = 0.10 m lang, </a:t>
                </a:r>
                <a:r>
                  <a:rPr lang="de-CH" sz="1600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</a:t>
                </a:r>
                <a:r>
                  <a:rPr lang="de-CH" sz="1600" noProof="0" dirty="0"/>
                  <a:t> = 10 mm breit und </a:t>
                </a:r>
                <a:r>
                  <a:rPr lang="de-CH" sz="1600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de-CH" sz="1600" noProof="0" dirty="0"/>
                  <a:t> = 0.10 mm hoch</a:t>
                </a:r>
              </a:p>
              <a:p>
                <a:pPr algn="ctr"/>
                <a:endParaRPr lang="de-CH" sz="1600" noProof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20°</m:t>
                          </m:r>
                          <m:r>
                            <m:rPr>
                              <m:sty m:val="p"/>
                            </m:rP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CH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de-CH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1.8 </m:t>
                      </m:r>
                      <m:r>
                        <m:rPr>
                          <m:sty m:val="p"/>
                        </m:rPr>
                        <a:rPr lang="de-CH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de-CH" noProof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i="1" noProof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e-CH" i="1" noProof="0">
                              <a:latin typeface="Cambria Math" panose="02040503050406030204" pitchFamily="18" charset="0"/>
                            </a:rPr>
                            <m:t>20°</m:t>
                          </m:r>
                          <m:r>
                            <m:rPr>
                              <m:sty m:val="p"/>
                            </m:rPr>
                            <a:rPr lang="de-CH" i="1" noProof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CH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2.5</m:t>
                      </m:r>
                      <m:r>
                        <a:rPr lang="de-CH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de-CH" noProof="0" dirty="0"/>
              </a:p>
              <a:p>
                <a:pPr algn="ctr"/>
                <a:endParaRPr lang="de-CH" noProof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i="1" noProof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i="1" noProof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de-CH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14 </m:t>
                      </m:r>
                      <m:r>
                        <m:rPr>
                          <m:sty m:val="p"/>
                        </m:rPr>
                        <a:rPr lang="de-CH" b="0" i="1" noProof="0" smtClean="0">
                          <a:latin typeface="Cambria Math" panose="02040503050406030204" pitchFamily="18" charset="0"/>
                        </a:rPr>
                        <m:t>kW</m:t>
                      </m:r>
                    </m:oMath>
                  </m:oMathPara>
                </a14:m>
                <a:endParaRPr lang="de-CH" noProof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AB86D0-BC5D-F109-5300-2CF16AB30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755" y="1531399"/>
                <a:ext cx="3156163" cy="1938992"/>
              </a:xfrm>
              <a:prstGeom prst="rect">
                <a:avLst/>
              </a:prstGeom>
              <a:blipFill>
                <a:blip r:embed="rId4"/>
                <a:stretch>
                  <a:fillRect l="-193" t="-1258" r="-2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0215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AFF72-11B9-455A-161E-F015A06A0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84166-648B-F0BE-9E43-0C2C9863D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2.3 – Energie und Leistung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7EBF6F-E497-09CA-D0AB-4B134D79BC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04163" y="1412875"/>
                <a:ext cx="5256000" cy="4860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noProof="0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noProof="0" dirty="0"/>
                  <a:t>Energie und Leistung (Kap. 2.9)</a:t>
                </a:r>
              </a:p>
              <a:p>
                <a:pPr marL="0" indent="0">
                  <a:buNone/>
                </a:pPr>
                <a:r>
                  <a:rPr lang="de-CH" sz="1600" noProof="0" dirty="0"/>
                  <a:t>Wie lange dauert es, bis die Leiterbahn sich auf 120°C erwärmt hat? Annahme: Leistung ist immer maximal. Die benötigte Energie für die Erwärmung ist 36 J.</a:t>
                </a:r>
              </a:p>
              <a:p>
                <a:pPr marL="0" indent="0">
                  <a:buNone/>
                </a:pPr>
                <a:endParaRPr lang="de-CH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36 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J</m:t>
                          </m:r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14 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kW</m:t>
                          </m:r>
                        </m:den>
                      </m:f>
                      <m: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de-CH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2.6 </m:t>
                      </m:r>
                      <m:r>
                        <m:rPr>
                          <m:sty m:val="p"/>
                        </m:rPr>
                        <a:rPr lang="de-CH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de-CH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de-CH" sz="1600" b="0" dirty="0">
                  <a:ea typeface="Cambria Math" panose="02040503050406030204" pitchFamily="18" charset="0"/>
                </a:endParaRPr>
              </a:p>
              <a:p>
                <a:r>
                  <a:rPr lang="de-CH" sz="1600" noProof="0" dirty="0"/>
                  <a:t>Energie wird extrem schnell freigesetzt, wie im Drahtverdampfungsexperiment</a:t>
                </a:r>
              </a:p>
              <a:p>
                <a:r>
                  <a:rPr lang="de-CH" sz="1600" dirty="0"/>
                  <a:t>(Aber, normale 5 V Spannungsquellen haben viel geringere Stromlimite. Häufiger wird ein höherohmiges Bauteil beschädigt, nicht die Leiterbahn.)</a:t>
                </a:r>
                <a:endParaRPr lang="de-CH" sz="1600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7EBF6F-E497-09CA-D0AB-4B134D79BC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04163" y="1412875"/>
                <a:ext cx="5256000" cy="4860000"/>
              </a:xfrm>
              <a:blipFill>
                <a:blip r:embed="rId3"/>
                <a:stretch>
                  <a:fillRect l="-2784" t="-1631" r="-1972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2B34C-FB9F-4072-EDBA-E3B48F010A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8EF82BE-DF56-4719-B180-C3B0D509F71F}" type="datetime1">
              <a:rPr lang="de-CH" noProof="0" smtClean="0"/>
              <a:pPr>
                <a:spcAft>
                  <a:spcPts val="600"/>
                </a:spcAft>
              </a:pPr>
              <a:t>07.10.2026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58A17-E0F9-4BBD-FE70-D749AE35F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7585" y="6522444"/>
            <a:ext cx="322577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CA52AF-F19D-405C-AD5F-7D94B96A5CC3}" type="slidenum">
              <a:rPr lang="de-CH" noProof="0" smtClean="0"/>
              <a:pPr>
                <a:spcAft>
                  <a:spcPts val="600"/>
                </a:spcAft>
              </a:pPr>
              <a:t>16</a:t>
            </a:fld>
            <a:endParaRPr lang="de-CH" noProof="0" dirty="0"/>
          </a:p>
        </p:txBody>
      </p:sp>
      <p:pic>
        <p:nvPicPr>
          <p:cNvPr id="7" name="Picture 6" descr="https://thumb.wikimedia.org/wikipedia/commons/thumb/a/ae/Microstrip_scheme.svg/3840px-Microstrip_scheme.svg.png?utm_source=de.wikipedia.org&amp;utm_campaign=index&amp;utm_content=thumbnail">
            <a:extLst>
              <a:ext uri="{FF2B5EF4-FFF2-40B4-BE49-F238E27FC236}">
                <a16:creationId xmlns:a16="http://schemas.microsoft.com/office/drawing/2014/main" id="{25D5CAFB-5624-3453-505C-972D0158A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7" y="4255611"/>
            <a:ext cx="5040000" cy="1663199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2D6B6C-34A8-5A4B-F03A-7171C3C9421F}"/>
              </a:ext>
            </a:extLst>
          </p:cNvPr>
          <p:cNvSpPr txBox="1"/>
          <p:nvPr/>
        </p:nvSpPr>
        <p:spPr>
          <a:xfrm>
            <a:off x="731836" y="6057431"/>
            <a:ext cx="28080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800" noProof="0" dirty="0"/>
              <a:t>https://de.wikipedia.org/wiki/Datei:Microstrip_scheme.svg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CE102E-12DC-9D06-E1C9-E9B2E5DCA122}"/>
                  </a:ext>
                </a:extLst>
              </p:cNvPr>
              <p:cNvSpPr txBox="1"/>
              <p:nvPr/>
            </p:nvSpPr>
            <p:spPr>
              <a:xfrm>
                <a:off x="1673755" y="1531399"/>
                <a:ext cx="3156163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CH" sz="1600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de-CH" sz="1600" noProof="0" dirty="0"/>
                  <a:t> = 0.10 m lang, </a:t>
                </a:r>
                <a:r>
                  <a:rPr lang="de-CH" sz="1600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</a:t>
                </a:r>
                <a:r>
                  <a:rPr lang="de-CH" sz="1600" noProof="0" dirty="0"/>
                  <a:t> = 10 mm breit und </a:t>
                </a:r>
                <a:r>
                  <a:rPr lang="de-CH" sz="1600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de-CH" sz="1600" noProof="0" dirty="0"/>
                  <a:t> = 0.10 mm hoch</a:t>
                </a:r>
              </a:p>
              <a:p>
                <a:pPr algn="ctr"/>
                <a:endParaRPr lang="de-CH" sz="1600" noProof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20°</m:t>
                          </m:r>
                          <m:r>
                            <m:rPr>
                              <m:sty m:val="p"/>
                            </m:rP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CH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de-CH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1.8 </m:t>
                      </m:r>
                      <m:r>
                        <m:rPr>
                          <m:sty m:val="p"/>
                        </m:rPr>
                        <a:rPr lang="de-CH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de-CH" noProof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i="1" noProof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e-CH" i="1" noProof="0">
                              <a:latin typeface="Cambria Math" panose="02040503050406030204" pitchFamily="18" charset="0"/>
                            </a:rPr>
                            <m:t>20°</m:t>
                          </m:r>
                          <m:r>
                            <m:rPr>
                              <m:sty m:val="p"/>
                            </m:rPr>
                            <a:rPr lang="de-CH" i="1" noProof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CH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2.5</m:t>
                      </m:r>
                      <m:r>
                        <a:rPr lang="de-CH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de-CH" noProof="0" dirty="0"/>
              </a:p>
              <a:p>
                <a:pPr algn="ctr"/>
                <a:endParaRPr lang="de-CH" noProof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i="1" noProof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i="1" noProof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de-CH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14 </m:t>
                      </m:r>
                      <m:r>
                        <m:rPr>
                          <m:sty m:val="p"/>
                        </m:rPr>
                        <a:rPr lang="de-CH" b="0" i="1" noProof="0" smtClean="0">
                          <a:latin typeface="Cambria Math" panose="02040503050406030204" pitchFamily="18" charset="0"/>
                        </a:rPr>
                        <m:t>kW</m:t>
                      </m:r>
                    </m:oMath>
                  </m:oMathPara>
                </a14:m>
                <a:endParaRPr lang="de-CH" noProof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CE102E-12DC-9D06-E1C9-E9B2E5DCA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755" y="1531399"/>
                <a:ext cx="3156163" cy="1938992"/>
              </a:xfrm>
              <a:prstGeom prst="rect">
                <a:avLst/>
              </a:prstGeom>
              <a:blipFill>
                <a:blip r:embed="rId5"/>
                <a:stretch>
                  <a:fillRect l="-193" t="-1258" r="-2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Where to find liquid magic smoke on AliExpress?">
            <a:extLst>
              <a:ext uri="{FF2B5EF4-FFF2-40B4-BE49-F238E27FC236}">
                <a16:creationId xmlns:a16="http://schemas.microsoft.com/office/drawing/2014/main" id="{F96BF0CB-4F1A-5188-4488-345C0693CF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8338" y="1945571"/>
            <a:ext cx="1689500" cy="230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9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2CBD-F8FF-5326-947E-9E9FF0A0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Beispiel 3.1 – Materialsprungstellen der Leitfähigkeit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E93ED-3F86-BDAD-4103-8E325B358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3325" y="1412875"/>
            <a:ext cx="3906838" cy="4860000"/>
          </a:xfrm>
        </p:spPr>
        <p:txBody>
          <a:bodyPr/>
          <a:lstStyle/>
          <a:p>
            <a:pPr marL="0" indent="0">
              <a:buNone/>
            </a:pPr>
            <a:r>
              <a:rPr lang="de-CH" b="1" u="sng" dirty="0"/>
              <a:t>Lernziel</a:t>
            </a:r>
          </a:p>
          <a:p>
            <a:pPr marL="0" indent="0">
              <a:buNone/>
            </a:pPr>
            <a:r>
              <a:rPr lang="en-US" sz="1600" dirty="0"/>
              <a:t>Das </a:t>
            </a:r>
            <a:r>
              <a:rPr lang="en-US" sz="1600" dirty="0" err="1"/>
              <a:t>Verhalten</a:t>
            </a:r>
            <a:r>
              <a:rPr lang="en-US" sz="1600" dirty="0"/>
              <a:t> der </a:t>
            </a:r>
            <a:r>
              <a:rPr lang="en-US" sz="1600" dirty="0" err="1"/>
              <a:t>Stromdichte</a:t>
            </a:r>
            <a:r>
              <a:rPr lang="en-US" sz="1600" dirty="0"/>
              <a:t> an </a:t>
            </a:r>
            <a:r>
              <a:rPr lang="en-US" sz="1600" dirty="0" err="1"/>
              <a:t>Materialsprungstellen</a:t>
            </a:r>
            <a:r>
              <a:rPr lang="en-US" sz="1600" dirty="0"/>
              <a:t> </a:t>
            </a:r>
            <a:r>
              <a:rPr lang="en-US" sz="1600" dirty="0" err="1"/>
              <a:t>mit</a:t>
            </a:r>
            <a:r>
              <a:rPr lang="en-US" sz="1600" dirty="0"/>
              <a:t> </a:t>
            </a:r>
            <a:r>
              <a:rPr lang="en-US" sz="1600" dirty="0" err="1"/>
              <a:t>unterschiedlichen</a:t>
            </a:r>
            <a:r>
              <a:rPr lang="en-US" sz="1600" dirty="0"/>
              <a:t> </a:t>
            </a:r>
            <a:r>
              <a:rPr lang="en-US" sz="1600" dirty="0" err="1"/>
              <a:t>Leitfähigkeiten</a:t>
            </a:r>
            <a:r>
              <a:rPr lang="en-US" sz="1600" dirty="0"/>
              <a:t> </a:t>
            </a:r>
            <a:r>
              <a:rPr lang="en-US" sz="1600" dirty="0" err="1"/>
              <a:t>zu</a:t>
            </a:r>
            <a:r>
              <a:rPr lang="en-US" sz="1600" dirty="0"/>
              <a:t> </a:t>
            </a:r>
            <a:r>
              <a:rPr lang="en-US" sz="1600" dirty="0" err="1"/>
              <a:t>bestimmen</a:t>
            </a:r>
            <a:r>
              <a:rPr lang="en-US" sz="1600" dirty="0"/>
              <a:t>. </a:t>
            </a:r>
            <a:endParaRPr lang="de-CH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7C453-180F-3233-1C59-4E3DDD15D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07.10.2026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CC251-B1B5-E663-6A18-4DEF230DF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17</a:t>
            </a:fld>
            <a:endParaRPr lang="de-CH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717D9A-BCB1-828B-6361-F24FCE880E91}"/>
                  </a:ext>
                </a:extLst>
              </p:cNvPr>
              <p:cNvSpPr txBox="1"/>
              <p:nvPr/>
            </p:nvSpPr>
            <p:spPr>
              <a:xfrm>
                <a:off x="1000706" y="1412875"/>
                <a:ext cx="6072447" cy="1419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CH" sz="1600" dirty="0"/>
                  <a:t>Gegeben sei die Leitfähigkeit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, der Betrag der Stromdichte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CH" sz="16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de-CH" sz="1600" dirty="0"/>
                  <a:t>, sowie die Winkel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/>
                  <a:t>Berechne die Normal und Tangentialkomponente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de-CH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/>
                  <a:t>Berechne die Leitfähigkeit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de-CH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/>
                  <a:t>Berechne Normal und Tangentialkomponente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717D9A-BCB1-828B-6361-F24FCE880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706" y="1412875"/>
                <a:ext cx="6072447" cy="1419876"/>
              </a:xfrm>
              <a:prstGeom prst="rect">
                <a:avLst/>
              </a:prstGeom>
              <a:blipFill>
                <a:blip r:embed="rId2"/>
                <a:stretch>
                  <a:fillRect l="-502" r="-602" b="-472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8C4CCDB-1512-11BD-7C61-D9A939806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06" y="3085275"/>
            <a:ext cx="2700533" cy="270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395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6237F-3A23-022A-15BF-8466245DB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5A97F-69F4-66E6-CECA-3A15C1104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Beispiel 3.1 – Materialsprungstellen der Leitfähigkeit – Lösung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32406-B7F7-6CC7-E3FB-57F4BB851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3325" y="1412875"/>
            <a:ext cx="3906838" cy="4860000"/>
          </a:xfrm>
        </p:spPr>
        <p:txBody>
          <a:bodyPr/>
          <a:lstStyle/>
          <a:p>
            <a:pPr marL="0" indent="0">
              <a:buNone/>
            </a:pPr>
            <a:r>
              <a:rPr lang="de-CH" b="1" u="sng" dirty="0"/>
              <a:t>Lernziel</a:t>
            </a:r>
          </a:p>
          <a:p>
            <a:pPr marL="0" indent="0">
              <a:buNone/>
            </a:pPr>
            <a:r>
              <a:rPr lang="en-US" sz="1600" dirty="0"/>
              <a:t>Das </a:t>
            </a:r>
            <a:r>
              <a:rPr lang="en-US" sz="1600" dirty="0" err="1"/>
              <a:t>Verhalten</a:t>
            </a:r>
            <a:r>
              <a:rPr lang="en-US" sz="1600" dirty="0"/>
              <a:t> der </a:t>
            </a:r>
            <a:r>
              <a:rPr lang="en-US" sz="1600" dirty="0" err="1"/>
              <a:t>Stromdichte</a:t>
            </a:r>
            <a:r>
              <a:rPr lang="en-US" sz="1600" dirty="0"/>
              <a:t> an </a:t>
            </a:r>
            <a:r>
              <a:rPr lang="en-US" sz="1600" dirty="0" err="1"/>
              <a:t>Materialsprungstellen</a:t>
            </a:r>
            <a:r>
              <a:rPr lang="en-US" sz="1600" dirty="0"/>
              <a:t> </a:t>
            </a:r>
            <a:r>
              <a:rPr lang="en-US" sz="1600" dirty="0" err="1"/>
              <a:t>mit</a:t>
            </a:r>
            <a:r>
              <a:rPr lang="en-US" sz="1600" dirty="0"/>
              <a:t> </a:t>
            </a:r>
            <a:r>
              <a:rPr lang="en-US" sz="1600" dirty="0" err="1"/>
              <a:t>unterschiedlichen</a:t>
            </a:r>
            <a:r>
              <a:rPr lang="en-US" sz="1600" dirty="0"/>
              <a:t> </a:t>
            </a:r>
            <a:r>
              <a:rPr lang="en-US" sz="1600" dirty="0" err="1"/>
              <a:t>Leitfähigkeiten</a:t>
            </a:r>
            <a:r>
              <a:rPr lang="en-US" sz="1600" dirty="0"/>
              <a:t> </a:t>
            </a:r>
            <a:r>
              <a:rPr lang="en-US" sz="1600" dirty="0" err="1"/>
              <a:t>zu</a:t>
            </a:r>
            <a:r>
              <a:rPr lang="en-US" sz="1600" dirty="0"/>
              <a:t> </a:t>
            </a:r>
            <a:r>
              <a:rPr lang="en-US" sz="1600" dirty="0" err="1"/>
              <a:t>bestimmen</a:t>
            </a:r>
            <a:r>
              <a:rPr lang="en-US" sz="1600" dirty="0"/>
              <a:t>. </a:t>
            </a:r>
            <a:endParaRPr lang="de-CH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394DA-6500-624C-00EE-D734F1359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07.10.2026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1F291-F32C-DF39-7FF2-12438608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18</a:t>
            </a:fld>
            <a:endParaRPr lang="de-CH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BCECA6-4977-F1C0-E5C9-03C6D6C793ED}"/>
                  </a:ext>
                </a:extLst>
              </p:cNvPr>
              <p:cNvSpPr txBox="1"/>
              <p:nvPr/>
            </p:nvSpPr>
            <p:spPr>
              <a:xfrm>
                <a:off x="1000706" y="1412875"/>
                <a:ext cx="6072447" cy="1419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CH" sz="1600" dirty="0"/>
                  <a:t>Gegeben sei die Leitfähigkeit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, der Betrag der Stromdichte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CH" sz="16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de-CH" sz="1600" dirty="0"/>
                  <a:t>, sowie die Winkel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/>
                  <a:t>Berechne die Normal und Tangentialkomponente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de-CH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/>
                  <a:t>Berechne die Leitfähigkeit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de-CH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/>
                  <a:t>Berechne Normal und Tangentialkomponente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BCECA6-4977-F1C0-E5C9-03C6D6C79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706" y="1412875"/>
                <a:ext cx="6072447" cy="1419876"/>
              </a:xfrm>
              <a:prstGeom prst="rect">
                <a:avLst/>
              </a:prstGeom>
              <a:blipFill>
                <a:blip r:embed="rId2"/>
                <a:stretch>
                  <a:fillRect l="-502" r="-602" b="-472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1F73DCB1-BD5C-53CC-5034-2B95E67EB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06" y="3085275"/>
            <a:ext cx="2700533" cy="27005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F96910-E92C-8FD9-0D3A-35B72C4E24FB}"/>
                  </a:ext>
                </a:extLst>
              </p:cNvPr>
              <p:cNvSpPr txBox="1"/>
              <p:nvPr/>
            </p:nvSpPr>
            <p:spPr>
              <a:xfrm>
                <a:off x="4078941" y="3085275"/>
                <a:ext cx="7381221" cy="2344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de-CH" sz="1600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unc>
                      <m:func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CH" sz="160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</m:oMath>
                </a14:m>
                <a:r>
                  <a:rPr lang="de-CH" sz="16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de-CH" sz="16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de-CH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unc>
                      <m:funcPr>
                        <m:ctrlPr>
                          <a:rPr lang="de-CH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CH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</m:oMath>
                </a14:m>
                <a:endParaRPr lang="de-CH" sz="1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de-CH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de-CH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de-CH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 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CH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de-CH" sz="1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de-CH" sz="1600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b>
                              <m:r>
                                <a:rPr lang="de-CH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den>
                      </m:f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CH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F96910-E92C-8FD9-0D3A-35B72C4E2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941" y="3085275"/>
                <a:ext cx="7381221" cy="23448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925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8E102-0091-36D5-F3A5-77C633D45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658A-5F89-D4FB-A660-92ADCF023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Beispiel 3.2 – Materialsprungstellen der Leitfähigkeit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74E4A-BA16-089C-F2FD-2AB055F9F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3325" y="1412875"/>
            <a:ext cx="3906838" cy="4860000"/>
          </a:xfrm>
        </p:spPr>
        <p:txBody>
          <a:bodyPr/>
          <a:lstStyle/>
          <a:p>
            <a:pPr marL="0" indent="0">
              <a:buNone/>
            </a:pPr>
            <a:r>
              <a:rPr lang="de-CH" b="1" u="sng" dirty="0"/>
              <a:t>Lernziel</a:t>
            </a:r>
          </a:p>
          <a:p>
            <a:pPr marL="0" indent="0">
              <a:buNone/>
            </a:pPr>
            <a:r>
              <a:rPr lang="en-US" sz="1600" dirty="0"/>
              <a:t>Das </a:t>
            </a:r>
            <a:r>
              <a:rPr lang="en-US" sz="1600" dirty="0" err="1"/>
              <a:t>Verhalten</a:t>
            </a:r>
            <a:r>
              <a:rPr lang="en-US" sz="1600" dirty="0"/>
              <a:t> der </a:t>
            </a:r>
            <a:r>
              <a:rPr lang="en-US" sz="1600" dirty="0" err="1"/>
              <a:t>Stromdichte</a:t>
            </a:r>
            <a:r>
              <a:rPr lang="en-US" sz="1600" dirty="0"/>
              <a:t> an </a:t>
            </a:r>
            <a:r>
              <a:rPr lang="en-US" sz="1600" dirty="0" err="1"/>
              <a:t>Materialsprungstellen</a:t>
            </a:r>
            <a:r>
              <a:rPr lang="en-US" sz="1600" dirty="0"/>
              <a:t> </a:t>
            </a:r>
            <a:r>
              <a:rPr lang="en-US" sz="1600" dirty="0" err="1"/>
              <a:t>mit</a:t>
            </a:r>
            <a:r>
              <a:rPr lang="en-US" sz="1600" dirty="0"/>
              <a:t> </a:t>
            </a:r>
            <a:r>
              <a:rPr lang="en-US" sz="1600" dirty="0" err="1"/>
              <a:t>unterschiedlichen</a:t>
            </a:r>
            <a:r>
              <a:rPr lang="en-US" sz="1600" dirty="0"/>
              <a:t> </a:t>
            </a:r>
            <a:r>
              <a:rPr lang="en-US" sz="1600" dirty="0" err="1"/>
              <a:t>Leitfähigkeiten</a:t>
            </a:r>
            <a:r>
              <a:rPr lang="en-US" sz="1600" dirty="0"/>
              <a:t> </a:t>
            </a:r>
            <a:r>
              <a:rPr lang="en-US" sz="1600" dirty="0" err="1"/>
              <a:t>zu</a:t>
            </a:r>
            <a:r>
              <a:rPr lang="en-US" sz="1600" dirty="0"/>
              <a:t> </a:t>
            </a:r>
            <a:r>
              <a:rPr lang="en-US" sz="1600" dirty="0" err="1"/>
              <a:t>bestimmen</a:t>
            </a:r>
            <a:r>
              <a:rPr lang="en-US" sz="1600" dirty="0"/>
              <a:t>. </a:t>
            </a:r>
            <a:endParaRPr lang="de-CH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3DD9F-E11F-7D41-F074-D54A4E5D2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07.10.2026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BFF32C-2E3B-59E1-617D-AC17239FD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19</a:t>
            </a:fld>
            <a:endParaRPr lang="de-CH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58F0A5-BDE7-4F04-61AB-C3D7F0F582B3}"/>
                  </a:ext>
                </a:extLst>
              </p:cNvPr>
              <p:cNvSpPr txBox="1"/>
              <p:nvPr/>
            </p:nvSpPr>
            <p:spPr>
              <a:xfrm>
                <a:off x="1000706" y="1412875"/>
                <a:ext cx="6072447" cy="614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CH" sz="1600" dirty="0"/>
                  <a:t>Sei nun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CH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de-CH" sz="1600" dirty="0"/>
                  <a:t>. </a:t>
                </a:r>
              </a:p>
              <a:p>
                <a:r>
                  <a:rPr lang="de-CH" sz="1600" dirty="0"/>
                  <a:t>Was kann man über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aussagen?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58F0A5-BDE7-4F04-61AB-C3D7F0F58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706" y="1412875"/>
                <a:ext cx="6072447" cy="614720"/>
              </a:xfrm>
              <a:prstGeom prst="rect">
                <a:avLst/>
              </a:prstGeom>
              <a:blipFill>
                <a:blip r:embed="rId2"/>
                <a:stretch>
                  <a:fillRect l="-502" t="-2970" b="-1188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9A5244E-613A-3ED4-802C-D4E0B5202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06" y="3085275"/>
            <a:ext cx="2700533" cy="270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81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0D29C-9039-DDFD-BBA1-B1834F0EE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53C28-1740-F64D-510B-9FE48FE9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Beispiel 3.2 – Materialsprungstellen der Leitfähigkeit – Lösung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83256-14C6-A9EE-41A5-8BB2C5418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3325" y="1412875"/>
            <a:ext cx="3906838" cy="4860000"/>
          </a:xfrm>
        </p:spPr>
        <p:txBody>
          <a:bodyPr/>
          <a:lstStyle/>
          <a:p>
            <a:pPr marL="0" indent="0">
              <a:buNone/>
            </a:pPr>
            <a:r>
              <a:rPr lang="de-CH" b="1" u="sng" dirty="0"/>
              <a:t>Lernziel</a:t>
            </a:r>
          </a:p>
          <a:p>
            <a:pPr marL="0" indent="0">
              <a:buNone/>
            </a:pPr>
            <a:r>
              <a:rPr lang="en-US" sz="1600" dirty="0"/>
              <a:t>Das </a:t>
            </a:r>
            <a:r>
              <a:rPr lang="en-US" sz="1600" dirty="0" err="1"/>
              <a:t>Verhalten</a:t>
            </a:r>
            <a:r>
              <a:rPr lang="en-US" sz="1600" dirty="0"/>
              <a:t> der </a:t>
            </a:r>
            <a:r>
              <a:rPr lang="en-US" sz="1600" dirty="0" err="1"/>
              <a:t>Stromdichte</a:t>
            </a:r>
            <a:r>
              <a:rPr lang="en-US" sz="1600" dirty="0"/>
              <a:t> an </a:t>
            </a:r>
            <a:r>
              <a:rPr lang="en-US" sz="1600" dirty="0" err="1"/>
              <a:t>Materialsprungstellen</a:t>
            </a:r>
            <a:r>
              <a:rPr lang="en-US" sz="1600" dirty="0"/>
              <a:t> </a:t>
            </a:r>
            <a:r>
              <a:rPr lang="en-US" sz="1600" dirty="0" err="1"/>
              <a:t>mit</a:t>
            </a:r>
            <a:r>
              <a:rPr lang="en-US" sz="1600" dirty="0"/>
              <a:t> </a:t>
            </a:r>
            <a:r>
              <a:rPr lang="en-US" sz="1600" dirty="0" err="1"/>
              <a:t>unterschiedlichen</a:t>
            </a:r>
            <a:r>
              <a:rPr lang="en-US" sz="1600" dirty="0"/>
              <a:t> </a:t>
            </a:r>
            <a:r>
              <a:rPr lang="en-US" sz="1600" dirty="0" err="1"/>
              <a:t>Leitfähigkeiten</a:t>
            </a:r>
            <a:r>
              <a:rPr lang="en-US" sz="1600" dirty="0"/>
              <a:t> </a:t>
            </a:r>
            <a:r>
              <a:rPr lang="en-US" sz="1600" dirty="0" err="1"/>
              <a:t>zu</a:t>
            </a:r>
            <a:r>
              <a:rPr lang="en-US" sz="1600" dirty="0"/>
              <a:t> </a:t>
            </a:r>
            <a:r>
              <a:rPr lang="en-US" sz="1600" dirty="0" err="1"/>
              <a:t>bestimmen</a:t>
            </a:r>
            <a:r>
              <a:rPr lang="en-US" sz="1600" dirty="0"/>
              <a:t>. </a:t>
            </a:r>
            <a:endParaRPr lang="de-CH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0060E-E225-296F-985E-64A12674D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07.10.2026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9945C-7636-9963-468C-1D4C9635D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20</a:t>
            </a:fld>
            <a:endParaRPr lang="de-CH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01378E-E36F-E7E9-DF65-97F8702AEE5C}"/>
                  </a:ext>
                </a:extLst>
              </p:cNvPr>
              <p:cNvSpPr txBox="1"/>
              <p:nvPr/>
            </p:nvSpPr>
            <p:spPr>
              <a:xfrm>
                <a:off x="1000706" y="1412875"/>
                <a:ext cx="6072447" cy="614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CH" sz="1600" dirty="0"/>
                  <a:t>Sei nun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CH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de-CH" sz="1600" dirty="0"/>
                  <a:t>. </a:t>
                </a:r>
              </a:p>
              <a:p>
                <a:r>
                  <a:rPr lang="de-CH" sz="1600" dirty="0"/>
                  <a:t>Was kann man über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aussagen?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01378E-E36F-E7E9-DF65-97F8702AE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706" y="1412875"/>
                <a:ext cx="6072447" cy="614720"/>
              </a:xfrm>
              <a:prstGeom prst="rect">
                <a:avLst/>
              </a:prstGeom>
              <a:blipFill>
                <a:blip r:embed="rId2"/>
                <a:stretch>
                  <a:fillRect l="-502" t="-2970" b="-1188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9CD89F4-2E1D-B372-FD23-C1686CC112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06" y="3085275"/>
            <a:ext cx="2700533" cy="27005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0B0D30-BA1C-7444-5FCB-52E583209E5B}"/>
                  </a:ext>
                </a:extLst>
              </p:cNvPr>
              <p:cNvSpPr txBox="1"/>
              <p:nvPr/>
            </p:nvSpPr>
            <p:spPr>
              <a:xfrm>
                <a:off x="4078941" y="3085275"/>
                <a:ext cx="7381221" cy="1154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de-CH" sz="16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CH" sz="1600" dirty="0"/>
                  <a:t>, da in einem nicht leitfähigen Material kein Strom fliessen kann.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de-CH" sz="1600" dirty="0"/>
                  <a:t> da die Normalkomponente stetig ist.</a:t>
                </a:r>
              </a:p>
              <a:p>
                <a:pPr>
                  <a:lnSpc>
                    <a:spcPct val="150000"/>
                  </a:lnSpc>
                </a:pPr>
                <a:r>
                  <a:rPr lang="de-CH" sz="1600" dirty="0"/>
                  <a:t>D.h. fliesst in Material 2 ein Strom, so fliesst er tangential zur Oberfläche.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0B0D30-BA1C-7444-5FCB-52E583209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941" y="3085275"/>
                <a:ext cx="7381221" cy="1154675"/>
              </a:xfrm>
              <a:prstGeom prst="rect">
                <a:avLst/>
              </a:prstGeom>
              <a:blipFill>
                <a:blip r:embed="rId4"/>
                <a:stretch>
                  <a:fillRect l="-413" b="-5789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393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2022A-A3F6-9E94-A57F-236585B56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B3539-865F-72B5-6D48-9D7A9EB1D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Übungsaufgabe Moodle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B6572F-1DDF-105D-AACE-3FCE3778F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07.10.2026</a:t>
            </a:fld>
            <a:endParaRPr lang="de-CH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0B3FE-54AF-915C-4C3C-762E83BBD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21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1642284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492A6-86D5-D104-8A97-0C90451E6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CE195-4C43-D3F4-78EE-82B9B49BC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Moodle Übungsstunde Woche 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DB098-FB52-CFBA-AA1A-C5CCA7538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07.10.2026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5C438-9C08-4D55-E544-39D9178D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22</a:t>
            </a:fld>
            <a:endParaRPr lang="de-CH" noProof="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DC58186-EFC5-1815-36F1-D0F7DD66CDD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286" b="286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926599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U_Template.potx" id="{11673716-FB81-4392-B2DC-68DDA437F931}" vid="{03D18D2F-5578-46DC-A982-D3FF1019311F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1494</Words>
  <Application>Microsoft Office PowerPoint</Application>
  <PresentationFormat>Widescreen</PresentationFormat>
  <Paragraphs>236</Paragraphs>
  <Slides>22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ETH Zürich</vt:lpstr>
      <vt:lpstr>Netzwerke und Schaltungen Übungsstunde Woche 4</vt:lpstr>
      <vt:lpstr>Offene Fragen von letzter Woche?</vt:lpstr>
      <vt:lpstr>Beispielformelsammlung jetzt verfügbar auf moodle</vt:lpstr>
      <vt:lpstr>Theoriebeispiele zu Schlüsselkonzepten</vt:lpstr>
      <vt:lpstr>Beispiel 1.1 – Stromdichteverteilung</vt:lpstr>
      <vt:lpstr>Beispiel 1.1 – Stromdichteverteilung – Lösung</vt:lpstr>
      <vt:lpstr>Beispiel 1.2 – Das Ohm’sche Gesetz</vt:lpstr>
      <vt:lpstr>Beispiel 1.2 – Das Ohm’sche Gesetz – Lösung</vt:lpstr>
      <vt:lpstr>Beispiel 1.3 – Das Ohm’sche Gesetz</vt:lpstr>
      <vt:lpstr>Beispiel 1.3 – Das Ohm’sche Gesetz – Lösung</vt:lpstr>
      <vt:lpstr>Beispiel 2.1 – Spezifische Leitfähigkeit</vt:lpstr>
      <vt:lpstr>Beispiel 2.1 – Spezifische Leitfähigkeit – Lösung</vt:lpstr>
      <vt:lpstr>Beispiel 2.2 – Energie und Leistung</vt:lpstr>
      <vt:lpstr>Beispiel 2.2 – Energie und Leistung – Lösung</vt:lpstr>
      <vt:lpstr>Beispiel 2.3 – Energie und Leistung</vt:lpstr>
      <vt:lpstr>Beispiel 2.3 – Energie und Leistung – Lösung</vt:lpstr>
      <vt:lpstr>Beispiel 3.1 – Materialsprungstellen der Leitfähigkeit</vt:lpstr>
      <vt:lpstr>Beispiel 3.1 – Materialsprungstellen der Leitfähigkeit – Lösung</vt:lpstr>
      <vt:lpstr>Beispiel 3.2 – Materialsprungstellen der Leitfähigkeit</vt:lpstr>
      <vt:lpstr>Beispiel 3.2 – Materialsprungstellen der Leitfähigkeit – Lösung</vt:lpstr>
      <vt:lpstr>Übungsaufgabe Moodle</vt:lpstr>
      <vt:lpstr>Moodle Übungsstunde Woche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Gfrörer  Tino</dc:creator>
  <cp:lastModifiedBy>Gfrörer  Tino</cp:lastModifiedBy>
  <cp:revision>149</cp:revision>
  <dcterms:created xsi:type="dcterms:W3CDTF">2026-09-04T10:51:08Z</dcterms:created>
  <dcterms:modified xsi:type="dcterms:W3CDTF">2026-10-07T16:03:01Z</dcterms:modified>
</cp:coreProperties>
</file>