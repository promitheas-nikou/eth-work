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00" r:id="rId3"/>
    <p:sldId id="294" r:id="rId4"/>
    <p:sldId id="302" r:id="rId5"/>
    <p:sldId id="301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B140A5C-BDD6-46B0-8A66-45FAD0FBC285}">
          <p14:sldIdLst>
            <p14:sldId id="256"/>
            <p14:sldId id="300"/>
          </p14:sldIdLst>
        </p14:section>
        <p14:section name="Theoriebeispiele" id="{960AB6CA-67DE-4FDE-ADC2-51C8BFC50F2F}">
          <p14:sldIdLst>
            <p14:sldId id="294"/>
            <p14:sldId id="302"/>
            <p14:sldId id="301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11" y="43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4176" y="4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27.09.2026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27.09.2026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56906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Nach Widerspruch: Fragen, ob man das Potential anders sinnvoll definieren kann.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87659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A884FE03-D03B-D605-7538-2F13D538DA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D2AF4BE6-5505-84B0-84F1-FE02019E7C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4" name="Picture Placeholder 14">
            <a:extLst>
              <a:ext uri="{FF2B5EF4-FFF2-40B4-BE49-F238E27FC236}">
                <a16:creationId xmlns:a16="http://schemas.microsoft.com/office/drawing/2014/main" id="{D6CEF0F1-CE6F-BE8A-3844-BFD085AAC5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3579C612-10BE-1EBE-D018-B0D032C144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3BF4C2FB-6615-B78A-B02E-8E60B52D6F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27.09.2026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E799E1B2-701E-9FC5-2CDC-43C2939091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27.09.2026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42242C32-D53C-B3C3-E0EA-9C0F765195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27.09.2026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D8DE6C5E-4745-1EF1-FA49-6358EFD116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27.09.2026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  <p:pic>
        <p:nvPicPr>
          <p:cNvPr id="7" name="Picture Placeholder 14">
            <a:extLst>
              <a:ext uri="{FF2B5EF4-FFF2-40B4-BE49-F238E27FC236}">
                <a16:creationId xmlns:a16="http://schemas.microsoft.com/office/drawing/2014/main" id="{3C0CA6CE-880C-7C54-9870-FFDA70F25E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" r="3523" b="5612"/>
          <a:stretch>
            <a:fillRect/>
          </a:stretch>
        </p:blipFill>
        <p:spPr>
          <a:xfrm>
            <a:off x="2300288" y="6452473"/>
            <a:ext cx="820032" cy="21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27.09.2026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8" name="Picture Placeholder 14">
            <a:extLst>
              <a:ext uri="{FF2B5EF4-FFF2-40B4-BE49-F238E27FC236}">
                <a16:creationId xmlns:a16="http://schemas.microsoft.com/office/drawing/2014/main" id="{A4054932-D157-98C3-08CB-8B67A37646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27.09.2026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3" name="Picture Placeholder 14">
            <a:extLst>
              <a:ext uri="{FF2B5EF4-FFF2-40B4-BE49-F238E27FC236}">
                <a16:creationId xmlns:a16="http://schemas.microsoft.com/office/drawing/2014/main" id="{53EBC0E6-6124-869C-FA2E-CD9D3D683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27.09.2026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72073686-C6D1-0392-7EA6-5B450A9CDC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de-CH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27.09.2026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id="{219A749E-EB56-70C9-92DA-5973901D7B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27.09.2026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11327ECB-0323-0F7E-02D3-F29F465F5D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27.09.2026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  <p:pic>
        <p:nvPicPr>
          <p:cNvPr id="10" name="Picture Placeholder 14">
            <a:extLst>
              <a:ext uri="{FF2B5EF4-FFF2-40B4-BE49-F238E27FC236}">
                <a16:creationId xmlns:a16="http://schemas.microsoft.com/office/drawing/2014/main" id="{8B34EBAD-E89E-4FE4-BCDC-4A3E84B14D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2329730" y="6452473"/>
            <a:ext cx="790589" cy="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pic>
        <p:nvPicPr>
          <p:cNvPr id="2" name="Picture Placeholder 14">
            <a:extLst>
              <a:ext uri="{FF2B5EF4-FFF2-40B4-BE49-F238E27FC236}">
                <a16:creationId xmlns:a16="http://schemas.microsoft.com/office/drawing/2014/main" id="{6D1E3B3E-73DE-8C34-2C96-4FE6A8E57D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27.09.2026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 descr="Ein Bild, das Gebäude, Stadt, Schloss, Turm enthält.&#10;&#10;Automatisch generierte Beschreibung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 b="461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sz="2800" noProof="0" dirty="0"/>
              <a:t>Netzwerke und Schaltungen Übungsstunde Woche 2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b="1" noProof="0" dirty="0"/>
              <a:t>Name</a:t>
            </a:r>
          </a:p>
          <a:p>
            <a:r>
              <a:rPr lang="de-CH" noProof="0" dirty="0"/>
              <a:t>Email@student.ethz.ch</a:t>
            </a:r>
          </a:p>
          <a:p>
            <a:r>
              <a:rPr lang="de-CH" noProof="0" dirty="0"/>
              <a:t>24. September 2026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5A89567B-A643-B2E1-8CD0-816E3D9E98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895" b="-269"/>
          <a:stretch>
            <a:fillRect/>
          </a:stretch>
        </p:blipFill>
        <p:spPr>
          <a:xfrm>
            <a:off x="10200163" y="310100"/>
            <a:ext cx="126000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5CABC-8004-C348-C09F-B9DF6C0EA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2604-35C4-2019-9992-090A87EC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Offene Fragen von letzter Woche?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D0857C-B80D-145D-D4F1-25C9FD5BD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27.09.2026</a:t>
            </a:fld>
            <a:endParaRPr lang="de-CH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B21BE-FB22-43F1-17AF-0CE31DCB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2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3665897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A680E-9257-B267-C53D-4534912B0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83B8-9678-1DF6-463C-EFCEDFCA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Theoriebeispiele zu Schlüsselkonzepten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68C2DA-E743-A601-797C-454629E1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27.09.2026</a:t>
            </a:fld>
            <a:endParaRPr lang="de-CH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C5633-B7D5-8004-49B7-3EC35630D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3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329710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6691C-7212-5AC9-598F-F37FD0950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68B340F-07E1-E79E-02E4-53824CBA609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60"/>
          <a:stretch/>
        </p:blipFill>
        <p:spPr>
          <a:xfrm>
            <a:off x="301557" y="1412875"/>
            <a:ext cx="5902606" cy="486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D9FDD6-1DB3-492D-5E23-45D27EDC2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 1 – Konzept des Feldes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9A04E-A769-C19A-9E3E-404558E34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6073" y="1412875"/>
            <a:ext cx="4614089" cy="4860000"/>
          </a:xfrm>
        </p:spPr>
        <p:txBody>
          <a:bodyPr/>
          <a:lstStyle/>
          <a:p>
            <a:pPr marL="0" indent="0">
              <a:buNone/>
            </a:pPr>
            <a:r>
              <a:rPr lang="de-CH" b="1" u="sng" noProof="0" dirty="0"/>
              <a:t>Schlüsselkonzepte</a:t>
            </a:r>
          </a:p>
          <a:p>
            <a:pPr marL="0" indent="0">
              <a:buNone/>
            </a:pPr>
            <a:r>
              <a:rPr lang="de-CH" noProof="0" dirty="0"/>
              <a:t>Konzept des "Feldes" und deren Darstellung als "Feldlinien" und "Äquipotentialflächen"</a:t>
            </a:r>
          </a:p>
          <a:p>
            <a:pPr marL="0" indent="0">
              <a:buNone/>
            </a:pPr>
            <a:endParaRPr lang="de-CH" noProof="0" dirty="0"/>
          </a:p>
          <a:p>
            <a:pPr marL="0" indent="0">
              <a:buNone/>
            </a:pPr>
            <a:r>
              <a:rPr lang="de-CH" sz="1600" noProof="0" dirty="0"/>
              <a:t>Eine metallische Kugel mit positiver Gesamtladung Q befindet sich über einer metallischen Platte mit entgegengesetzter Ladung</a:t>
            </a:r>
          </a:p>
          <a:p>
            <a:pPr lvl="1"/>
            <a:r>
              <a:rPr lang="de-CH" sz="1600" noProof="0" dirty="0"/>
              <a:t>Zeichne die elektrischen Feldlinien</a:t>
            </a:r>
          </a:p>
          <a:p>
            <a:pPr lvl="1"/>
            <a:r>
              <a:rPr lang="de-CH" sz="1600" noProof="0" dirty="0"/>
              <a:t>Zeichne die Äquipotentialflächen</a:t>
            </a:r>
          </a:p>
          <a:p>
            <a:pPr lvl="1"/>
            <a:endParaRPr lang="de-CH" sz="1600" noProof="0" dirty="0"/>
          </a:p>
          <a:p>
            <a:pPr lvl="1"/>
            <a:endParaRPr lang="de-CH" sz="1600" noProof="0" dirty="0"/>
          </a:p>
          <a:p>
            <a:pPr marL="0" indent="0">
              <a:buNone/>
            </a:pPr>
            <a:r>
              <a:rPr lang="de-CH" sz="1600" noProof="0" dirty="0"/>
              <a:t>Beispielanwendungen:</a:t>
            </a:r>
          </a:p>
          <a:p>
            <a:r>
              <a:rPr lang="de-CH" sz="1600" noProof="0" dirty="0"/>
              <a:t>Elektrisches Feld eines geladenen Teilchens</a:t>
            </a:r>
          </a:p>
          <a:p>
            <a:r>
              <a:rPr lang="de-CH" sz="1600" noProof="0" dirty="0"/>
              <a:t>Hochspannungstechnik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E20BA-984C-5745-326E-0E675F14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27.09.2026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B18B5-47C1-E461-263F-D29D698F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4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115081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F87C-8116-708B-B678-960374F37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 1 – Konzept des Feldes – Lösung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52BE2-2CAD-F214-2FAE-168C9D36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27.09.2026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A8012-601B-166E-C31E-D752C4E2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5</a:t>
            </a:fld>
            <a:endParaRPr lang="de-CH" noProof="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DAD2B2A-6CE9-3E89-33B2-572C72372F9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60"/>
          <a:stretch/>
        </p:blipFill>
        <p:spPr>
          <a:xfrm>
            <a:off x="301557" y="1412875"/>
            <a:ext cx="5902606" cy="48600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034D813-8C20-B9D8-0D27-EB6266279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1732" y="1412875"/>
            <a:ext cx="4558431" cy="4859338"/>
          </a:xfrm>
        </p:spPr>
        <p:txBody>
          <a:bodyPr/>
          <a:lstStyle/>
          <a:p>
            <a:pPr marL="0" indent="0">
              <a:buNone/>
            </a:pPr>
            <a:r>
              <a:rPr lang="de-CH" b="1" u="sng" noProof="0" dirty="0"/>
              <a:t>Schlüsselkonzepte</a:t>
            </a:r>
          </a:p>
          <a:p>
            <a:pPr marL="0" indent="0">
              <a:buNone/>
            </a:pPr>
            <a:r>
              <a:rPr lang="de-CH" noProof="0" dirty="0"/>
              <a:t>Konzept des "Feldes" und deren Darstellung als "Feldlinien" und "Äquipotentialflächen"</a:t>
            </a:r>
          </a:p>
          <a:p>
            <a:pPr marL="0" indent="0">
              <a:buNone/>
            </a:pPr>
            <a:r>
              <a:rPr lang="de-CH" sz="1600" b="1" noProof="0" dirty="0"/>
              <a:t>Zeichnungsregeln:</a:t>
            </a:r>
          </a:p>
          <a:p>
            <a:r>
              <a:rPr lang="de-CH" sz="1600" noProof="0" dirty="0"/>
              <a:t>Feldlinien stehen senkrecht auf Leitern</a:t>
            </a:r>
          </a:p>
          <a:p>
            <a:r>
              <a:rPr lang="de-CH" sz="1600" noProof="0" dirty="0"/>
              <a:t>Feldlinien zeigen von positiver zu negativer Ladung</a:t>
            </a:r>
          </a:p>
          <a:p>
            <a:r>
              <a:rPr lang="de-CH" sz="1600" noProof="0" dirty="0"/>
              <a:t>Äquipotentialflächen stehen senkrecht auf Feldlinien</a:t>
            </a:r>
          </a:p>
          <a:p>
            <a:r>
              <a:rPr lang="de-CH" sz="1600" noProof="0" dirty="0"/>
              <a:t>Aus diesen Regeln ergibt sich: Oberflächen von Leitern sind Äquipotentialflächen</a:t>
            </a:r>
          </a:p>
          <a:p>
            <a:r>
              <a:rPr lang="de-CH" sz="1600" noProof="0" dirty="0"/>
              <a:t>Je kleiner der Abstand zwischen Feldlinien, desto grösser das elektrische Feld</a:t>
            </a:r>
          </a:p>
          <a:p>
            <a:r>
              <a:rPr lang="de-CH" sz="1600" noProof="0" dirty="0"/>
              <a:t>Abstand zwischen Äquipotentialflächen entspricht derselben Spannungsdifferenz</a:t>
            </a:r>
          </a:p>
        </p:txBody>
      </p:sp>
    </p:spTree>
    <p:extLst>
      <p:ext uri="{BB962C8B-B14F-4D97-AF65-F5344CB8AC3E}">
        <p14:creationId xmlns:p14="http://schemas.microsoft.com/office/powerpoint/2010/main" val="4497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0DD75-AF0E-58F4-6248-6E2186503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E6F76-0440-B4CE-FC0D-B98733F55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 2.1 – Elektrische Flussdichte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0BA33-3E3D-ACA6-1C5E-8F2FC6F56E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6073" y="1412875"/>
                <a:ext cx="4614089" cy="4860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CH" b="1" u="sng" noProof="0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noProof="0" dirty="0"/>
                  <a:t>Elektrische Flussdichte</a:t>
                </a:r>
              </a:p>
              <a:p>
                <a:pPr marL="0" indent="0">
                  <a:buNone/>
                </a:pPr>
                <a:endParaRPr lang="de-CH" noProof="0" dirty="0"/>
              </a:p>
              <a:p>
                <a:pPr marL="0" indent="0">
                  <a:buNone/>
                </a:pPr>
                <a:endParaRPr lang="de-CH" sz="1600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Auf einem dünnen Leiterseil befindet sich positive </a:t>
                </a:r>
                <a:r>
                  <a:rPr lang="de-CH" sz="1600" b="1" u="sng" noProof="0" dirty="0"/>
                  <a:t>Linien</a:t>
                </a:r>
                <a:r>
                  <a:rPr lang="de-CH" sz="1600" noProof="0" dirty="0"/>
                  <a:t>ladungsdichte </a:t>
                </a:r>
                <a14:m>
                  <m:oMath xmlns:m="http://schemas.openxmlformats.org/officeDocument/2006/math">
                    <m:r>
                      <a:rPr lang="de-CH" sz="16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&gt; 0</m:t>
                    </m:r>
                  </m:oMath>
                </a14:m>
                <a:r>
                  <a:rPr lang="de-CH" sz="1600" noProof="0" dirty="0"/>
                  <a:t>. Berechne:</a:t>
                </a:r>
              </a:p>
              <a:p>
                <a:r>
                  <a:rPr lang="de-CH" sz="1600" noProof="0" dirty="0"/>
                  <a:t>Die elektrische Flussdichte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CH" sz="16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de-CH" sz="1600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160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CH" sz="1600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CH" sz="1600" noProof="0" dirty="0"/>
                  <a:t> und das elektrische Feld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  <m:r>
                      <a:rPr lang="de-CH" sz="1600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160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CH" sz="1600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CH" sz="1600" noProof="0" dirty="0"/>
                  <a:t> um das Leiterseil</a:t>
                </a:r>
              </a:p>
              <a:p>
                <a:pPr lvl="1"/>
                <a:endParaRPr lang="de-CH" sz="1600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Beispielanwendungen:</a:t>
                </a:r>
              </a:p>
              <a:p>
                <a:r>
                  <a:rPr lang="de-CH" sz="1600" noProof="0" dirty="0"/>
                  <a:t>Elektrisches Feld einer Hochspannungsleitung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0BA33-3E3D-ACA6-1C5E-8F2FC6F56E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6073" y="1412875"/>
                <a:ext cx="4614089" cy="4860000"/>
              </a:xfrm>
              <a:blipFill>
                <a:blip r:embed="rId2"/>
                <a:stretch>
                  <a:fillRect l="-3038" t="-1631" r="-66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36462-FA3A-1054-2A6F-62D209970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27.09.2026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C3C3A4-B145-4708-A8F4-7DA147414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6</a:t>
            </a:fld>
            <a:endParaRPr lang="de-CH" noProof="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1E2A27A2-4685-551A-4D77-AF3A5817FC2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6" b="1786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5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94754-291B-6E11-B75B-F978D8C48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0648E-BBD0-B9FC-8754-6C951DA14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 2.1 – Elektrische Flussdichte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AD1BE-D348-F9EE-DF5A-5B023008F9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71838" y="1412875"/>
                <a:ext cx="5688324" cy="4860000"/>
              </a:xfrm>
            </p:spPr>
            <p:txBody>
              <a:bodyPr/>
              <a:lstStyle/>
              <a:p>
                <a:r>
                  <a:rPr lang="de-CH" sz="1600" noProof="0" dirty="0"/>
                  <a:t>Rotationssymmetrie: Zylinderkoordinaten verwenden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de-CH" sz="1600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160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CH" sz="1600" i="1" noProof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160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CH" sz="16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e>
                      <m:sub>
                        <m:r>
                          <a:rPr lang="de-CH" sz="1600" i="1" noProof="0" smtClean="0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</m:oMath>
                </a14:m>
                <a:endParaRPr lang="de-CH" sz="1600" noProof="0" dirty="0"/>
              </a:p>
              <a:p>
                <a:r>
                  <a:rPr lang="de-CH" sz="1600" noProof="0" dirty="0"/>
                  <a:t>Gauss’sches Gesetz (Satz von Gauss):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∯"/>
                        <m:limLoc m:val="undOvr"/>
                        <m:subHide m:val="on"/>
                        <m:supHide m:val="on"/>
                        <m:ctrlPr>
                          <a:rPr lang="de-CH" sz="160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⃗"/>
                            <m:ctrlPr>
                              <a:rPr lang="de-CH" sz="16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 noProof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</m:acc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r>
                          <m:rPr>
                            <m:brk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nary>
                  </m:oMath>
                </a14:m>
                <a:endParaRPr lang="de-CH" sz="1600" noProof="0" dirty="0"/>
              </a:p>
              <a:p>
                <a:r>
                  <a:rPr lang="de-CH" sz="1600" noProof="0" dirty="0"/>
                  <a:t>Flächenintegral durch vereinfachen Lösen:</a:t>
                </a:r>
              </a:p>
              <a:p>
                <a:pPr lvl="1"/>
                <a:r>
                  <a:rPr lang="de-CH" sz="1600" noProof="0" dirty="0"/>
                  <a:t>Feld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de-CH" sz="1600" noProof="0" dirty="0"/>
                  <a:t> parallel zu Flächenelement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noProof="0">
                        <a:latin typeface="Cambria Math" panose="02040503050406030204" pitchFamily="18" charset="0"/>
                      </a:rPr>
                      <m:t>d</m:t>
                    </m:r>
                    <m:acc>
                      <m:accPr>
                        <m:chr m:val="⃗"/>
                        <m:ctrlPr>
                          <a:rPr lang="de-CH" sz="16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de-CH" sz="1600" noProof="0" dirty="0"/>
                  <a:t> des Zylinders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∯"/>
                        <m:limLoc m:val="undOvr"/>
                        <m:subHide m:val="on"/>
                        <m:supHide m:val="on"/>
                        <m:ctrlPr>
                          <a:rPr lang="de-CH" sz="160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de-CH" sz="1600" i="1" noProof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CH" sz="1600" i="1" noProof="0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de-CH" sz="1600" i="1" noProof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  <m:brk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de-CH" sz="1600" i="1" noProof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nary>
                  </m:oMath>
                </a14:m>
                <a:endParaRPr lang="de-CH" sz="1600" noProof="0" dirty="0"/>
              </a:p>
              <a:p>
                <a:pPr lvl="1"/>
                <a:r>
                  <a:rPr lang="de-CH" sz="1600" noProof="0" dirty="0"/>
                  <a:t>Bei konstantem </a:t>
                </a:r>
                <a14:m>
                  <m:oMath xmlns:m="http://schemas.openxmlformats.org/officeDocument/2006/math">
                    <m:r>
                      <a:rPr lang="de-CH" sz="1600" i="1" noProof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de-CH" sz="1600" noProof="0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noProof="0">
                        <a:latin typeface="Cambria Math" panose="02040503050406030204" pitchFamily="18" charset="0"/>
                      </a:rPr>
                      <m:t>D</m:t>
                    </m:r>
                    <m:r>
                      <a:rPr lang="de-CH" sz="1600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160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CH" sz="1600" i="1" noProof="0"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∯"/>
                        <m:limLoc m:val="undOvr"/>
                        <m:subHide m:val="on"/>
                        <m:supHide m:val="on"/>
                        <m:ctrlPr>
                          <a:rPr lang="de-CH" sz="160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  <m:brk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de-CH" sz="1600" i="1" noProof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nary>
                  </m:oMath>
                </a14:m>
                <a:endParaRPr lang="de-CH" sz="1600" noProof="0" dirty="0"/>
              </a:p>
              <a:p>
                <a:pPr lvl="1"/>
                <a:r>
                  <a:rPr lang="de-CH" sz="1600" noProof="0" dirty="0"/>
                  <a:t>Integral enstpricht der Mantelfläche des Zylinders. Ladung entspricht der Ladung innerhalb des Zylinders. Wir betrachten Abschnitt mit Höhe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de-CH" sz="1600" noProof="0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noProof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de-CH" sz="160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160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CH" sz="1600" i="1" noProof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CH" sz="16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𝜋𝜌</m:t>
                    </m:r>
                    <m:r>
                      <m:rPr>
                        <m:sty m:val="p"/>
                      </m:rPr>
                      <a:rPr lang="de-CH" sz="16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a:rPr lang="de-CH" sz="16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</m:oMath>
                </a14:m>
                <a:endParaRPr lang="de-CH" sz="1600" noProof="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de-CH" sz="1600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160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CH" sz="1600" i="1" noProof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de-CH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de-CH" sz="1600" i="1" noProof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CH" sz="1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𝜋𝜌</m:t>
                        </m:r>
                      </m:den>
                    </m:f>
                    <m:r>
                      <a:rPr lang="de-CH" sz="16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CH" sz="1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 noProof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e>
                      <m:sub>
                        <m:r>
                          <a:rPr lang="de-CH" sz="1600" i="1" noProof="0" smtClean="0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</m:oMath>
                </a14:m>
                <a:r>
                  <a:rPr lang="de-CH" sz="1600" noProof="0" dirty="0"/>
                  <a:t>	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  <m:r>
                      <a:rPr lang="de-CH" sz="1600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160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CH" sz="1600" i="1" noProof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de-CH" sz="1600" i="1" noProof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CH" sz="1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𝜋𝜌</m:t>
                        </m:r>
                        <m:sSub>
                          <m:sSubPr>
                            <m:ctrlPr>
                              <a:rPr lang="de-CH" sz="16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CH" sz="16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CH" sz="1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 noProof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e>
                      <m:sub>
                        <m:r>
                          <a:rPr lang="de-CH" sz="1600" i="1" noProof="0" smtClean="0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</m:oMath>
                </a14:m>
                <a:endParaRPr lang="de-CH" sz="16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AD1BE-D348-F9EE-DF5A-5B023008F9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71838" y="1412875"/>
                <a:ext cx="5688324" cy="4860000"/>
              </a:xfrm>
              <a:blipFill>
                <a:blip r:embed="rId2"/>
                <a:stretch>
                  <a:fillRect l="-2036" t="-1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CAE3D-50CE-80C6-0096-35BD6AE23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27.09.2026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1959B3-7F99-73C8-16FF-D90353C4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7</a:t>
            </a:fld>
            <a:endParaRPr lang="de-CH" noProof="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9A85C04-BECB-287A-E514-79011C1DA6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6" b="1786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4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87DEC-E3E4-993F-EDE5-72B5A9959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6CC12-3BEA-C3F4-4E4B-7592CBEA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 2.2 – Potential und Spannung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0E3FC-0FC1-5712-B00E-38E82BA477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0163" y="1412875"/>
                <a:ext cx="5040000" cy="4860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CH" b="1" u="sng" noProof="0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noProof="0" dirty="0"/>
                  <a:t>Potential und Spannung</a:t>
                </a:r>
              </a:p>
              <a:p>
                <a:pPr marL="0" indent="0">
                  <a:buNone/>
                </a:pPr>
                <a:endParaRPr lang="de-CH" sz="1600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Das elektrische Feld von vorhin war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  <m:r>
                      <a:rPr lang="de-CH" sz="1600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160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CH" sz="1600" i="1" noProof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de-CH" sz="1600" i="1" noProof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CH" sz="1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𝜋𝜌</m:t>
                        </m:r>
                        <m:sSub>
                          <m:sSubPr>
                            <m:ctrlPr>
                              <a:rPr lang="de-CH" sz="1600" i="1" noProof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noProof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de-CH" sz="1600" i="1" noProof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CH" sz="16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CH" sz="1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 noProof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e>
                      <m:sub>
                        <m:r>
                          <a:rPr lang="de-CH" sz="1600" i="1" noProof="0" smtClean="0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</m:oMath>
                </a14:m>
                <a:endParaRPr lang="de-CH" sz="1600" noProof="0" dirty="0"/>
              </a:p>
              <a:p>
                <a:pPr marL="0" indent="0">
                  <a:buNone/>
                </a:pPr>
                <a:endParaRPr lang="de-CH" sz="1600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Berechne nun das elektrische Potential </a:t>
                </a:r>
                <a14:m>
                  <m:oMath xmlns:m="http://schemas.openxmlformats.org/officeDocument/2006/math">
                    <m:r>
                      <a:rPr lang="de-CH" sz="16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CH" sz="160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CH" sz="1600" noProof="0" dirty="0"/>
                  <a:t> der Anordnung. Das Potential unendlich weit weg sei 0.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0E3FC-0FC1-5712-B00E-38E82BA477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0163" y="1412875"/>
                <a:ext cx="5040000" cy="4860000"/>
              </a:xfrm>
              <a:blipFill>
                <a:blip r:embed="rId2"/>
                <a:stretch>
                  <a:fillRect l="-2781" t="-1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B4C8A-E4EB-971D-A436-86BB80CDC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27.09.2026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FA265-73FA-94FE-71DB-8C80C4F92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0489D30-9E62-6C9F-DF09-C5F9FFCA96B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6" b="1786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0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451E1-26EF-5DC5-A41C-2D6815A24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F702-25AF-8AF0-615D-AFBAFA61A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 2.2 – Potential und Spannung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C728D8-1F96-4771-7CFB-65F242D479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0163" y="1412875"/>
                <a:ext cx="5040000" cy="4860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CH" sz="1600" noProof="0" dirty="0"/>
                  <a:t>Das elektrische Feld von vorhin war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CH" sz="1600" i="1" noProof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  <m:r>
                      <a:rPr lang="de-CH" sz="1600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160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CH" sz="1600" i="1" noProof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de-CH" sz="16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de-CH" sz="1600" i="1" noProof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CH" sz="16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𝜋𝜌</m:t>
                        </m:r>
                        <m:sSub>
                          <m:sSubPr>
                            <m:ctrlPr>
                              <a:rPr lang="de-CH" sz="1600" i="1" noProof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noProof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de-CH" sz="1600" i="1" noProof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de-CH" sz="1600" i="1" noProof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CH" sz="1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 noProof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e>
                      <m:sub>
                        <m:r>
                          <a:rPr lang="de-CH" sz="1600" i="1" noProof="0" smtClean="0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</m:oMath>
                </a14:m>
                <a:endParaRPr lang="de-CH" sz="1600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Aus Albach (1.25):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CH" sz="1600" i="1" noProof="0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) = −</m:t>
                      </m:r>
                      <m:nary>
                        <m:nary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acc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1600" i="1" noProof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de-CH" sz="16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CH" sz="1600" i="1" noProof="0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</m:nary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de-CH" sz="160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CH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sub>
                        <m:sup>
                          <m:r>
                            <m:rPr>
                              <m:brk m:alnAt="23"/>
                            </m:rPr>
                            <a:rPr lang="de-CH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de-CH" sz="1600" i="1" noProof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acc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1600" i="1" noProof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de-CH" sz="1600" i="1" noProof="0"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de-CH" sz="16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CH" sz="1600" i="1" noProof="0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de-CH" sz="1600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Da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noProof="0">
                        <a:latin typeface="Cambria Math" panose="02040503050406030204" pitchFamily="18" charset="0"/>
                      </a:rPr>
                      <m:t>d</m:t>
                    </m:r>
                    <m:acc>
                      <m:accPr>
                        <m:chr m:val="⃗"/>
                        <m:ctrlPr>
                          <a:rPr lang="de-CH" sz="1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 sz="1600" i="1" noProof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acc>
                    <m:r>
                      <a:rPr lang="de-CH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CH" sz="1600" b="0" i="1" noProof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de-CH" sz="1600" i="1" noProof="0" smtClean="0">
                        <a:latin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de-CH" sz="16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de-CH" sz="16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de-CH" sz="1600" i="1" noProof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e>
                      <m:sub>
                        <m:r>
                          <a:rPr lang="de-CH" sz="1600" i="1" noProof="0" smtClean="0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</m:oMath>
                </a14:m>
                <a:r>
                  <a:rPr lang="de-CH" sz="1600" noProof="0" dirty="0"/>
                  <a:t> (siehe Albach B.15):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de-CH" sz="16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CH" sz="1600" i="1" noProof="0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de-CH" sz="1600" i="1" noProof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de-CH" sz="160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CH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sub>
                        <m:sup>
                          <m:r>
                            <m:rPr>
                              <m:brk m:alnAt="23"/>
                            </m:rPr>
                            <a:rPr lang="de-CH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de-CH" sz="16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de-CH" sz="16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de-CH" sz="16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de-CH" sz="16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de-CH" sz="16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de-CH" sz="1600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CH" sz="1600" i="1" noProof="0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de-CH" sz="1600" i="1" noProof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de-CH" sz="1600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de-CH" sz="16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e-CH" sz="1600" i="1" noProof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de-CH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de-CH" sz="16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de-CH" sz="160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CH" sz="1600" i="0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de-CH" sz="1600" i="1" noProof="0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</m:func>
                            </m:e>
                          </m:d>
                        </m:e>
                        <m:sub>
                          <m:r>
                            <a:rPr lang="de-CH" sz="1600" i="1" noProof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  <m:sup>
                          <m:r>
                            <m:rPr>
                              <m:brk m:alnAt="23"/>
                            </m:rPr>
                            <a:rPr lang="de-CH" sz="16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r>
                        <a:rPr lang="de-CH" sz="16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brk m:alnAt="23"/>
                        </m:rPr>
                        <a:rPr lang="de-CH" sz="16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de-CH" sz="1600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Widerspruch. Problem ist unphysikalisch. Es gibt keine unendlich lange Linienladung. Als Modell für lokale Betrachtungen kann es trotzdem Sinn ergeben. Definiere Potential sei null bei endlichem Radius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de-CH" sz="16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bSup>
                        <m:sSubSupPr>
                          <m:ctrlP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CH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</m:func>
                            </m:e>
                          </m:d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  <m:sup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bSup>
                      <m:r>
                        <a:rPr lang="de-CH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de-CH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de-CH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CH" sz="160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</m:func>
                            </m:e>
                          </m:func>
                        </m:e>
                      </m:d>
                    </m:oMath>
                  </m:oMathPara>
                </a14:m>
                <a:endParaRPr lang="de-CH" sz="16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de-CH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CH" sz="16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de-CH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de-CH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de-CH" sz="1600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C728D8-1F96-4771-7CFB-65F242D479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0163" y="1412875"/>
                <a:ext cx="5040000" cy="4860000"/>
              </a:xfrm>
              <a:blipFill>
                <a:blip r:embed="rId3"/>
                <a:stretch>
                  <a:fillRect l="-2418" t="-125" r="-1330" b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2DAB7-7DA5-CC16-4CE4-DED17C991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27.09.2026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DB7E5-5F25-169A-4AF7-F128D15C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7C35D93-864D-5EE1-B008-2DB4820B409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6" b="1786"/>
          <a:stretch/>
        </p:blipFill>
        <p:spPr>
          <a:prstGeom prst="rect">
            <a:avLst/>
          </a:prstGeom>
        </p:spPr>
      </p:pic>
      <p:pic>
        <p:nvPicPr>
          <p:cNvPr id="7" name="Graphic 6" descr="Question Mark with solid fill">
            <a:extLst>
              <a:ext uri="{FF2B5EF4-FFF2-40B4-BE49-F238E27FC236}">
                <a16:creationId xmlns:a16="http://schemas.microsoft.com/office/drawing/2014/main" id="{ACAD3A7B-09A0-7569-D104-37D930A5DE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6492" y="3429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0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A112D-48D1-072D-A5F2-69827F6B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578AF-34B9-8633-0CA1-2D8E9A93B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 2.3 – Potential und Spannung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B2EFBE-921F-3986-BF0C-4B7B396416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0163" y="1412875"/>
                <a:ext cx="5040000" cy="4860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CH" b="1" u="sng" noProof="0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noProof="0" dirty="0"/>
                  <a:t>Potential und Spannung</a:t>
                </a:r>
              </a:p>
              <a:p>
                <a:pPr marL="0" indent="0">
                  <a:buNone/>
                </a:pPr>
                <a:endParaRPr lang="de-CH" sz="1600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Das Potential von vorhin war </a:t>
                </a:r>
                <a14:m>
                  <m:oMath xmlns:m="http://schemas.openxmlformats.org/officeDocument/2006/math">
                    <m:r>
                      <a:rPr lang="de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de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CH" sz="16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CH" sz="16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CH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de-CH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</m:e>
                    </m:func>
                  </m:oMath>
                </a14:m>
                <a:endParaRPr lang="de-CH" sz="1600" noProof="0" dirty="0"/>
              </a:p>
              <a:p>
                <a:pPr marL="0" indent="0">
                  <a:buNone/>
                </a:pPr>
                <a:endParaRPr lang="de-CH" sz="1600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Berechne nun die Spannung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de-CH" sz="1600" noProof="0" dirty="0"/>
                  <a:t> zwischen den Äquipotentialflächen mit Radius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noProof="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noProof="0" dirty="0"/>
                  <a:t>. Ist die Spannung abhängig vom Referenzpotential </a:t>
                </a:r>
                <a14:m>
                  <m:oMath xmlns:m="http://schemas.openxmlformats.org/officeDocument/2006/math">
                    <m:r>
                      <a:rPr lang="de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de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CH" sz="1600" noProof="0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B2EFBE-921F-3986-BF0C-4B7B39641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0163" y="1412875"/>
                <a:ext cx="5040000" cy="4860000"/>
              </a:xfrm>
              <a:blipFill>
                <a:blip r:embed="rId2"/>
                <a:stretch>
                  <a:fillRect l="-2781" t="-1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F04FF-348B-015B-CF7A-4C853E28B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27.09.2026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E4082-DB5F-4130-74E5-6A6960EC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10</a:t>
            </a:fld>
            <a:endParaRPr lang="de-CH" noProof="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35FC286-0A73-10F1-6635-72B2174BF5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6" b="1786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047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EA4FD-D3B7-12BD-C707-DC20E8241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13232-7D8C-1CDD-BF99-420BBC2BB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Beispiel 2.3 – Potential und Spannung – Lösung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6CC600-921F-D825-4662-B66CEA9665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0163" y="1412874"/>
                <a:ext cx="5040000" cy="544512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CH" b="1" u="sng" noProof="0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noProof="0" dirty="0"/>
                  <a:t>Potential und Spannung</a:t>
                </a:r>
              </a:p>
              <a:p>
                <a:pPr marL="0" indent="0">
                  <a:buNone/>
                </a:pPr>
                <a:endParaRPr lang="de-CH" sz="1600" noProof="0" dirty="0"/>
              </a:p>
              <a:p>
                <a:pPr marL="0" indent="0">
                  <a:buNone/>
                </a:pPr>
                <a:r>
                  <a:rPr lang="de-CH" sz="1600" noProof="0" dirty="0"/>
                  <a:t>Das Potential von vorhin war </a:t>
                </a:r>
                <a14:m>
                  <m:oMath xmlns:m="http://schemas.openxmlformats.org/officeDocument/2006/math">
                    <m:r>
                      <a:rPr lang="de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de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CH" sz="16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CH" sz="16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CH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de-CH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de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</m:e>
                    </m:func>
                  </m:oMath>
                </a14:m>
                <a:endParaRPr lang="de-CH" sz="1600" noProof="0" dirty="0"/>
              </a:p>
              <a:p>
                <a:pPr marL="0" indent="0">
                  <a:buNone/>
                </a:pPr>
                <a:endParaRPr lang="de-CH" sz="1600" dirty="0"/>
              </a:p>
              <a:p>
                <a:pPr marL="0" indent="0">
                  <a:buNone/>
                </a:pPr>
                <a:r>
                  <a:rPr lang="de-CH" sz="1600" noProof="0" dirty="0"/>
                  <a:t>Aus Albach (1.30):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de-CH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CH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de-CH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de-CH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16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de-CH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CH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CH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de-CH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de-CH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16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de-CH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de-CH" sz="1600" noProof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CH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de-CH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de-CH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de-CH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de-CH" sz="1600" noProof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de-CH" sz="1600" dirty="0"/>
                  <a:t>Lösung ist unabhängig vom Referenzpotential </a:t>
                </a:r>
                <a14:m>
                  <m:oMath xmlns:m="http://schemas.openxmlformats.org/officeDocument/2006/math">
                    <m:r>
                      <a:rPr lang="de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de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de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CH" sz="1600" noProof="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6CC600-921F-D825-4662-B66CEA9665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0163" y="1412874"/>
                <a:ext cx="5040000" cy="5445125"/>
              </a:xfrm>
              <a:blipFill>
                <a:blip r:embed="rId2"/>
                <a:stretch>
                  <a:fillRect l="-2781" t="-1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12A52-EF80-4A56-F25F-FBA457884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27.09.2026</a:t>
            </a:fld>
            <a:endParaRPr lang="de-CH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8D93BA-6699-D39E-F73F-AB8D584F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11</a:t>
            </a:fld>
            <a:endParaRPr lang="de-CH" noProof="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5C4523C5-2C12-F3C4-4B52-7EDD73FE43A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6" b="1786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2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56C16D1A-E78C-880B-3382-8DA0C9C942B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3" r="11093"/>
          <a:stretch/>
        </p:blipFill>
        <p:spPr>
          <a:xfrm>
            <a:off x="731838" y="1412875"/>
            <a:ext cx="5040312" cy="4859338"/>
          </a:xfrm>
          <a:prstGeom prst="rect">
            <a:avLst/>
          </a:prstGeom>
        </p:spPr>
      </p:pic>
      <p:pic>
        <p:nvPicPr>
          <p:cNvPr id="10" name="Picture 2" descr="D:\WORK\PEARSON\000 FOLIEN\4081\JPG\4081-54.jpg">
            <a:extLst>
              <a:ext uri="{FF2B5EF4-FFF2-40B4-BE49-F238E27FC236}">
                <a16:creationId xmlns:a16="http://schemas.microsoft.com/office/drawing/2014/main" id="{27F50EC9-C503-A5B5-737F-D4F1C432FA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8" r="30097" b="12324"/>
          <a:stretch>
            <a:fillRect/>
          </a:stretch>
        </p:blipFill>
        <p:spPr bwMode="auto">
          <a:xfrm>
            <a:off x="2697934" y="781347"/>
            <a:ext cx="1819746" cy="318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5698AE-759E-FC81-7E77-A55B03B72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Beispiel 3 – Influenz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887338-1854-FCC8-2336-B264DC899C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CH" b="1" u="sng" dirty="0"/>
                  <a:t>Schlüsselkonzepte</a:t>
                </a:r>
              </a:p>
              <a:p>
                <a:pPr marL="0" indent="0">
                  <a:buNone/>
                </a:pPr>
                <a:r>
                  <a:rPr lang="de-CH" dirty="0"/>
                  <a:t>Influenz</a:t>
                </a:r>
              </a:p>
              <a:p>
                <a:pPr marL="0" indent="0">
                  <a:buNone/>
                </a:pPr>
                <a:endParaRPr lang="de-CH" dirty="0"/>
              </a:p>
              <a:p>
                <a:r>
                  <a:rPr lang="de-CH" dirty="0"/>
                  <a:t>Zwischen der linken und der rechten Platte mit Abstand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de-CH" dirty="0"/>
                  <a:t> wird eine positive Spannung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CH" i="0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CH" dirty="0"/>
                  <a:t> angelegt. Danach werden zwei kleinere Platten parallel zu den anderen eingeführt. Dann werden die kleineren Platten voneinander getrennt.</a:t>
                </a:r>
              </a:p>
              <a:p>
                <a:r>
                  <a:rPr lang="de-CH" dirty="0"/>
                  <a:t>Was passiert?</a:t>
                </a:r>
              </a:p>
              <a:p>
                <a:r>
                  <a:rPr lang="de-CH" dirty="0"/>
                  <a:t>Welche Platte ist wie geladen?</a:t>
                </a:r>
              </a:p>
              <a:p>
                <a:r>
                  <a:rPr lang="de-CH" dirty="0"/>
                  <a:t>Berechne die Oberflächenladungsdichte auf den inneren beiden Platten. Nimm an, dass die Platten verschwindend dünn sind.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887338-1854-FCC8-2336-B264DC899C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2784" t="-1631" r="-3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2B40F-AF52-A0D3-55C1-5CE67B408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27.09.2026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94244-A6C5-53BA-2264-D4EA646CA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12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86093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2D56-8D6B-EF21-76D6-F9E549F50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Beispiel 3 – Influenz – Lösung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34A89-841B-34B6-1AE4-77F27F3FA2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CH" sz="1600" dirty="0"/>
                  <a:t>Das elektrische Feld zwischen den äusseren Platten ist: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acc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m:rPr>
                          <m:sty m:val="p"/>
                        </m:rPr>
                        <a:rPr lang="de-CH" sz="1600" b="0" i="1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de-CH" sz="1600" b="0" i="1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Albach (1.53): Die </a:t>
                </a:r>
                <a:r>
                  <a:rPr lang="en-US" sz="1600" dirty="0" err="1"/>
                  <a:t>Normalkomponente</a:t>
                </a:r>
                <a:r>
                  <a:rPr lang="en-US" sz="1600" dirty="0"/>
                  <a:t> der </a:t>
                </a:r>
                <a:r>
                  <a:rPr lang="en-US" sz="1600" dirty="0" err="1"/>
                  <a:t>Flussdichte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entspricht</a:t>
                </a:r>
                <a:r>
                  <a:rPr lang="en-US" sz="1600" dirty="0"/>
                  <a:t> der </a:t>
                </a:r>
                <a:r>
                  <a:rPr lang="en-US" sz="1600" dirty="0" err="1"/>
                  <a:t>Oberflächenladungsdichte</a:t>
                </a:r>
                <a:endParaRPr lang="en-US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de-CH" sz="16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acc>
                      <m:r>
                        <a:rPr lang="de-CH" sz="1600" i="1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de-CH" sz="16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de-CH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de-CH" sz="16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34A89-841B-34B6-1AE4-77F27F3FA2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04" t="-1380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129C0-7E33-A5CF-4914-5C0FE64C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27.09.2026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C4749-B368-B2D7-5F0B-97477398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13</a:t>
            </a:fld>
            <a:endParaRPr lang="de-CH" noProof="0"/>
          </a:p>
        </p:txBody>
      </p:sp>
      <p:pic>
        <p:nvPicPr>
          <p:cNvPr id="7" name="Picture 2" descr="D:\WORK\PEARSON\000 FOLIEN\4081\JPG\4081-54.jpg">
            <a:extLst>
              <a:ext uri="{FF2B5EF4-FFF2-40B4-BE49-F238E27FC236}">
                <a16:creationId xmlns:a16="http://schemas.microsoft.com/office/drawing/2014/main" id="{5DCD80D4-3B4D-4AFC-4C6B-773386C11C32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" r="4443"/>
          <a:stretch>
            <a:fillRect/>
          </a:stretch>
        </p:blipFill>
        <p:spPr bwMode="auto">
          <a:xfrm>
            <a:off x="731837" y="1412875"/>
            <a:ext cx="5256001" cy="44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256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2022A-A3F6-9E94-A57F-236585B56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3539-865F-72B5-6D48-9D7A9EB1D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noProof="0" dirty="0"/>
              <a:t>Übungsaufgabe Moodle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B6572F-1DDF-105D-AACE-3FCE3778F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AFE7-317E-4912-B75C-DD6945F82242}" type="datetime1">
              <a:rPr lang="de-CH" noProof="0" smtClean="0"/>
              <a:t>27.09.2026</a:t>
            </a:fld>
            <a:endParaRPr lang="de-CH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0B3FE-54AF-915C-4C3C-762E83BBD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pPr/>
              <a:t>14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1642284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470BE-2FB2-F792-0B3F-47425E157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Elektrisches Feld von Punktladungen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9499D54-154D-7988-A0C2-FDBC7B804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0024" y="1412875"/>
            <a:ext cx="4891952" cy="46799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AFB28-8090-1B4E-713D-1D36194B5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27.09.2026</a:t>
            </a:fld>
            <a:endParaRPr lang="de-CH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E3878-64F9-748F-7850-6B12D30AF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15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39421382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U_Template.potx" id="{11673716-FB81-4392-B2DC-68DDA437F931}" vid="{03D18D2F-5578-46DC-A982-D3FF1019311F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721</Words>
  <Application>Microsoft Office PowerPoint</Application>
  <PresentationFormat>Widescreen</PresentationFormat>
  <Paragraphs>133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ETH Zürich</vt:lpstr>
      <vt:lpstr>Netzwerke und Schaltungen Übungsstunde Woche 2</vt:lpstr>
      <vt:lpstr>Offene Fragen von letzter Woche?</vt:lpstr>
      <vt:lpstr>Theoriebeispiele zu Schlüsselkonzepten</vt:lpstr>
      <vt:lpstr>Beispiel 1 – Konzept des Feldes</vt:lpstr>
      <vt:lpstr>Beispiel 1 – Konzept des Feldes – Lösung</vt:lpstr>
      <vt:lpstr>Beispiel 2.1 – Elektrische Flussdichte</vt:lpstr>
      <vt:lpstr>Beispiel 2.1 – Elektrische Flussdichte – Lösung</vt:lpstr>
      <vt:lpstr>Beispiel 2.2 – Potential und Spannung</vt:lpstr>
      <vt:lpstr>Beispiel 2.2 – Potential und Spannung – Lösung</vt:lpstr>
      <vt:lpstr>Beispiel 2.3 – Potential und Spannung</vt:lpstr>
      <vt:lpstr>Beispiel 2.3 – Potential und Spannung – Lösung</vt:lpstr>
      <vt:lpstr>Beispiel 3 – Influenz</vt:lpstr>
      <vt:lpstr>Beispiel 3 – Influenz – Lösung</vt:lpstr>
      <vt:lpstr>Übungsaufgabe Moodle</vt:lpstr>
      <vt:lpstr>Elektrisches Feld von Punktladungen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Gfrörer  Tino</dc:creator>
  <cp:lastModifiedBy>Franck  Christian</cp:lastModifiedBy>
  <cp:revision>80</cp:revision>
  <dcterms:created xsi:type="dcterms:W3CDTF">2026-09-04T10:51:08Z</dcterms:created>
  <dcterms:modified xsi:type="dcterms:W3CDTF">2026-09-27T10:13:14Z</dcterms:modified>
</cp:coreProperties>
</file>